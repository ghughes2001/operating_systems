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sldIdLst>
    <p:sldId id="256" r:id="rId2"/>
    <p:sldId id="261" r:id="rId3"/>
    <p:sldId id="290" r:id="rId4"/>
    <p:sldId id="291" r:id="rId5"/>
    <p:sldId id="292" r:id="rId6"/>
    <p:sldId id="293" r:id="rId7"/>
    <p:sldId id="294" r:id="rId8"/>
    <p:sldId id="295"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1pPr>
    <a:lvl2pPr marL="0" marR="0" indent="3429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2pPr>
    <a:lvl3pPr marL="0" marR="0" indent="6858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3pPr>
    <a:lvl4pPr marL="0" marR="0" indent="10287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4pPr>
    <a:lvl5pPr marL="0" marR="0" indent="13716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5pPr>
    <a:lvl6pPr marL="0" marR="0" indent="17145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6pPr>
    <a:lvl7pPr marL="0" marR="0" indent="20574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7pPr>
    <a:lvl8pPr marL="0" marR="0" indent="24003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8pPr>
    <a:lvl9pPr marL="0" marR="0" indent="27432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Ref idx="minor">
          <a:srgbClr val="000000"/>
        </a:fontRef>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228600" defTabSz="584200" latinLnBrk="0">
      <a:defRPr sz="2200">
        <a:latin typeface="Lucida Grande"/>
        <a:ea typeface="Lucida Grande"/>
        <a:cs typeface="Lucida Grande"/>
        <a:sym typeface="Lucida Grande"/>
      </a:defRPr>
    </a:lvl2pPr>
    <a:lvl3pPr indent="457200" defTabSz="584200" latinLnBrk="0">
      <a:defRPr sz="2200">
        <a:latin typeface="Lucida Grande"/>
        <a:ea typeface="Lucida Grande"/>
        <a:cs typeface="Lucida Grande"/>
        <a:sym typeface="Lucida Grande"/>
      </a:defRPr>
    </a:lvl3pPr>
    <a:lvl4pPr indent="685800" defTabSz="584200" latinLnBrk="0">
      <a:defRPr sz="2200">
        <a:latin typeface="Lucida Grande"/>
        <a:ea typeface="Lucida Grande"/>
        <a:cs typeface="Lucida Grande"/>
        <a:sym typeface="Lucida Grande"/>
      </a:defRPr>
    </a:lvl4pPr>
    <a:lvl5pPr indent="914400" defTabSz="584200" latinLnBrk="0">
      <a:defRPr sz="2200">
        <a:latin typeface="Lucida Grande"/>
        <a:ea typeface="Lucida Grande"/>
        <a:cs typeface="Lucida Grande"/>
        <a:sym typeface="Lucida Grande"/>
      </a:defRPr>
    </a:lvl5pPr>
    <a:lvl6pPr indent="1143000" defTabSz="584200" latinLnBrk="0">
      <a:defRPr sz="2200">
        <a:latin typeface="Lucida Grande"/>
        <a:ea typeface="Lucida Grande"/>
        <a:cs typeface="Lucida Grande"/>
        <a:sym typeface="Lucida Grande"/>
      </a:defRPr>
    </a:lvl6pPr>
    <a:lvl7pPr indent="1371600" defTabSz="584200" latinLnBrk="0">
      <a:defRPr sz="2200">
        <a:latin typeface="Lucida Grande"/>
        <a:ea typeface="Lucida Grande"/>
        <a:cs typeface="Lucida Grande"/>
        <a:sym typeface="Lucida Grande"/>
      </a:defRPr>
    </a:lvl7pPr>
    <a:lvl8pPr indent="1600200" defTabSz="584200" latinLnBrk="0">
      <a:defRPr sz="2200">
        <a:latin typeface="Lucida Grande"/>
        <a:ea typeface="Lucida Grande"/>
        <a:cs typeface="Lucida Grande"/>
        <a:sym typeface="Lucida Grande"/>
      </a:defRPr>
    </a:lvl8pPr>
    <a:lvl9pPr indent="1828800" defTabSz="584200" latinLnBrk="0">
      <a:defRPr sz="22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70000" y="1638300"/>
            <a:ext cx="10464800" cy="3302000"/>
          </a:xfrm>
          <a:prstGeom prst="rect">
            <a:avLst/>
          </a:prstGeom>
        </p:spPr>
        <p:txBody>
          <a:bodyPr anchor="b"/>
          <a:lstStyle/>
          <a:p>
            <a:r>
              <a:t>Title Text</a:t>
            </a:r>
          </a:p>
        </p:txBody>
      </p:sp>
      <p:sp>
        <p:nvSpPr>
          <p:cNvPr id="12" name="Body Level One…"/>
          <p:cNvSpPr txBox="1">
            <a:spLocks noGrp="1"/>
          </p:cNvSpPr>
          <p:nvPr>
            <p:ph type="body" sz="quarter" idx="1"/>
          </p:nvPr>
        </p:nvSpPr>
        <p:spPr>
          <a:xfrm>
            <a:off x="1270000" y="5029200"/>
            <a:ext cx="10464800" cy="1130300"/>
          </a:xfrm>
          <a:prstGeom prst="rect">
            <a:avLst/>
          </a:prstGeom>
        </p:spPr>
        <p:txBody>
          <a:bodyPr anchor="t"/>
          <a:lstStyle>
            <a:lvl1pPr marL="0" indent="0" algn="ctr">
              <a:spcBef>
                <a:spcPts val="0"/>
              </a:spcBef>
              <a:buSzTx/>
              <a:buNone/>
              <a:defRPr sz="3600"/>
            </a:lvl1pPr>
            <a:lvl2pPr marL="0" indent="0" algn="ctr">
              <a:spcBef>
                <a:spcPts val="0"/>
              </a:spcBef>
              <a:buSzTx/>
              <a:buNone/>
              <a:defRPr sz="3600"/>
            </a:lvl2pPr>
            <a:lvl3pPr marL="0" indent="0" algn="ctr">
              <a:spcBef>
                <a:spcPts val="0"/>
              </a:spcBef>
              <a:buSzTx/>
              <a:buNone/>
              <a:defRPr sz="3600"/>
            </a:lvl3pPr>
            <a:lvl4pPr marL="0" indent="0" algn="ctr">
              <a:spcBef>
                <a:spcPts val="0"/>
              </a:spcBef>
              <a:buSzTx/>
              <a:buNone/>
              <a:defRPr sz="3600"/>
            </a:lvl4pPr>
            <a:lvl5pPr marL="0" indent="0" algn="ctr">
              <a:spcBef>
                <a:spcPts val="0"/>
              </a:spcBef>
              <a:buSzTx/>
              <a:buNone/>
              <a:defRPr sz="3600"/>
            </a:lvl5pPr>
          </a:lstStyle>
          <a:p>
            <a:r>
              <a:t>Body Level One</a:t>
            </a:r>
          </a:p>
          <a:p>
            <a:pPr lvl="1"/>
            <a:r>
              <a:t>Body Level Two</a:t>
            </a:r>
          </a:p>
          <a:p>
            <a:pPr lvl="2"/>
            <a:r>
              <a:t>Body Level Three</a:t>
            </a:r>
          </a:p>
          <a:p>
            <a:pPr lvl="3"/>
            <a:r>
              <a:t>Body Level Four</a:t>
            </a:r>
          </a:p>
          <a:p>
            <a:pPr lvl="4"/>
            <a:r>
              <a:t>Body Level Five</a:t>
            </a:r>
          </a:p>
        </p:txBody>
      </p:sp>
      <p:sp>
        <p:nvSpPr>
          <p:cNvPr id="13"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xfrm>
            <a:off x="1270000" y="2768600"/>
            <a:ext cx="10464800" cy="5715000"/>
          </a:xfrm>
          <a:prstGeom prst="rect">
            <a:avLst/>
          </a:prstGeom>
        </p:spPr>
        <p:txBody>
          <a:bodyPr/>
          <a:lstStyle>
            <a:lvl1pPr>
              <a:spcBef>
                <a:spcPts val="2400"/>
              </a:spcBef>
            </a:lvl1pPr>
            <a:lvl2pPr>
              <a:spcBef>
                <a:spcPts val="2400"/>
              </a:spcBef>
            </a:lvl2pPr>
            <a:lvl3pPr>
              <a:spcBef>
                <a:spcPts val="2400"/>
              </a:spcBef>
            </a:lvl3pPr>
            <a:lvl4pPr>
              <a:spcBef>
                <a:spcPts val="2400"/>
              </a:spcBef>
            </a:lvl4pPr>
            <a:lvl5pPr>
              <a:spcBef>
                <a:spcPts val="2400"/>
              </a:spcBef>
            </a:lvl5pPr>
          </a:lstStyle>
          <a:p>
            <a:r>
              <a:t>Body Level One</a:t>
            </a:r>
          </a:p>
          <a:p>
            <a:pPr lvl="1"/>
            <a:r>
              <a:t>Body Level Two</a:t>
            </a:r>
          </a:p>
          <a:p>
            <a:pPr lvl="2"/>
            <a:r>
              <a:t>Body Level Three</a:t>
            </a:r>
          </a:p>
          <a:p>
            <a:pPr lvl="3"/>
            <a:r>
              <a:t>Body Level Four</a:t>
            </a:r>
          </a:p>
          <a:p>
            <a:pPr lvl="4"/>
            <a:r>
              <a:t>Body Level Five</a:t>
            </a:r>
          </a:p>
        </p:txBody>
      </p:sp>
      <p:sp>
        <p:nvSpPr>
          <p:cNvPr id="22"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 2 Column">
    <p:spTree>
      <p:nvGrpSpPr>
        <p:cNvPr id="1" name=""/>
        <p:cNvGrpSpPr/>
        <p:nvPr/>
      </p:nvGrpSpPr>
      <p:grpSpPr>
        <a:xfrm>
          <a:off x="0" y="0"/>
          <a:ext cx="0" cy="0"/>
          <a:chOff x="0" y="0"/>
          <a:chExt cx="0" cy="0"/>
        </a:xfrm>
      </p:grpSpPr>
      <p:sp>
        <p:nvSpPr>
          <p:cNvPr id="29" name="Title Text"/>
          <p:cNvSpPr txBox="1">
            <a:spLocks noGrp="1"/>
          </p:cNvSpPr>
          <p:nvPr>
            <p:ph type="title"/>
          </p:nvPr>
        </p:nvSpPr>
        <p:spPr>
          <a:prstGeom prst="rect">
            <a:avLst/>
          </a:prstGeom>
        </p:spPr>
        <p:txBody>
          <a:bodyPr/>
          <a:lstStyle/>
          <a:p>
            <a:r>
              <a:t>Title Text</a:t>
            </a:r>
          </a:p>
        </p:txBody>
      </p:sp>
      <p:sp>
        <p:nvSpPr>
          <p:cNvPr id="30" name="Body Level One…"/>
          <p:cNvSpPr txBox="1">
            <a:spLocks noGrp="1"/>
          </p:cNvSpPr>
          <p:nvPr>
            <p:ph type="body" idx="1"/>
          </p:nvPr>
        </p:nvSpPr>
        <p:spPr>
          <a:xfrm>
            <a:off x="1270000" y="2768600"/>
            <a:ext cx="10464800" cy="5715000"/>
          </a:xfrm>
          <a:prstGeom prst="rect">
            <a:avLst/>
          </a:prstGeom>
        </p:spPr>
        <p:txBody>
          <a:bodyPr numCol="2" spcCol="523240" anchor="t"/>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r>
              <a:t>Body Level One</a:t>
            </a:r>
          </a:p>
          <a:p>
            <a:pPr lvl="1"/>
            <a:r>
              <a:t>Body Level Two</a:t>
            </a:r>
          </a:p>
          <a:p>
            <a:pPr lvl="2"/>
            <a:r>
              <a:t>Body Level Three</a:t>
            </a:r>
          </a:p>
          <a:p>
            <a:pPr lvl="3"/>
            <a:r>
              <a:t>Body Level Four</a:t>
            </a:r>
          </a:p>
          <a:p>
            <a:pPr lvl="4"/>
            <a:r>
              <a:t>Body Level Five</a:t>
            </a:r>
          </a:p>
        </p:txBody>
      </p:sp>
      <p:sp>
        <p:nvSpPr>
          <p:cNvPr id="31"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3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46"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3" name="Title Text"/>
          <p:cNvSpPr txBox="1">
            <a:spLocks noGrp="1"/>
          </p:cNvSpPr>
          <p:nvPr>
            <p:ph type="title"/>
          </p:nvPr>
        </p:nvSpPr>
        <p:spPr>
          <a:prstGeom prst="rect">
            <a:avLst/>
          </a:prstGeom>
        </p:spPr>
        <p:txBody>
          <a:bodyPr/>
          <a:lstStyle/>
          <a:p>
            <a:r>
              <a:t>Title Text</a:t>
            </a:r>
          </a:p>
        </p:txBody>
      </p:sp>
      <p:sp>
        <p:nvSpPr>
          <p:cNvPr id="54"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61" name="Title Text"/>
          <p:cNvSpPr txBox="1">
            <a:spLocks noGrp="1"/>
          </p:cNvSpPr>
          <p:nvPr>
            <p:ph type="title"/>
          </p:nvPr>
        </p:nvSpPr>
        <p:spPr>
          <a:xfrm>
            <a:off x="1270000" y="2971800"/>
            <a:ext cx="10464800" cy="3810000"/>
          </a:xfrm>
          <a:prstGeom prst="rect">
            <a:avLst/>
          </a:prstGeom>
        </p:spPr>
        <p:txBody>
          <a:bodyPr/>
          <a:lstStyle/>
          <a:p>
            <a:r>
              <a:t>Title Text</a:t>
            </a:r>
          </a:p>
        </p:txBody>
      </p:sp>
      <p:sp>
        <p:nvSpPr>
          <p:cNvPr id="62"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69" name="happy_girls.jpeg"/>
          <p:cNvSpPr>
            <a:spLocks noGrp="1"/>
          </p:cNvSpPr>
          <p:nvPr>
            <p:ph type="pic" sz="half" idx="21"/>
          </p:nvPr>
        </p:nvSpPr>
        <p:spPr>
          <a:xfrm>
            <a:off x="2438400" y="1638300"/>
            <a:ext cx="8128000" cy="5042206"/>
          </a:xfrm>
          <a:prstGeom prst="rect">
            <a:avLst/>
          </a:prstGeom>
        </p:spPr>
        <p:txBody>
          <a:bodyPr lIns="91439" tIns="45719" rIns="91439" bIns="45719" anchor="t"/>
          <a:lstStyle/>
          <a:p>
            <a:endParaRPr/>
          </a:p>
        </p:txBody>
      </p:sp>
      <p:sp>
        <p:nvSpPr>
          <p:cNvPr id="70" name="Title Text"/>
          <p:cNvSpPr txBox="1">
            <a:spLocks noGrp="1"/>
          </p:cNvSpPr>
          <p:nvPr>
            <p:ph type="title"/>
          </p:nvPr>
        </p:nvSpPr>
        <p:spPr>
          <a:xfrm>
            <a:off x="1270000" y="7366000"/>
            <a:ext cx="10464800" cy="1701800"/>
          </a:xfrm>
          <a:prstGeom prst="rect">
            <a:avLst/>
          </a:prstGeom>
        </p:spPr>
        <p:txBody>
          <a:bodyPr/>
          <a:lstStyle/>
          <a:p>
            <a:r>
              <a:t>Title Text</a:t>
            </a:r>
          </a:p>
        </p:txBody>
      </p:sp>
      <p:sp>
        <p:nvSpPr>
          <p:cNvPr id="71"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Horizontal Reflection">
    <p:spTree>
      <p:nvGrpSpPr>
        <p:cNvPr id="1" name=""/>
        <p:cNvGrpSpPr/>
        <p:nvPr/>
      </p:nvGrpSpPr>
      <p:grpSpPr>
        <a:xfrm>
          <a:off x="0" y="0"/>
          <a:ext cx="0" cy="0"/>
          <a:chOff x="0" y="0"/>
          <a:chExt cx="0" cy="0"/>
        </a:xfrm>
      </p:grpSpPr>
      <p:sp>
        <p:nvSpPr>
          <p:cNvPr id="78" name="happy_girls.jpeg"/>
          <p:cNvSpPr>
            <a:spLocks noGrp="1"/>
          </p:cNvSpPr>
          <p:nvPr>
            <p:ph type="pic" sz="half" idx="21"/>
          </p:nvPr>
        </p:nvSpPr>
        <p:spPr>
          <a:xfrm>
            <a:off x="2438400" y="1638300"/>
            <a:ext cx="8128000" cy="5042206"/>
          </a:xfrm>
          <a:prstGeom prst="rect">
            <a:avLst/>
          </a:prstGeom>
          <a:ln w="25400"/>
          <a:effectLst>
            <a:reflection stA="50000" endPos="40000" dir="5400000" sy="-100000" algn="bl" rotWithShape="0"/>
          </a:effectLst>
        </p:spPr>
        <p:txBody>
          <a:bodyPr lIns="91439" tIns="45719" rIns="91439" bIns="45719" anchor="t"/>
          <a:lstStyle/>
          <a:p>
            <a:endParaRPr/>
          </a:p>
        </p:txBody>
      </p:sp>
      <p:sp>
        <p:nvSpPr>
          <p:cNvPr id="79" name="Title Text"/>
          <p:cNvSpPr txBox="1">
            <a:spLocks noGrp="1"/>
          </p:cNvSpPr>
          <p:nvPr>
            <p:ph type="title"/>
          </p:nvPr>
        </p:nvSpPr>
        <p:spPr>
          <a:xfrm>
            <a:off x="1270000" y="7366000"/>
            <a:ext cx="10464800" cy="1701800"/>
          </a:xfrm>
          <a:prstGeom prst="rect">
            <a:avLst/>
          </a:prstGeom>
        </p:spPr>
        <p:txBody>
          <a:bodyPr/>
          <a:lstStyle/>
          <a:p>
            <a:r>
              <a:t>Title Text</a:t>
            </a:r>
          </a:p>
        </p:txBody>
      </p:sp>
      <p:sp>
        <p:nvSpPr>
          <p:cNvPr id="80"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87" name="girl_and_snowcone.jpeg"/>
          <p:cNvSpPr>
            <a:spLocks noGrp="1"/>
          </p:cNvSpPr>
          <p:nvPr>
            <p:ph type="pic" sz="half" idx="21"/>
          </p:nvPr>
        </p:nvSpPr>
        <p:spPr>
          <a:xfrm>
            <a:off x="7124700" y="1612900"/>
            <a:ext cx="4216400" cy="6328742"/>
          </a:xfrm>
          <a:prstGeom prst="rect">
            <a:avLst/>
          </a:prstGeom>
        </p:spPr>
        <p:txBody>
          <a:bodyPr lIns="91439" tIns="45719" rIns="91439" bIns="45719" anchor="t"/>
          <a:lstStyle/>
          <a:p>
            <a:endParaRPr/>
          </a:p>
        </p:txBody>
      </p:sp>
      <p:sp>
        <p:nvSpPr>
          <p:cNvPr id="88" name="Title Text"/>
          <p:cNvSpPr txBox="1">
            <a:spLocks noGrp="1"/>
          </p:cNvSpPr>
          <p:nvPr>
            <p:ph type="title"/>
          </p:nvPr>
        </p:nvSpPr>
        <p:spPr>
          <a:xfrm>
            <a:off x="635000" y="1409700"/>
            <a:ext cx="5867400" cy="3302000"/>
          </a:xfrm>
          <a:prstGeom prst="rect">
            <a:avLst/>
          </a:prstGeom>
        </p:spPr>
        <p:txBody>
          <a:bodyPr anchor="b"/>
          <a:lstStyle>
            <a:lvl1pPr>
              <a:defRPr sz="7000"/>
            </a:lvl1pPr>
          </a:lstStyle>
          <a:p>
            <a:r>
              <a:t>Title Text</a:t>
            </a:r>
          </a:p>
        </p:txBody>
      </p:sp>
      <p:sp>
        <p:nvSpPr>
          <p:cNvPr id="89" name="Body Level One…"/>
          <p:cNvSpPr txBox="1">
            <a:spLocks noGrp="1"/>
          </p:cNvSpPr>
          <p:nvPr>
            <p:ph type="body" sz="quarter" idx="1"/>
          </p:nvPr>
        </p:nvSpPr>
        <p:spPr>
          <a:xfrm>
            <a:off x="635000" y="4787900"/>
            <a:ext cx="5867400" cy="3302000"/>
          </a:xfrm>
          <a:prstGeom prst="rect">
            <a:avLst/>
          </a:prstGeom>
        </p:spPr>
        <p:txBody>
          <a:bodyPr anchor="t"/>
          <a:lstStyle>
            <a:lvl1pPr marL="0" indent="0" algn="ctr">
              <a:spcBef>
                <a:spcPts val="0"/>
              </a:spcBef>
              <a:buSzTx/>
              <a:buNone/>
              <a:defRPr sz="3400"/>
            </a:lvl1pPr>
            <a:lvl2pPr marL="0" indent="0" algn="ctr">
              <a:spcBef>
                <a:spcPts val="0"/>
              </a:spcBef>
              <a:buSzTx/>
              <a:buNone/>
              <a:defRPr sz="3400"/>
            </a:lvl2pPr>
            <a:lvl3pPr marL="0" indent="0" algn="ctr">
              <a:spcBef>
                <a:spcPts val="0"/>
              </a:spcBef>
              <a:buSzTx/>
              <a:buNone/>
              <a:defRPr sz="3400"/>
            </a:lvl3pPr>
            <a:lvl4pPr marL="0" indent="0" algn="ctr">
              <a:spcBef>
                <a:spcPts val="0"/>
              </a:spcBef>
              <a:buSzTx/>
              <a:buNone/>
              <a:defRPr sz="3400"/>
            </a:lvl4pPr>
            <a:lvl5pPr marL="0" indent="0" algn="ctr">
              <a:spcBef>
                <a:spcPts val="0"/>
              </a:spcBef>
              <a:buSzTx/>
              <a:buNone/>
              <a:defRPr sz="3400"/>
            </a:lvl5pPr>
          </a:lstStyle>
          <a:p>
            <a:r>
              <a:t>Body Level One</a:t>
            </a:r>
          </a:p>
          <a:p>
            <a:pPr lvl="1"/>
            <a:r>
              <a:t>Body Level Two</a:t>
            </a:r>
          </a:p>
          <a:p>
            <a:pPr lvl="2"/>
            <a:r>
              <a:t>Body Level Three</a:t>
            </a:r>
          </a:p>
          <a:p>
            <a:pPr lvl="3"/>
            <a:r>
              <a:t>Body Level Four</a:t>
            </a:r>
          </a:p>
          <a:p>
            <a:pPr lvl="4"/>
            <a:r>
              <a:t>Body Level Five</a:t>
            </a:r>
          </a:p>
        </p:txBody>
      </p:sp>
      <p:sp>
        <p:nvSpPr>
          <p:cNvPr id="90"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Vertical Reflection">
    <p:spTree>
      <p:nvGrpSpPr>
        <p:cNvPr id="1" name=""/>
        <p:cNvGrpSpPr/>
        <p:nvPr/>
      </p:nvGrpSpPr>
      <p:grpSpPr>
        <a:xfrm>
          <a:off x="0" y="0"/>
          <a:ext cx="0" cy="0"/>
          <a:chOff x="0" y="0"/>
          <a:chExt cx="0" cy="0"/>
        </a:xfrm>
      </p:grpSpPr>
      <p:sp>
        <p:nvSpPr>
          <p:cNvPr id="97" name="girl_and_snowcone.jpeg"/>
          <p:cNvSpPr>
            <a:spLocks noGrp="1"/>
          </p:cNvSpPr>
          <p:nvPr>
            <p:ph type="pic" sz="half" idx="21"/>
          </p:nvPr>
        </p:nvSpPr>
        <p:spPr>
          <a:xfrm>
            <a:off x="7124700" y="1612900"/>
            <a:ext cx="4216400" cy="6328742"/>
          </a:xfrm>
          <a:prstGeom prst="rect">
            <a:avLst/>
          </a:prstGeom>
          <a:ln w="25400"/>
          <a:effectLst>
            <a:reflection stA="50000" endPos="40000" dir="5400000" sy="-100000" algn="bl" rotWithShape="0"/>
          </a:effectLst>
        </p:spPr>
        <p:txBody>
          <a:bodyPr lIns="91439" tIns="45719" rIns="91439" bIns="45719" anchor="t"/>
          <a:lstStyle/>
          <a:p>
            <a:endParaRPr/>
          </a:p>
        </p:txBody>
      </p:sp>
      <p:sp>
        <p:nvSpPr>
          <p:cNvPr id="98" name="Title Text"/>
          <p:cNvSpPr txBox="1">
            <a:spLocks noGrp="1"/>
          </p:cNvSpPr>
          <p:nvPr>
            <p:ph type="title"/>
          </p:nvPr>
        </p:nvSpPr>
        <p:spPr>
          <a:xfrm>
            <a:off x="635000" y="1409700"/>
            <a:ext cx="5867400" cy="3302000"/>
          </a:xfrm>
          <a:prstGeom prst="rect">
            <a:avLst/>
          </a:prstGeom>
        </p:spPr>
        <p:txBody>
          <a:bodyPr anchor="b"/>
          <a:lstStyle>
            <a:lvl1pPr>
              <a:defRPr sz="7000"/>
            </a:lvl1pPr>
          </a:lstStyle>
          <a:p>
            <a:r>
              <a:t>Title Text</a:t>
            </a:r>
          </a:p>
        </p:txBody>
      </p:sp>
      <p:sp>
        <p:nvSpPr>
          <p:cNvPr id="99" name="Body Level One…"/>
          <p:cNvSpPr txBox="1">
            <a:spLocks noGrp="1"/>
          </p:cNvSpPr>
          <p:nvPr>
            <p:ph type="body" sz="quarter" idx="1"/>
          </p:nvPr>
        </p:nvSpPr>
        <p:spPr>
          <a:xfrm>
            <a:off x="635000" y="4787900"/>
            <a:ext cx="5867400" cy="3302000"/>
          </a:xfrm>
          <a:prstGeom prst="rect">
            <a:avLst/>
          </a:prstGeom>
        </p:spPr>
        <p:txBody>
          <a:bodyPr anchor="t"/>
          <a:lstStyle>
            <a:lvl1pPr marL="0" indent="0" algn="ctr">
              <a:spcBef>
                <a:spcPts val="0"/>
              </a:spcBef>
              <a:buSzTx/>
              <a:buNone/>
              <a:defRPr sz="3400"/>
            </a:lvl1pPr>
            <a:lvl2pPr marL="0" indent="0" algn="ctr">
              <a:spcBef>
                <a:spcPts val="0"/>
              </a:spcBef>
              <a:buSzTx/>
              <a:buNone/>
              <a:defRPr sz="3400"/>
            </a:lvl2pPr>
            <a:lvl3pPr marL="0" indent="0" algn="ctr">
              <a:spcBef>
                <a:spcPts val="0"/>
              </a:spcBef>
              <a:buSzTx/>
              <a:buNone/>
              <a:defRPr sz="3400"/>
            </a:lvl3pPr>
            <a:lvl4pPr marL="0" indent="0" algn="ctr">
              <a:spcBef>
                <a:spcPts val="0"/>
              </a:spcBef>
              <a:buSzTx/>
              <a:buNone/>
              <a:defRPr sz="3400"/>
            </a:lvl4pPr>
            <a:lvl5pPr marL="0" indent="0" algn="ctr">
              <a:spcBef>
                <a:spcPts val="0"/>
              </a:spcBef>
              <a:buSzTx/>
              <a:buNone/>
              <a:defRPr sz="3400"/>
            </a:lvl5pPr>
          </a:lstStyle>
          <a:p>
            <a:r>
              <a:t>Body Level One</a:t>
            </a:r>
          </a:p>
          <a:p>
            <a:pPr lvl="1"/>
            <a:r>
              <a:t>Body Level Two</a:t>
            </a:r>
          </a:p>
          <a:p>
            <a:pPr lvl="2"/>
            <a:r>
              <a:t>Body Level Three</a:t>
            </a:r>
          </a:p>
          <a:p>
            <a:pPr lvl="3"/>
            <a:r>
              <a:t>Body Level Four</a:t>
            </a:r>
          </a:p>
          <a:p>
            <a:pPr lvl="4"/>
            <a:r>
              <a:t>Body Level Five</a:t>
            </a:r>
          </a:p>
        </p:txBody>
      </p:sp>
      <p:sp>
        <p:nvSpPr>
          <p:cNvPr id="100"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107" name="girl_and_snowcone.jpeg"/>
          <p:cNvSpPr>
            <a:spLocks noGrp="1"/>
          </p:cNvSpPr>
          <p:nvPr>
            <p:ph type="pic" sz="quarter" idx="21"/>
          </p:nvPr>
        </p:nvSpPr>
        <p:spPr>
          <a:xfrm>
            <a:off x="7175500" y="2540000"/>
            <a:ext cx="4102100" cy="6157180"/>
          </a:xfrm>
          <a:prstGeom prst="rect">
            <a:avLst/>
          </a:prstGeom>
        </p:spPr>
        <p:txBody>
          <a:bodyPr lIns="91439" tIns="45719" rIns="91439" bIns="45719" anchor="t"/>
          <a:lstStyle/>
          <a:p>
            <a:endParaRPr/>
          </a:p>
        </p:txBody>
      </p:sp>
      <p:sp>
        <p:nvSpPr>
          <p:cNvPr id="108" name="Title Text"/>
          <p:cNvSpPr txBox="1">
            <a:spLocks noGrp="1"/>
          </p:cNvSpPr>
          <p:nvPr>
            <p:ph type="title"/>
          </p:nvPr>
        </p:nvSpPr>
        <p:spPr>
          <a:prstGeom prst="rect">
            <a:avLst/>
          </a:prstGeom>
        </p:spPr>
        <p:txBody>
          <a:bodyPr/>
          <a:lstStyle/>
          <a:p>
            <a:r>
              <a:t>Title Text</a:t>
            </a:r>
          </a:p>
        </p:txBody>
      </p:sp>
      <p:sp>
        <p:nvSpPr>
          <p:cNvPr id="109" name="Body Level One…"/>
          <p:cNvSpPr txBox="1">
            <a:spLocks noGrp="1"/>
          </p:cNvSpPr>
          <p:nvPr>
            <p:ph type="body" sz="half" idx="1"/>
          </p:nvPr>
        </p:nvSpPr>
        <p:spPr>
          <a:xfrm>
            <a:off x="1270000" y="2768600"/>
            <a:ext cx="5041900" cy="5715000"/>
          </a:xfrm>
          <a:prstGeom prst="rect">
            <a:avLst/>
          </a:prstGeom>
        </p:spPr>
        <p:txBody>
          <a:bodyPr/>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r>
              <a:t>Body Level One</a:t>
            </a:r>
          </a:p>
          <a:p>
            <a:pPr lvl="1"/>
            <a:r>
              <a:t>Body Level Two</a:t>
            </a:r>
          </a:p>
          <a:p>
            <a:pPr lvl="2"/>
            <a:r>
              <a:t>Body Level Three</a:t>
            </a:r>
          </a:p>
          <a:p>
            <a:pPr lvl="3"/>
            <a:r>
              <a:t>Body Level Four</a:t>
            </a:r>
          </a:p>
          <a:p>
            <a:pPr lvl="4"/>
            <a:r>
              <a:t>Body Level Five</a:t>
            </a:r>
          </a:p>
        </p:txBody>
      </p:sp>
      <p:sp>
        <p:nvSpPr>
          <p:cNvPr id="110"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 Left">
    <p:spTree>
      <p:nvGrpSpPr>
        <p:cNvPr id="1" name=""/>
        <p:cNvGrpSpPr/>
        <p:nvPr/>
      </p:nvGrpSpPr>
      <p:grpSpPr>
        <a:xfrm>
          <a:off x="0" y="0"/>
          <a:ext cx="0" cy="0"/>
          <a:chOff x="0" y="0"/>
          <a:chExt cx="0" cy="0"/>
        </a:xfrm>
      </p:grpSpPr>
      <p:sp>
        <p:nvSpPr>
          <p:cNvPr id="117" name="Title Text"/>
          <p:cNvSpPr txBox="1">
            <a:spLocks noGrp="1"/>
          </p:cNvSpPr>
          <p:nvPr>
            <p:ph type="title"/>
          </p:nvPr>
        </p:nvSpPr>
        <p:spPr>
          <a:prstGeom prst="rect">
            <a:avLst/>
          </a:prstGeom>
        </p:spPr>
        <p:txBody>
          <a:bodyPr/>
          <a:lstStyle/>
          <a:p>
            <a:r>
              <a:t>Title Text</a:t>
            </a:r>
          </a:p>
        </p:txBody>
      </p:sp>
      <p:sp>
        <p:nvSpPr>
          <p:cNvPr id="118" name="Body Level One…"/>
          <p:cNvSpPr txBox="1">
            <a:spLocks noGrp="1"/>
          </p:cNvSpPr>
          <p:nvPr>
            <p:ph type="body" sz="half" idx="1"/>
          </p:nvPr>
        </p:nvSpPr>
        <p:spPr>
          <a:xfrm>
            <a:off x="1270000" y="2768600"/>
            <a:ext cx="5041900" cy="5715000"/>
          </a:xfrm>
          <a:prstGeom prst="rect">
            <a:avLst/>
          </a:prstGeom>
        </p:spPr>
        <p:txBody>
          <a:bodyPr/>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r>
              <a:t>Body Level One</a:t>
            </a:r>
          </a:p>
          <a:p>
            <a:pPr lvl="1"/>
            <a:r>
              <a:t>Body Level Two</a:t>
            </a:r>
          </a:p>
          <a:p>
            <a:pPr lvl="2"/>
            <a:r>
              <a:t>Body Level Three</a:t>
            </a:r>
          </a:p>
          <a:p>
            <a:pPr lvl="3"/>
            <a:r>
              <a:t>Body Level Four</a:t>
            </a:r>
          </a:p>
          <a:p>
            <a:pPr lvl="4"/>
            <a:r>
              <a:t>Body Level Five</a:t>
            </a:r>
          </a:p>
        </p:txBody>
      </p:sp>
      <p:sp>
        <p:nvSpPr>
          <p:cNvPr id="119"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 Right">
    <p:spTree>
      <p:nvGrpSpPr>
        <p:cNvPr id="1" name=""/>
        <p:cNvGrpSpPr/>
        <p:nvPr/>
      </p:nvGrpSpPr>
      <p:grpSpPr>
        <a:xfrm>
          <a:off x="0" y="0"/>
          <a:ext cx="0" cy="0"/>
          <a:chOff x="0" y="0"/>
          <a:chExt cx="0" cy="0"/>
        </a:xfrm>
      </p:grpSpPr>
      <p:sp>
        <p:nvSpPr>
          <p:cNvPr id="126" name="Title Text"/>
          <p:cNvSpPr txBox="1">
            <a:spLocks noGrp="1"/>
          </p:cNvSpPr>
          <p:nvPr>
            <p:ph type="title"/>
          </p:nvPr>
        </p:nvSpPr>
        <p:spPr>
          <a:prstGeom prst="rect">
            <a:avLst/>
          </a:prstGeom>
        </p:spPr>
        <p:txBody>
          <a:bodyPr/>
          <a:lstStyle/>
          <a:p>
            <a:r>
              <a:t>Title Text</a:t>
            </a:r>
          </a:p>
        </p:txBody>
      </p:sp>
      <p:sp>
        <p:nvSpPr>
          <p:cNvPr id="127" name="Body Level One…"/>
          <p:cNvSpPr txBox="1">
            <a:spLocks noGrp="1"/>
          </p:cNvSpPr>
          <p:nvPr>
            <p:ph type="body" sz="quarter" idx="1"/>
          </p:nvPr>
        </p:nvSpPr>
        <p:spPr>
          <a:xfrm>
            <a:off x="7772400" y="2768600"/>
            <a:ext cx="3962400" cy="5715000"/>
          </a:xfrm>
          <a:prstGeom prst="rect">
            <a:avLst/>
          </a:prstGeom>
        </p:spPr>
        <p:txBody>
          <a:bodyPr/>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1270000" y="1270000"/>
            <a:ext cx="10464800" cy="721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1270000" y="254000"/>
            <a:ext cx="10464800" cy="243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4" name="01"/>
          <p:cNvSpPr txBox="1">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nchor="b">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1pPr>
      <a:lvl2pPr marL="0" marR="0" indent="2286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2pPr>
      <a:lvl3pPr marL="0" marR="0" indent="4572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3pPr>
      <a:lvl4pPr marL="0" marR="0" indent="6858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4pPr>
      <a:lvl5pPr marL="0" marR="0" indent="9144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5pPr>
      <a:lvl6pPr marL="0" marR="0" indent="11430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6pPr>
      <a:lvl7pPr marL="0" marR="0" indent="13716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7pPr>
      <a:lvl8pPr marL="0" marR="0" indent="16002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8pPr>
      <a:lvl9pPr marL="0" marR="0" indent="1828800" algn="ctr" defTabSz="584200" rtl="0" latinLnBrk="0">
        <a:lnSpc>
          <a:spcPct val="100000"/>
        </a:lnSpc>
        <a:spcBef>
          <a:spcPts val="0"/>
        </a:spcBef>
        <a:spcAft>
          <a:spcPts val="0"/>
        </a:spcAft>
        <a:buClrTx/>
        <a:buSzTx/>
        <a:buFontTx/>
        <a:buNone/>
        <a:tabLst/>
        <a:defRPr sz="8400" b="0" i="0" u="none" strike="noStrike" cap="none" spc="0" baseline="0">
          <a:solidFill>
            <a:srgbClr val="000000"/>
          </a:solidFill>
          <a:uFillTx/>
          <a:latin typeface="+mn-lt"/>
          <a:ea typeface="+mn-ea"/>
          <a:cs typeface="+mn-cs"/>
          <a:sym typeface="Gill Sans"/>
        </a:defRPr>
      </a:lvl9pPr>
    </p:titleStyle>
    <p:bodyStyle>
      <a:lvl1pPr marL="8890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1pPr>
      <a:lvl2pPr marL="13335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2pPr>
      <a:lvl3pPr marL="17780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3pPr>
      <a:lvl4pPr marL="22225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4pPr>
      <a:lvl5pPr marL="26670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5pPr>
      <a:lvl6pPr marL="30226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6pPr>
      <a:lvl7pPr marL="33782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7pPr>
      <a:lvl8pPr marL="37338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8pPr>
      <a:lvl9pPr marL="4089400" marR="0" indent="-571500" algn="l" defTabSz="584200" rtl="0" latinLnBrk="0">
        <a:lnSpc>
          <a:spcPct val="100000"/>
        </a:lnSpc>
        <a:spcBef>
          <a:spcPts val="48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t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Operating Systems:…"/>
          <p:cNvSpPr txBox="1">
            <a:spLocks noGrp="1"/>
          </p:cNvSpPr>
          <p:nvPr>
            <p:ph type="ctrTitle"/>
          </p:nvPr>
        </p:nvSpPr>
        <p:spPr>
          <a:prstGeom prst="rect">
            <a:avLst/>
          </a:prstGeom>
        </p:spPr>
        <p:txBody>
          <a:bodyPr/>
          <a:lstStyle/>
          <a:p>
            <a:pPr>
              <a:defRPr sz="7200"/>
            </a:pPr>
            <a:r>
              <a:t>Operating Systems: </a:t>
            </a:r>
          </a:p>
          <a:p>
            <a:pPr>
              <a:defRPr sz="7200"/>
            </a:pPr>
            <a:r>
              <a:t>Scheduling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Unix kernel"/>
          <p:cNvSpPr txBox="1">
            <a:spLocks noGrp="1"/>
          </p:cNvSpPr>
          <p:nvPr>
            <p:ph type="title"/>
          </p:nvPr>
        </p:nvSpPr>
        <p:spPr>
          <a:prstGeom prst="rect">
            <a:avLst/>
          </a:prstGeom>
        </p:spPr>
        <p:txBody>
          <a:bodyPr/>
          <a:lstStyle>
            <a:lvl1pPr>
              <a:defRPr sz="6400"/>
            </a:lvl1pPr>
          </a:lstStyle>
          <a:p>
            <a:r>
              <a:rPr lang="en-US" dirty="0"/>
              <a:t>K</a:t>
            </a:r>
            <a:r>
              <a:rPr dirty="0"/>
              <a:t>ernel</a:t>
            </a:r>
          </a:p>
        </p:txBody>
      </p:sp>
      <p:sp>
        <p:nvSpPr>
          <p:cNvPr id="152" name="Controls execution of processes by allowing their creation, termination, suspension, communication…"/>
          <p:cNvSpPr txBox="1">
            <a:spLocks noGrp="1"/>
          </p:cNvSpPr>
          <p:nvPr>
            <p:ph type="body" idx="1"/>
          </p:nvPr>
        </p:nvSpPr>
        <p:spPr>
          <a:xfrm>
            <a:off x="1270000" y="2768600"/>
            <a:ext cx="10972800" cy="5715000"/>
          </a:xfrm>
          <a:prstGeom prst="rect">
            <a:avLst/>
          </a:prstGeom>
        </p:spPr>
        <p:txBody>
          <a:bodyPr/>
          <a:lstStyle/>
          <a:p>
            <a:pPr marL="1088571" lvl="1" indent="-326571">
              <a:defRPr sz="2400"/>
            </a:pPr>
            <a:r>
              <a:t>Controls execution of processes by allowing their creation, termination, suspension, communication</a:t>
            </a:r>
          </a:p>
          <a:p>
            <a:pPr marL="1088571" lvl="1" indent="-326571">
              <a:defRPr sz="2400"/>
            </a:pPr>
            <a:r>
              <a:t>Schedules processes </a:t>
            </a:r>
            <a:r>
              <a:rPr i="1"/>
              <a:t>fairly</a:t>
            </a:r>
            <a:r>
              <a:t> for execution on CPU</a:t>
            </a:r>
          </a:p>
          <a:p>
            <a:pPr marL="1533071" lvl="2" indent="-326571">
              <a:defRPr sz="2400"/>
            </a:pPr>
            <a:r>
              <a:t>CPU executes a process</a:t>
            </a:r>
          </a:p>
          <a:p>
            <a:pPr marL="1533071" lvl="2" indent="-326571">
              <a:defRPr sz="2400"/>
            </a:pPr>
            <a:r>
              <a:t>Kernel suspends process when time quantum elapses</a:t>
            </a:r>
          </a:p>
          <a:p>
            <a:pPr marL="1533071" lvl="2" indent="-326571">
              <a:defRPr sz="2400"/>
            </a:pPr>
            <a:r>
              <a:t>Kernel schedules another process to execute</a:t>
            </a:r>
          </a:p>
          <a:p>
            <a:pPr marL="1533071" lvl="2" indent="-326571">
              <a:defRPr sz="2400"/>
            </a:pPr>
            <a:r>
              <a:t>Kernel later reschedules the suspended process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Basic Operations on Processes"/>
          <p:cNvSpPr txBox="1">
            <a:spLocks noGrp="1"/>
          </p:cNvSpPr>
          <p:nvPr>
            <p:ph type="title"/>
          </p:nvPr>
        </p:nvSpPr>
        <p:spPr>
          <a:prstGeom prst="rect">
            <a:avLst/>
          </a:prstGeom>
        </p:spPr>
        <p:txBody>
          <a:bodyPr/>
          <a:lstStyle>
            <a:lvl1pPr>
              <a:defRPr sz="6400"/>
            </a:lvl1pPr>
          </a:lstStyle>
          <a:p>
            <a:r>
              <a:t>Basic Operations on Processes</a:t>
            </a:r>
          </a:p>
        </p:txBody>
      </p:sp>
      <p:sp>
        <p:nvSpPr>
          <p:cNvPr id="241" name="Basic operations on processes are implemented by kernel primitives…"/>
          <p:cNvSpPr txBox="1">
            <a:spLocks noGrp="1"/>
          </p:cNvSpPr>
          <p:nvPr>
            <p:ph type="body" idx="1"/>
          </p:nvPr>
        </p:nvSpPr>
        <p:spPr>
          <a:xfrm>
            <a:off x="1270000" y="2768600"/>
            <a:ext cx="10972800" cy="6578600"/>
          </a:xfrm>
          <a:prstGeom prst="rect">
            <a:avLst/>
          </a:prstGeom>
        </p:spPr>
        <p:txBody>
          <a:bodyPr/>
          <a:lstStyle/>
          <a:p>
            <a:pPr marL="1533071" lvl="2" indent="-326571">
              <a:defRPr sz="2400"/>
            </a:pPr>
            <a:r>
              <a:t>Basic operations on processes are implemented by kernel primitives</a:t>
            </a:r>
          </a:p>
          <a:p>
            <a:pPr marL="1533071" lvl="2" indent="-326571">
              <a:defRPr sz="2400"/>
            </a:pPr>
            <a:r>
              <a:t>Maintain the state of the operating system</a:t>
            </a:r>
          </a:p>
          <a:p>
            <a:pPr marL="1533071" lvl="2" indent="-326571">
              <a:defRPr sz="2400"/>
            </a:pPr>
            <a:r>
              <a:t>These primitives are indivisible, protected by “busy-wait” type of locks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Basic Operations on Processes"/>
          <p:cNvSpPr txBox="1">
            <a:spLocks noGrp="1"/>
          </p:cNvSpPr>
          <p:nvPr>
            <p:ph type="title"/>
          </p:nvPr>
        </p:nvSpPr>
        <p:spPr>
          <a:prstGeom prst="rect">
            <a:avLst/>
          </a:prstGeom>
        </p:spPr>
        <p:txBody>
          <a:bodyPr/>
          <a:lstStyle>
            <a:lvl1pPr>
              <a:defRPr sz="6400"/>
            </a:lvl1pPr>
          </a:lstStyle>
          <a:p>
            <a:r>
              <a:t>Basic Operations on Processes</a:t>
            </a:r>
          </a:p>
        </p:txBody>
      </p:sp>
      <p:sp>
        <p:nvSpPr>
          <p:cNvPr id="244" name="create - Establish a new process…"/>
          <p:cNvSpPr txBox="1">
            <a:spLocks noGrp="1"/>
          </p:cNvSpPr>
          <p:nvPr>
            <p:ph type="body" idx="1"/>
          </p:nvPr>
        </p:nvSpPr>
        <p:spPr>
          <a:xfrm>
            <a:off x="1270000" y="2768600"/>
            <a:ext cx="10972800" cy="6578600"/>
          </a:xfrm>
          <a:prstGeom prst="rect">
            <a:avLst/>
          </a:prstGeom>
        </p:spPr>
        <p:txBody>
          <a:bodyPr/>
          <a:lstStyle/>
          <a:p>
            <a:pPr marL="1088571" lvl="1" indent="-326571">
              <a:defRPr sz="2400"/>
            </a:pPr>
            <a:r>
              <a:t>create - Establish a new process</a:t>
            </a:r>
          </a:p>
          <a:p>
            <a:pPr marL="1533071" lvl="2" indent="-326571">
              <a:defRPr sz="2400"/>
            </a:pPr>
            <a:r>
              <a:t>Assign a new unique PID to the process</a:t>
            </a:r>
          </a:p>
          <a:p>
            <a:pPr marL="1533071" lvl="2" indent="-326571">
              <a:defRPr sz="2400"/>
            </a:pPr>
            <a:r>
              <a:t>Allocate memory to the process for all elements of process image, including private user address space and stack; the values can possibly from from the parent process; set up any linkages, and then allocate space for PCB</a:t>
            </a:r>
          </a:p>
          <a:p>
            <a:pPr marL="1533071" lvl="2" indent="-326571">
              <a:defRPr sz="2400"/>
            </a:pPr>
            <a:r>
              <a:t>Create a new process control block corresponding to PID and add it to process table, initialize different values in there such as parent PID, list of children (initialized to null), program counter (set to program entry point), system stack pointer (set to define the process stack boundaries)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Basic Operations on Processes"/>
          <p:cNvSpPr txBox="1">
            <a:spLocks noGrp="1"/>
          </p:cNvSpPr>
          <p:nvPr>
            <p:ph type="title"/>
          </p:nvPr>
        </p:nvSpPr>
        <p:spPr>
          <a:prstGeom prst="rect">
            <a:avLst/>
          </a:prstGeom>
        </p:spPr>
        <p:txBody>
          <a:bodyPr/>
          <a:lstStyle>
            <a:lvl1pPr>
              <a:defRPr sz="6400"/>
            </a:lvl1pPr>
          </a:lstStyle>
          <a:p>
            <a:r>
              <a:t>Basic Operations on Processes</a:t>
            </a:r>
          </a:p>
        </p:txBody>
      </p:sp>
      <p:sp>
        <p:nvSpPr>
          <p:cNvPr id="247" name="create - Establish a new process…"/>
          <p:cNvSpPr txBox="1">
            <a:spLocks noGrp="1"/>
          </p:cNvSpPr>
          <p:nvPr>
            <p:ph type="body" idx="1"/>
          </p:nvPr>
        </p:nvSpPr>
        <p:spPr>
          <a:xfrm>
            <a:off x="1270000" y="2768600"/>
            <a:ext cx="10972800" cy="6578600"/>
          </a:xfrm>
          <a:prstGeom prst="rect">
            <a:avLst/>
          </a:prstGeom>
        </p:spPr>
        <p:txBody>
          <a:bodyPr/>
          <a:lstStyle/>
          <a:p>
            <a:pPr marL="1088571" lvl="1" indent="-326571">
              <a:defRPr sz="2400"/>
            </a:pPr>
            <a:r>
              <a:t>create - Establish a new process</a:t>
            </a:r>
          </a:p>
          <a:p>
            <a:pPr marL="1533071" lvl="2" indent="-326571">
              <a:defRPr sz="2400"/>
            </a:pPr>
            <a:r>
              <a:t>Initial CPU state, typically initialized as Ready or Ready, suspend</a:t>
            </a:r>
          </a:p>
          <a:p>
            <a:pPr marL="1533071" lvl="2" indent="-326571">
              <a:defRPr sz="2400"/>
            </a:pPr>
            <a:r>
              <a:t>Add the process id of new process to list of children of the creating process</a:t>
            </a:r>
          </a:p>
          <a:p>
            <a:pPr marL="1533071" lvl="2" indent="-326571">
              <a:defRPr sz="2400"/>
            </a:pPr>
            <a:r>
              <a:t>Assign initial priority</a:t>
            </a:r>
          </a:p>
          <a:p>
            <a:pPr marL="1977571" lvl="3" indent="-326571">
              <a:defRPr sz="2400"/>
            </a:pPr>
            <a:r>
              <a:t>Initial priority of the process may be greater than the parents</a:t>
            </a:r>
          </a:p>
          <a:p>
            <a:pPr marL="1533071" lvl="2" indent="-326571">
              <a:defRPr sz="2400"/>
            </a:pPr>
            <a:r>
              <a:t>Fill out accounting information and limits</a:t>
            </a:r>
          </a:p>
          <a:p>
            <a:pPr marL="1533071" lvl="2" indent="-326571">
              <a:defRPr sz="2400"/>
            </a:pPr>
            <a:r>
              <a:t>Add the process to the ready list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Basic Operations on Processes"/>
          <p:cNvSpPr txBox="1">
            <a:spLocks noGrp="1"/>
          </p:cNvSpPr>
          <p:nvPr>
            <p:ph type="title"/>
          </p:nvPr>
        </p:nvSpPr>
        <p:spPr>
          <a:prstGeom prst="rect">
            <a:avLst/>
          </a:prstGeom>
        </p:spPr>
        <p:txBody>
          <a:bodyPr/>
          <a:lstStyle>
            <a:lvl1pPr>
              <a:defRPr sz="6400"/>
            </a:lvl1pPr>
          </a:lstStyle>
          <a:p>
            <a:r>
              <a:t>Basic Operations on Processes</a:t>
            </a:r>
          </a:p>
        </p:txBody>
      </p:sp>
      <p:sp>
        <p:nvSpPr>
          <p:cNvPr id="250" name="suspend - Change process state to suspended…"/>
          <p:cNvSpPr txBox="1">
            <a:spLocks noGrp="1"/>
          </p:cNvSpPr>
          <p:nvPr>
            <p:ph type="body" idx="1"/>
          </p:nvPr>
        </p:nvSpPr>
        <p:spPr>
          <a:xfrm>
            <a:off x="1270000" y="2768600"/>
            <a:ext cx="11582400" cy="6578600"/>
          </a:xfrm>
          <a:prstGeom prst="rect">
            <a:avLst/>
          </a:prstGeom>
        </p:spPr>
        <p:txBody>
          <a:bodyPr/>
          <a:lstStyle/>
          <a:p>
            <a:pPr marL="1088571" lvl="1" indent="-326571">
              <a:defRPr sz="2400"/>
            </a:pPr>
            <a:r>
              <a:t>suspend - Change process state to suspended</a:t>
            </a:r>
          </a:p>
          <a:p>
            <a:pPr marL="1533071" lvl="2" indent="-326571">
              <a:defRPr sz="2400"/>
            </a:pPr>
            <a:r>
              <a:t>A process may suspend only its descendants</a:t>
            </a:r>
          </a:p>
          <a:p>
            <a:pPr marL="1533071" lvl="2" indent="-326571">
              <a:defRPr sz="2400"/>
            </a:pPr>
            <a:r>
              <a:t>May include cascaded suspension</a:t>
            </a:r>
          </a:p>
          <a:p>
            <a:pPr marL="1533071" lvl="2" indent="-326571">
              <a:defRPr sz="2400"/>
            </a:pPr>
            <a:r>
              <a:t>Stop the process if process is in running state and save the state of the processor in PCB</a:t>
            </a:r>
          </a:p>
          <a:p>
            <a:pPr marL="1533071" lvl="2" indent="-326571">
              <a:defRPr sz="2400"/>
            </a:pPr>
            <a:r>
              <a:t>If process is already in blocked state, leave it blocked, else change to ready</a:t>
            </a:r>
          </a:p>
          <a:p>
            <a:pPr marL="1533071" lvl="2" indent="-326571">
              <a:defRPr sz="2400"/>
            </a:pPr>
            <a:r>
              <a:t>If need be, call scheduler to schedule the processor to some other process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Basic Operations on Processes"/>
          <p:cNvSpPr txBox="1">
            <a:spLocks noGrp="1"/>
          </p:cNvSpPr>
          <p:nvPr>
            <p:ph type="title"/>
          </p:nvPr>
        </p:nvSpPr>
        <p:spPr>
          <a:prstGeom prst="rect">
            <a:avLst/>
          </a:prstGeom>
        </p:spPr>
        <p:txBody>
          <a:bodyPr/>
          <a:lstStyle>
            <a:lvl1pPr>
              <a:defRPr sz="6400"/>
            </a:lvl1pPr>
          </a:lstStyle>
          <a:p>
            <a:r>
              <a:t>Basic Operations on Processes</a:t>
            </a:r>
          </a:p>
        </p:txBody>
      </p:sp>
      <p:sp>
        <p:nvSpPr>
          <p:cNvPr id="253" name="activate - Change process state to active…"/>
          <p:cNvSpPr txBox="1">
            <a:spLocks noGrp="1"/>
          </p:cNvSpPr>
          <p:nvPr>
            <p:ph type="body" idx="1"/>
          </p:nvPr>
        </p:nvSpPr>
        <p:spPr>
          <a:xfrm>
            <a:off x="1270000" y="2768600"/>
            <a:ext cx="10972800" cy="6578600"/>
          </a:xfrm>
          <a:prstGeom prst="rect">
            <a:avLst/>
          </a:prstGeom>
        </p:spPr>
        <p:txBody>
          <a:bodyPr/>
          <a:lstStyle/>
          <a:p>
            <a:pPr marL="1088571" lvl="1" indent="-326571">
              <a:defRPr sz="2400"/>
            </a:pPr>
            <a:r>
              <a:t>activate - Change process state to active</a:t>
            </a:r>
          </a:p>
          <a:p>
            <a:pPr marL="1533071" lvl="2" indent="-326571">
              <a:defRPr sz="2400"/>
            </a:pPr>
            <a:r>
              <a:t>Change one of the descendant processes to ready state</a:t>
            </a:r>
          </a:p>
          <a:p>
            <a:pPr marL="1533071" lvl="2" indent="-326571">
              <a:defRPr sz="2400"/>
            </a:pPr>
            <a:r>
              <a:t>Add the process to the ready list</a:t>
            </a:r>
          </a:p>
          <a:p>
            <a:pPr marL="1088571" lvl="1" indent="-326571">
              <a:defRPr sz="2400"/>
            </a:pPr>
            <a:r>
              <a:t>destroy - Remove one or more processes</a:t>
            </a:r>
          </a:p>
          <a:p>
            <a:pPr marL="1533071" lvl="2" indent="-326571">
              <a:defRPr sz="2400"/>
            </a:pPr>
            <a:r>
              <a:t>Cascaded destruction possible</a:t>
            </a:r>
          </a:p>
          <a:p>
            <a:pPr marL="1533071" lvl="2" indent="-326571">
              <a:defRPr sz="2400"/>
            </a:pPr>
            <a:r>
              <a:t>Only descendant processes may be destroyed</a:t>
            </a:r>
          </a:p>
          <a:p>
            <a:pPr marL="1533071" lvl="2" indent="-326571">
              <a:defRPr sz="2400"/>
            </a:pPr>
            <a:r>
              <a:t>If the process to be killed is running, stop execution</a:t>
            </a:r>
          </a:p>
          <a:p>
            <a:pPr marL="1533071" lvl="2" indent="-326571">
              <a:defRPr sz="2400"/>
            </a:pPr>
            <a:r>
              <a:t>Free all resources currently allocated to process</a:t>
            </a:r>
          </a:p>
          <a:p>
            <a:pPr marL="1533071" lvl="2" indent="-326571">
              <a:defRPr sz="2400"/>
            </a:pPr>
            <a:r>
              <a:t>Remove PCB associated with killed process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Basic Operations on Processes"/>
          <p:cNvSpPr txBox="1">
            <a:spLocks noGrp="1"/>
          </p:cNvSpPr>
          <p:nvPr>
            <p:ph type="title"/>
          </p:nvPr>
        </p:nvSpPr>
        <p:spPr>
          <a:prstGeom prst="rect">
            <a:avLst/>
          </a:prstGeom>
        </p:spPr>
        <p:txBody>
          <a:bodyPr/>
          <a:lstStyle>
            <a:lvl1pPr>
              <a:defRPr sz="6400"/>
            </a:lvl1pPr>
          </a:lstStyle>
          <a:p>
            <a:r>
              <a:t>Basic Operations on Processes</a:t>
            </a:r>
          </a:p>
        </p:txBody>
      </p:sp>
      <p:sp>
        <p:nvSpPr>
          <p:cNvPr id="256" name="change_priority - Set a new priority for the process…"/>
          <p:cNvSpPr txBox="1">
            <a:spLocks noGrp="1"/>
          </p:cNvSpPr>
          <p:nvPr>
            <p:ph type="body" idx="1"/>
          </p:nvPr>
        </p:nvSpPr>
        <p:spPr>
          <a:xfrm>
            <a:off x="1270000" y="2768600"/>
            <a:ext cx="10972800" cy="6578600"/>
          </a:xfrm>
          <a:prstGeom prst="rect">
            <a:avLst/>
          </a:prstGeom>
        </p:spPr>
        <p:txBody>
          <a:bodyPr/>
          <a:lstStyle/>
          <a:p>
            <a:pPr marL="1088571" lvl="1" indent="-326571">
              <a:defRPr sz="2400"/>
            </a:pPr>
            <a:r>
              <a:t>change_priority - Set a new priority for the process</a:t>
            </a:r>
          </a:p>
          <a:p>
            <a:pPr marL="1533071" lvl="2" indent="-326571">
              <a:defRPr sz="2400"/>
            </a:pPr>
            <a:r>
              <a:t>Change priority in the PCB</a:t>
            </a:r>
          </a:p>
          <a:p>
            <a:pPr marL="1533071" lvl="2" indent="-326571">
              <a:defRPr sz="2400"/>
            </a:pPr>
            <a:r>
              <a:t>Move process to a different queue to reflect priority change</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68" name="What is the objective of multitasking?…"/>
          <p:cNvSpPr txBox="1">
            <a:spLocks noGrp="1"/>
          </p:cNvSpPr>
          <p:nvPr>
            <p:ph type="body" sz="half" idx="1"/>
          </p:nvPr>
        </p:nvSpPr>
        <p:spPr>
          <a:xfrm>
            <a:off x="1270000" y="2768600"/>
            <a:ext cx="10972800" cy="2552651"/>
          </a:xfrm>
          <a:prstGeom prst="rect">
            <a:avLst/>
          </a:prstGeom>
        </p:spPr>
        <p:txBody>
          <a:bodyPr/>
          <a:lstStyle/>
          <a:p>
            <a:pPr marL="1533071" lvl="2" indent="-326571">
              <a:defRPr sz="2400"/>
            </a:pPr>
            <a:r>
              <a:t>What is the objective of multitasking?</a:t>
            </a:r>
          </a:p>
          <a:p>
            <a:pPr marL="1977571" lvl="3" indent="-326571">
              <a:defRPr sz="2400"/>
            </a:pPr>
            <a:r>
              <a:t>Maximize CPU utilization and increase throughput</a:t>
            </a:r>
          </a:p>
        </p:txBody>
      </p:sp>
      <p:pic>
        <p:nvPicPr>
          <p:cNvPr id="269" name="pasted-image.pdf" descr="pasted-image.pdf"/>
          <p:cNvPicPr>
            <a:picLocks noChangeAspect="1"/>
          </p:cNvPicPr>
          <p:nvPr/>
        </p:nvPicPr>
        <p:blipFill>
          <a:blip r:embed="rId2"/>
          <a:stretch>
            <a:fillRect/>
          </a:stretch>
        </p:blipFill>
        <p:spPr>
          <a:xfrm>
            <a:off x="3916262" y="4837918"/>
            <a:ext cx="4290505" cy="834090"/>
          </a:xfrm>
          <a:prstGeom prst="rect">
            <a:avLst/>
          </a:prstGeom>
          <a:ln w="12700">
            <a:miter lim="400000"/>
          </a:ln>
        </p:spPr>
      </p:pic>
      <p:pic>
        <p:nvPicPr>
          <p:cNvPr id="270" name="pasted-image.pdf" descr="pasted-image.pdf"/>
          <p:cNvPicPr>
            <a:picLocks noChangeAspect="1"/>
          </p:cNvPicPr>
          <p:nvPr/>
        </p:nvPicPr>
        <p:blipFill>
          <a:blip r:embed="rId3"/>
          <a:stretch>
            <a:fillRect/>
          </a:stretch>
        </p:blipFill>
        <p:spPr>
          <a:xfrm>
            <a:off x="3822853" y="5654363"/>
            <a:ext cx="4660041" cy="1927148"/>
          </a:xfrm>
          <a:prstGeom prst="rect">
            <a:avLst/>
          </a:prstGeom>
          <a:ln w="12700">
            <a:miter lim="400000"/>
          </a:ln>
        </p:spPr>
      </p:pic>
      <p:pic>
        <p:nvPicPr>
          <p:cNvPr id="271" name="pasted-image.pdf" descr="pasted-image.pdf"/>
          <p:cNvPicPr>
            <a:picLocks noChangeAspect="1"/>
          </p:cNvPicPr>
          <p:nvPr/>
        </p:nvPicPr>
        <p:blipFill>
          <a:blip r:embed="rId4"/>
          <a:stretch>
            <a:fillRect/>
          </a:stretch>
        </p:blipFill>
        <p:spPr>
          <a:xfrm>
            <a:off x="3822853" y="7487245"/>
            <a:ext cx="4477323" cy="2204743"/>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74" name="Each entering process goes into job queue. Processes in job queue:…"/>
          <p:cNvSpPr txBox="1">
            <a:spLocks noGrp="1"/>
          </p:cNvSpPr>
          <p:nvPr>
            <p:ph type="body" idx="1"/>
          </p:nvPr>
        </p:nvSpPr>
        <p:spPr>
          <a:xfrm>
            <a:off x="1270000" y="2768600"/>
            <a:ext cx="10972800" cy="6578600"/>
          </a:xfrm>
          <a:prstGeom prst="rect">
            <a:avLst/>
          </a:prstGeom>
        </p:spPr>
        <p:txBody>
          <a:bodyPr/>
          <a:lstStyle/>
          <a:p>
            <a:pPr marL="1533071" lvl="2" indent="-326571">
              <a:defRPr sz="2400"/>
            </a:pPr>
            <a:r>
              <a:t>Each entering process goes into job queue. Processes in job queue:</a:t>
            </a:r>
          </a:p>
          <a:p>
            <a:pPr marL="1977571" lvl="3" indent="-326571">
              <a:defRPr sz="2400"/>
            </a:pPr>
            <a:r>
              <a:t>Reside in mass storage</a:t>
            </a:r>
          </a:p>
          <a:p>
            <a:pPr marL="1977571" lvl="3" indent="-326571">
              <a:defRPr sz="2400"/>
            </a:pPr>
            <a:r>
              <a:t>Await allocation of main memory</a:t>
            </a:r>
          </a:p>
          <a:p>
            <a:pPr marL="1977571" lvl="3" indent="-326571">
              <a:defRPr sz="2400"/>
            </a:pPr>
            <a:r>
              <a:t>If residing in main memory and awaiting CPU time</a:t>
            </a:r>
          </a:p>
          <a:p>
            <a:pPr marL="2422071" lvl="4" indent="-326571">
              <a:defRPr sz="2400"/>
            </a:pPr>
            <a:r>
              <a:t>Kept in </a:t>
            </a:r>
            <a:r>
              <a:rPr i="1"/>
              <a:t>ready queue</a:t>
            </a:r>
          </a:p>
          <a:p>
            <a:pPr marL="1977571" lvl="3" indent="-326571">
              <a:defRPr sz="2400"/>
            </a:pPr>
            <a:r>
              <a:t>If waiting for allocation of a certain I/O device</a:t>
            </a:r>
          </a:p>
          <a:p>
            <a:pPr marL="2422071" lvl="4" indent="-326571">
              <a:defRPr sz="2400"/>
            </a:pPr>
            <a:r>
              <a:t>Reside in </a:t>
            </a:r>
            <a:r>
              <a:rPr i="1"/>
              <a:t>device queue</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77" name="So what is a scheduler?…"/>
          <p:cNvSpPr txBox="1">
            <a:spLocks noGrp="1"/>
          </p:cNvSpPr>
          <p:nvPr>
            <p:ph type="body" idx="1"/>
          </p:nvPr>
        </p:nvSpPr>
        <p:spPr>
          <a:xfrm>
            <a:off x="1270000" y="2768600"/>
            <a:ext cx="10972800" cy="6578600"/>
          </a:xfrm>
          <a:prstGeom prst="rect">
            <a:avLst/>
          </a:prstGeom>
        </p:spPr>
        <p:txBody>
          <a:bodyPr/>
          <a:lstStyle/>
          <a:p>
            <a:pPr marL="1533071" lvl="2" indent="-326571">
              <a:defRPr sz="2400"/>
            </a:pPr>
            <a:r>
              <a:t>So what is a scheduler?</a:t>
            </a:r>
          </a:p>
          <a:p>
            <a:pPr marL="1977571" lvl="3" indent="-326571">
              <a:defRPr sz="2400"/>
            </a:pPr>
            <a:r>
              <a:t>Concerned with deciding a policy about which process to be dispatched</a:t>
            </a:r>
          </a:p>
          <a:p>
            <a:pPr marL="1977571" lvl="3" indent="-326571">
              <a:defRPr sz="2400"/>
            </a:pPr>
            <a:r>
              <a:t>After selection, loads process state or dispatches</a:t>
            </a:r>
          </a:p>
          <a:p>
            <a:pPr marL="1977571" lvl="3" indent="-326571">
              <a:defRPr sz="2400"/>
            </a:pPr>
            <a:r>
              <a:t>Process selection based on a scheduling algorithm</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80" name="Autonomous vs shared scheduling…"/>
          <p:cNvSpPr txBox="1">
            <a:spLocks noGrp="1"/>
          </p:cNvSpPr>
          <p:nvPr>
            <p:ph type="body" idx="1"/>
          </p:nvPr>
        </p:nvSpPr>
        <p:spPr>
          <a:xfrm>
            <a:off x="1270000" y="2768600"/>
            <a:ext cx="10972800" cy="6578600"/>
          </a:xfrm>
          <a:prstGeom prst="rect">
            <a:avLst/>
          </a:prstGeom>
        </p:spPr>
        <p:txBody>
          <a:bodyPr/>
          <a:lstStyle/>
          <a:p>
            <a:pPr marL="1533071" lvl="2" indent="-326571">
              <a:defRPr sz="2400"/>
            </a:pPr>
            <a:r>
              <a:rPr lang="en-US" dirty="0"/>
              <a:t>Can have Autonomous or Shared scheduling</a:t>
            </a:r>
            <a:endParaRPr dirty="0"/>
          </a:p>
          <a:p>
            <a:pPr marL="1533071" lvl="2" indent="-326571">
              <a:defRPr sz="2400"/>
            </a:pPr>
            <a:r>
              <a:rPr dirty="0"/>
              <a:t>Shared schedul</a:t>
            </a:r>
            <a:r>
              <a:rPr lang="en-US" dirty="0"/>
              <a:t>er</a:t>
            </a:r>
            <a:endParaRPr dirty="0"/>
          </a:p>
          <a:p>
            <a:pPr marL="1977571" lvl="3" indent="-326571">
              <a:defRPr sz="2400"/>
            </a:pPr>
            <a:r>
              <a:rPr dirty="0"/>
              <a:t>Scheduler is invoked by a function call as a side effect of kernel operation</a:t>
            </a:r>
          </a:p>
          <a:p>
            <a:pPr marL="1977571" lvl="3" indent="-326571">
              <a:defRPr sz="2400"/>
            </a:pPr>
            <a:r>
              <a:rPr dirty="0"/>
              <a:t>Kernel and scheduler are potentially contained in the address space of all processes and execute as part of the process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83" name="Autonomous scheduling…"/>
          <p:cNvSpPr txBox="1">
            <a:spLocks noGrp="1"/>
          </p:cNvSpPr>
          <p:nvPr>
            <p:ph type="body" idx="1"/>
          </p:nvPr>
        </p:nvSpPr>
        <p:spPr>
          <a:xfrm>
            <a:off x="1270000" y="2768600"/>
            <a:ext cx="10972800" cy="6578600"/>
          </a:xfrm>
          <a:prstGeom prst="rect">
            <a:avLst/>
          </a:prstGeom>
        </p:spPr>
        <p:txBody>
          <a:bodyPr/>
          <a:lstStyle/>
          <a:p>
            <a:pPr marL="1533071" lvl="2" indent="-326571">
              <a:defRPr sz="2400"/>
            </a:pPr>
            <a:r>
              <a:rPr dirty="0"/>
              <a:t>Autonomous schedul</a:t>
            </a:r>
            <a:r>
              <a:rPr lang="en-US" dirty="0"/>
              <a:t>er</a:t>
            </a:r>
            <a:endParaRPr dirty="0"/>
          </a:p>
          <a:p>
            <a:pPr marL="1977571" lvl="3" indent="-326571">
              <a:defRPr sz="2400"/>
            </a:pPr>
            <a:r>
              <a:rPr dirty="0"/>
              <a:t>Scheduler (and possibly kernel) are centralized</a:t>
            </a:r>
          </a:p>
          <a:p>
            <a:pPr marL="1977571" lvl="3" indent="-326571">
              <a:defRPr sz="2400"/>
            </a:pPr>
            <a:r>
              <a:rPr dirty="0"/>
              <a:t>Scheduler is considered a separate process running autonomously</a:t>
            </a:r>
          </a:p>
          <a:p>
            <a:pPr marL="1977571" lvl="3" indent="-326571">
              <a:defRPr sz="2400"/>
            </a:pPr>
            <a:r>
              <a:rPr dirty="0"/>
              <a:t>Continuously polls system for work or can be driven by wakeup signals</a:t>
            </a:r>
          </a:p>
          <a:p>
            <a:pPr marL="1977571" lvl="3" indent="-326571">
              <a:defRPr sz="2400"/>
            </a:pPr>
            <a:r>
              <a:rPr dirty="0"/>
              <a:t>Which is preferred?</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86" name="Autonomous scheduling:…"/>
          <p:cNvSpPr txBox="1">
            <a:spLocks noGrp="1"/>
          </p:cNvSpPr>
          <p:nvPr>
            <p:ph type="body" idx="1"/>
          </p:nvPr>
        </p:nvSpPr>
        <p:spPr>
          <a:xfrm>
            <a:off x="1270000" y="2768600"/>
            <a:ext cx="10972800" cy="6578600"/>
          </a:xfrm>
          <a:prstGeom prst="rect">
            <a:avLst/>
          </a:prstGeom>
        </p:spPr>
        <p:txBody>
          <a:bodyPr/>
          <a:lstStyle/>
          <a:p>
            <a:pPr marL="1533071" lvl="2" indent="-326571">
              <a:defRPr sz="2400"/>
            </a:pPr>
            <a:r>
              <a:t>Autonomous scheduling:</a:t>
            </a:r>
          </a:p>
          <a:p>
            <a:pPr marL="1977571" lvl="3" indent="-326571">
              <a:defRPr sz="2400"/>
            </a:pPr>
            <a:r>
              <a:t>Preferable in multiprocessor systems as master/slave configuration</a:t>
            </a:r>
          </a:p>
          <a:p>
            <a:pPr marL="2422071" lvl="4" indent="-326571">
              <a:defRPr sz="2400"/>
            </a:pPr>
            <a:r>
              <a:t>One cpu can be permanently dedicated to scheduling, kernel and other supervisory activities such as I/O and program loading</a:t>
            </a:r>
          </a:p>
          <a:p>
            <a:pPr marL="2422071" lvl="4" indent="-326571">
              <a:defRPr sz="2400"/>
            </a:pPr>
            <a:r>
              <a:t>OS is clearly separated from user processes</a:t>
            </a:r>
          </a:p>
          <a:p>
            <a:pPr marL="1977571" lvl="3" indent="-326571">
              <a:defRPr sz="2400"/>
            </a:pPr>
            <a:r>
              <a:t>How does scheduler get dispatched?</a:t>
            </a:r>
          </a:p>
          <a:p>
            <a:pPr marL="2422071" lvl="4" indent="-326571">
              <a:defRPr sz="2400"/>
            </a:pPr>
            <a:r>
              <a:t>Solved by transferring control to the scheduler whenever a process is blocked or awakened</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Organization of Schedulers"/>
          <p:cNvSpPr txBox="1">
            <a:spLocks noGrp="1"/>
          </p:cNvSpPr>
          <p:nvPr>
            <p:ph type="title"/>
          </p:nvPr>
        </p:nvSpPr>
        <p:spPr>
          <a:prstGeom prst="rect">
            <a:avLst/>
          </a:prstGeom>
        </p:spPr>
        <p:txBody>
          <a:bodyPr/>
          <a:lstStyle>
            <a:lvl1pPr>
              <a:defRPr sz="6400"/>
            </a:lvl1pPr>
          </a:lstStyle>
          <a:p>
            <a:r>
              <a:t>Organization of Schedulers</a:t>
            </a:r>
          </a:p>
        </p:txBody>
      </p:sp>
      <p:sp>
        <p:nvSpPr>
          <p:cNvPr id="289" name="Unix scheduler…"/>
          <p:cNvSpPr txBox="1">
            <a:spLocks noGrp="1"/>
          </p:cNvSpPr>
          <p:nvPr>
            <p:ph type="body" idx="1"/>
          </p:nvPr>
        </p:nvSpPr>
        <p:spPr>
          <a:xfrm>
            <a:off x="1270000" y="2768600"/>
            <a:ext cx="10972800" cy="6578600"/>
          </a:xfrm>
          <a:prstGeom prst="rect">
            <a:avLst/>
          </a:prstGeom>
        </p:spPr>
        <p:txBody>
          <a:bodyPr/>
          <a:lstStyle/>
          <a:p>
            <a:pPr marL="1533071" lvl="2" indent="-326571">
              <a:defRPr sz="2400"/>
            </a:pPr>
            <a:r>
              <a:rPr lang="en-US" dirty="0"/>
              <a:t>Linux </a:t>
            </a:r>
            <a:r>
              <a:rPr dirty="0"/>
              <a:t>scheduler</a:t>
            </a:r>
          </a:p>
          <a:p>
            <a:pPr marL="1977571" lvl="3" indent="-326571">
              <a:defRPr sz="2400"/>
            </a:pPr>
            <a:r>
              <a:rPr dirty="0"/>
              <a:t>Autonomous scheduler</a:t>
            </a:r>
          </a:p>
          <a:p>
            <a:pPr marL="1977571" lvl="3" indent="-326571">
              <a:defRPr sz="2400"/>
            </a:pPr>
            <a:r>
              <a:rPr dirty="0"/>
              <a:t>Runs between any two other processes</a:t>
            </a:r>
          </a:p>
          <a:p>
            <a:pPr marL="1977571" lvl="3" indent="-326571">
              <a:defRPr sz="2400"/>
            </a:pPr>
            <a:r>
              <a:rPr dirty="0"/>
              <a:t>Serves as a dummy process that runs when no other process is ready</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rocess states"/>
          <p:cNvSpPr txBox="1">
            <a:spLocks noGrp="1"/>
          </p:cNvSpPr>
          <p:nvPr>
            <p:ph type="title"/>
          </p:nvPr>
        </p:nvSpPr>
        <p:spPr>
          <a:prstGeom prst="rect">
            <a:avLst/>
          </a:prstGeom>
        </p:spPr>
        <p:txBody>
          <a:bodyPr/>
          <a:lstStyle>
            <a:lvl1pPr>
              <a:defRPr sz="6400"/>
            </a:lvl1pPr>
          </a:lstStyle>
          <a:p>
            <a:r>
              <a:t>Process states</a:t>
            </a:r>
          </a:p>
        </p:txBody>
      </p:sp>
      <p:pic>
        <p:nvPicPr>
          <p:cNvPr id="292" name="image6.png" descr="image6.png"/>
          <p:cNvPicPr>
            <a:picLocks noChangeAspect="1"/>
          </p:cNvPicPr>
          <p:nvPr/>
        </p:nvPicPr>
        <p:blipFill>
          <a:blip r:embed="rId2"/>
          <a:stretch>
            <a:fillRect/>
          </a:stretch>
        </p:blipFill>
        <p:spPr>
          <a:xfrm>
            <a:off x="3256779" y="2909888"/>
            <a:ext cx="7006409" cy="4748213"/>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Schedulers"/>
          <p:cNvSpPr txBox="1">
            <a:spLocks noGrp="1"/>
          </p:cNvSpPr>
          <p:nvPr>
            <p:ph type="title"/>
          </p:nvPr>
        </p:nvSpPr>
        <p:spPr>
          <a:prstGeom prst="rect">
            <a:avLst/>
          </a:prstGeom>
        </p:spPr>
        <p:txBody>
          <a:bodyPr/>
          <a:lstStyle>
            <a:lvl1pPr>
              <a:defRPr sz="6400"/>
            </a:lvl1pPr>
          </a:lstStyle>
          <a:p>
            <a:r>
              <a:t>Schedulers</a:t>
            </a:r>
          </a:p>
        </p:txBody>
      </p:sp>
      <p:sp>
        <p:nvSpPr>
          <p:cNvPr id="295" name="Long-term scheduler…"/>
          <p:cNvSpPr txBox="1">
            <a:spLocks noGrp="1"/>
          </p:cNvSpPr>
          <p:nvPr>
            <p:ph type="body" idx="1"/>
          </p:nvPr>
        </p:nvSpPr>
        <p:spPr>
          <a:xfrm>
            <a:off x="1270000" y="2768600"/>
            <a:ext cx="10972800" cy="6578600"/>
          </a:xfrm>
          <a:prstGeom prst="rect">
            <a:avLst/>
          </a:prstGeom>
        </p:spPr>
        <p:txBody>
          <a:bodyPr/>
          <a:lstStyle/>
          <a:p>
            <a:pPr marL="1533071" lvl="2" indent="-326571">
              <a:defRPr sz="2400"/>
            </a:pPr>
            <a:r>
              <a:t>Long-term scheduler</a:t>
            </a:r>
          </a:p>
          <a:p>
            <a:pPr marL="1977571" lvl="3" indent="-326571">
              <a:defRPr sz="2400"/>
            </a:pPr>
            <a:r>
              <a:t>Selects processes from job queue</a:t>
            </a:r>
          </a:p>
          <a:p>
            <a:pPr marL="1977571" lvl="3" indent="-326571">
              <a:defRPr sz="2400"/>
            </a:pPr>
            <a:r>
              <a:t>Loads the selected processes into memory for execution</a:t>
            </a:r>
          </a:p>
          <a:p>
            <a:pPr marL="1977571" lvl="3" indent="-326571">
              <a:defRPr sz="2400"/>
            </a:pPr>
            <a:r>
              <a:t>Updates teh ready queue</a:t>
            </a:r>
          </a:p>
          <a:p>
            <a:pPr marL="1977571" lvl="3" indent="-326571">
              <a:defRPr sz="2400"/>
            </a:pPr>
            <a:r>
              <a:t>Controls the degree of multiprogramming (number of procs in memory)</a:t>
            </a:r>
          </a:p>
          <a:p>
            <a:pPr marL="1977571" lvl="3" indent="-326571">
              <a:defRPr sz="2400"/>
            </a:pPr>
            <a:r>
              <a:t>Not executed as frequently as short-term scheduler</a:t>
            </a:r>
          </a:p>
          <a:p>
            <a:pPr marL="1977571" lvl="3" indent="-326571">
              <a:defRPr sz="2400"/>
            </a:pPr>
            <a:r>
              <a:t>Should generate a good mix of CPU-bound and I/O bound processes</a:t>
            </a:r>
          </a:p>
          <a:p>
            <a:pPr marL="1977571" lvl="3" indent="-326571">
              <a:defRPr sz="2400"/>
            </a:pPr>
            <a:r>
              <a:t>May not be present in some systems (like time-sharing systems)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chedulers"/>
          <p:cNvSpPr txBox="1">
            <a:spLocks noGrp="1"/>
          </p:cNvSpPr>
          <p:nvPr>
            <p:ph type="title"/>
          </p:nvPr>
        </p:nvSpPr>
        <p:spPr>
          <a:prstGeom prst="rect">
            <a:avLst/>
          </a:prstGeom>
        </p:spPr>
        <p:txBody>
          <a:bodyPr/>
          <a:lstStyle>
            <a:lvl1pPr>
              <a:defRPr sz="6400"/>
            </a:lvl1pPr>
          </a:lstStyle>
          <a:p>
            <a:r>
              <a:t>Schedulers</a:t>
            </a:r>
          </a:p>
        </p:txBody>
      </p:sp>
      <p:sp>
        <p:nvSpPr>
          <p:cNvPr id="298" name="Short-term scheduler…"/>
          <p:cNvSpPr txBox="1">
            <a:spLocks noGrp="1"/>
          </p:cNvSpPr>
          <p:nvPr>
            <p:ph type="body" idx="1"/>
          </p:nvPr>
        </p:nvSpPr>
        <p:spPr>
          <a:xfrm>
            <a:off x="1270000" y="2768600"/>
            <a:ext cx="10972800" cy="6578600"/>
          </a:xfrm>
          <a:prstGeom prst="rect">
            <a:avLst/>
          </a:prstGeom>
        </p:spPr>
        <p:txBody>
          <a:bodyPr/>
          <a:lstStyle/>
          <a:p>
            <a:pPr marL="1533071" lvl="2" indent="-326571">
              <a:defRPr sz="2400"/>
            </a:pPr>
            <a:r>
              <a:t>Short-term scheduler</a:t>
            </a:r>
          </a:p>
          <a:p>
            <a:pPr marL="1977571" lvl="3" indent="-326571">
              <a:defRPr sz="2400"/>
            </a:pPr>
            <a:r>
              <a:t>Selects processes from ready queue</a:t>
            </a:r>
          </a:p>
          <a:p>
            <a:pPr marL="1977571" lvl="3" indent="-326571">
              <a:defRPr sz="2400"/>
            </a:pPr>
            <a:r>
              <a:t>Allocates CPU to the selected process</a:t>
            </a:r>
          </a:p>
          <a:p>
            <a:pPr marL="1977571" lvl="3" indent="-326571">
              <a:defRPr sz="2400"/>
            </a:pPr>
            <a:r>
              <a:t>Dispatches the process</a:t>
            </a:r>
          </a:p>
          <a:p>
            <a:pPr marL="1977571" lvl="3" indent="-326571">
              <a:defRPr sz="2400"/>
            </a:pPr>
            <a:r>
              <a:t>Executed frequently (very few milliseconds, like 10 msec)</a:t>
            </a:r>
          </a:p>
          <a:p>
            <a:pPr marL="1977571" lvl="3" indent="-326571">
              <a:defRPr sz="2400"/>
            </a:pPr>
            <a:r>
              <a:t>Must make a decision quickly, so be very fast</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chedulers"/>
          <p:cNvSpPr txBox="1">
            <a:spLocks noGrp="1"/>
          </p:cNvSpPr>
          <p:nvPr>
            <p:ph type="title"/>
          </p:nvPr>
        </p:nvSpPr>
        <p:spPr>
          <a:prstGeom prst="rect">
            <a:avLst/>
          </a:prstGeom>
        </p:spPr>
        <p:txBody>
          <a:bodyPr/>
          <a:lstStyle>
            <a:lvl1pPr>
              <a:defRPr sz="6400"/>
            </a:lvl1pPr>
          </a:lstStyle>
          <a:p>
            <a:r>
              <a:t>Schedulers</a:t>
            </a:r>
          </a:p>
        </p:txBody>
      </p:sp>
      <p:pic>
        <p:nvPicPr>
          <p:cNvPr id="301" name="image7.gif" descr="image7.gif"/>
          <p:cNvPicPr>
            <a:picLocks noChangeAspect="1"/>
          </p:cNvPicPr>
          <p:nvPr/>
        </p:nvPicPr>
        <p:blipFill>
          <a:blip r:embed="rId2"/>
          <a:stretch>
            <a:fillRect/>
          </a:stretch>
        </p:blipFill>
        <p:spPr>
          <a:xfrm>
            <a:off x="3289300" y="2992255"/>
            <a:ext cx="7315200" cy="5267690"/>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Schedulers"/>
          <p:cNvSpPr txBox="1">
            <a:spLocks noGrp="1"/>
          </p:cNvSpPr>
          <p:nvPr>
            <p:ph type="title"/>
          </p:nvPr>
        </p:nvSpPr>
        <p:spPr>
          <a:prstGeom prst="rect">
            <a:avLst/>
          </a:prstGeom>
        </p:spPr>
        <p:txBody>
          <a:bodyPr/>
          <a:lstStyle>
            <a:lvl1pPr>
              <a:defRPr sz="6400"/>
            </a:lvl1pPr>
          </a:lstStyle>
          <a:p>
            <a:r>
              <a:t>Schedulers</a:t>
            </a:r>
          </a:p>
        </p:txBody>
      </p:sp>
      <p:pic>
        <p:nvPicPr>
          <p:cNvPr id="304" name="image8.gif" descr="image8.gif"/>
          <p:cNvPicPr>
            <a:picLocks noChangeAspect="1"/>
          </p:cNvPicPr>
          <p:nvPr/>
        </p:nvPicPr>
        <p:blipFill>
          <a:blip r:embed="rId2"/>
          <a:stretch>
            <a:fillRect/>
          </a:stretch>
        </p:blipFill>
        <p:spPr>
          <a:xfrm>
            <a:off x="5016500" y="2806180"/>
            <a:ext cx="2971800" cy="5018705"/>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Schedulers"/>
          <p:cNvSpPr txBox="1">
            <a:spLocks noGrp="1"/>
          </p:cNvSpPr>
          <p:nvPr>
            <p:ph type="title"/>
          </p:nvPr>
        </p:nvSpPr>
        <p:spPr>
          <a:prstGeom prst="rect">
            <a:avLst/>
          </a:prstGeom>
        </p:spPr>
        <p:txBody>
          <a:bodyPr/>
          <a:lstStyle>
            <a:lvl1pPr>
              <a:defRPr sz="6400"/>
            </a:lvl1pPr>
          </a:lstStyle>
          <a:p>
            <a:r>
              <a:t>Schedulers</a:t>
            </a:r>
          </a:p>
        </p:txBody>
      </p:sp>
      <p:pic>
        <p:nvPicPr>
          <p:cNvPr id="307" name="image9.gif" descr="image9.gif"/>
          <p:cNvPicPr>
            <a:picLocks noChangeAspect="1"/>
          </p:cNvPicPr>
          <p:nvPr/>
        </p:nvPicPr>
        <p:blipFill>
          <a:blip r:embed="rId2"/>
          <a:stretch>
            <a:fillRect/>
          </a:stretch>
        </p:blipFill>
        <p:spPr>
          <a:xfrm>
            <a:off x="2552700" y="2844798"/>
            <a:ext cx="7224712" cy="5550356"/>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Schedulers"/>
          <p:cNvSpPr txBox="1">
            <a:spLocks noGrp="1"/>
          </p:cNvSpPr>
          <p:nvPr>
            <p:ph type="title"/>
          </p:nvPr>
        </p:nvSpPr>
        <p:spPr>
          <a:prstGeom prst="rect">
            <a:avLst/>
          </a:prstGeom>
        </p:spPr>
        <p:txBody>
          <a:bodyPr/>
          <a:lstStyle>
            <a:lvl1pPr>
              <a:defRPr sz="6400"/>
            </a:lvl1pPr>
          </a:lstStyle>
          <a:p>
            <a:r>
              <a:t>Schedulers</a:t>
            </a:r>
          </a:p>
        </p:txBody>
      </p:sp>
      <p:sp>
        <p:nvSpPr>
          <p:cNvPr id="310" name="Major task of any operating system…"/>
          <p:cNvSpPr txBox="1">
            <a:spLocks noGrp="1"/>
          </p:cNvSpPr>
          <p:nvPr>
            <p:ph type="body" idx="1"/>
          </p:nvPr>
        </p:nvSpPr>
        <p:spPr>
          <a:xfrm>
            <a:off x="1270000" y="2768600"/>
            <a:ext cx="10972800" cy="6578600"/>
          </a:xfrm>
          <a:prstGeom prst="rect">
            <a:avLst/>
          </a:prstGeom>
        </p:spPr>
        <p:txBody>
          <a:bodyPr/>
          <a:lstStyle/>
          <a:p>
            <a:pPr marL="1533071" lvl="2" indent="-326571">
              <a:defRPr sz="2400"/>
            </a:pPr>
            <a:r>
              <a:t>Major task of any operating system</a:t>
            </a:r>
          </a:p>
          <a:p>
            <a:pPr marL="1977571" lvl="3" indent="-326571">
              <a:defRPr sz="2400"/>
            </a:pPr>
            <a:r>
              <a:t>Allocate ready processes to available processors</a:t>
            </a:r>
          </a:p>
          <a:p>
            <a:pPr marL="1977571" lvl="3" indent="-326571">
              <a:defRPr sz="2400"/>
            </a:pPr>
            <a:r>
              <a:t>Scheduler decides process to run first based on scheduling algorithm</a:t>
            </a:r>
          </a:p>
          <a:p>
            <a:pPr marL="1977571" lvl="3" indent="-326571">
              <a:defRPr sz="2400"/>
            </a:pPr>
            <a:r>
              <a:t>Two components of a scheduler</a:t>
            </a:r>
          </a:p>
          <a:p>
            <a:pPr marL="2422071" lvl="4" indent="-326571">
              <a:defRPr sz="2400"/>
            </a:pPr>
            <a:r>
              <a:t>Process scheduling</a:t>
            </a:r>
          </a:p>
          <a:p>
            <a:pPr marL="2777671" lvl="5" indent="-326571">
              <a:spcBef>
                <a:spcPts val="2400"/>
              </a:spcBef>
              <a:defRPr sz="2400"/>
            </a:pPr>
            <a:r>
              <a:t>Decision making policies to determine order in which active processes compute for use of CPu</a:t>
            </a:r>
          </a:p>
          <a:p>
            <a:pPr marL="2422071" lvl="4" indent="-326571">
              <a:defRPr sz="2400"/>
            </a:pPr>
            <a:r>
              <a:t>Process dispatch</a:t>
            </a:r>
          </a:p>
          <a:p>
            <a:pPr marL="2777671" lvl="5" indent="-326571">
              <a:spcBef>
                <a:spcPts val="2400"/>
              </a:spcBef>
              <a:defRPr sz="2400"/>
            </a:pPr>
            <a:r>
              <a:t>Actual binding of selected process to the CPU</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13" name="Desirable features of a scheduling algorithm…"/>
          <p:cNvSpPr txBox="1">
            <a:spLocks noGrp="1"/>
          </p:cNvSpPr>
          <p:nvPr>
            <p:ph type="body" idx="1"/>
          </p:nvPr>
        </p:nvSpPr>
        <p:spPr>
          <a:xfrm>
            <a:off x="1270000" y="2768600"/>
            <a:ext cx="10972800" cy="6578600"/>
          </a:xfrm>
          <a:prstGeom prst="rect">
            <a:avLst/>
          </a:prstGeom>
        </p:spPr>
        <p:txBody>
          <a:bodyPr/>
          <a:lstStyle/>
          <a:p>
            <a:pPr marL="1533071" lvl="2" indent="-326571">
              <a:defRPr sz="2400"/>
            </a:pPr>
            <a:r>
              <a:t>Desirable features of a scheduling algorithm</a:t>
            </a:r>
          </a:p>
          <a:p>
            <a:pPr marL="1977571" lvl="3" indent="-326571">
              <a:defRPr sz="2400"/>
            </a:pPr>
            <a:r>
              <a:t>Fairness: Make sure each process gets its fair share of CPU and that no process starves</a:t>
            </a:r>
          </a:p>
          <a:p>
            <a:pPr marL="1977571" lvl="3" indent="-326571">
              <a:defRPr sz="2400"/>
            </a:pPr>
            <a:r>
              <a:t>Efficiency: Keep the CPU busy 100% of the time</a:t>
            </a:r>
          </a:p>
          <a:p>
            <a:pPr marL="1977571" lvl="3" indent="-326571">
              <a:defRPr sz="2400"/>
            </a:pPr>
            <a:r>
              <a:t>Response time: Minimize response time for interactive users</a:t>
            </a:r>
          </a:p>
          <a:p>
            <a:pPr marL="1977571" lvl="3" indent="-326571">
              <a:defRPr sz="2400"/>
            </a:pPr>
            <a:r>
              <a:t>Turnaround: Minimize the time batch users must wait for output</a:t>
            </a:r>
          </a:p>
          <a:p>
            <a:pPr marL="1977571" lvl="3" indent="-326571">
              <a:defRPr sz="2400"/>
            </a:pPr>
            <a:r>
              <a:t>Throughput: Maximize the number of jobs processed per hour</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16" name="Desirable features of a scheduling algorithm…"/>
          <p:cNvSpPr txBox="1">
            <a:spLocks noGrp="1"/>
          </p:cNvSpPr>
          <p:nvPr>
            <p:ph type="body" idx="1"/>
          </p:nvPr>
        </p:nvSpPr>
        <p:spPr>
          <a:xfrm>
            <a:off x="1270000" y="2768600"/>
            <a:ext cx="10972800" cy="6578600"/>
          </a:xfrm>
          <a:prstGeom prst="rect">
            <a:avLst/>
          </a:prstGeom>
        </p:spPr>
        <p:txBody>
          <a:bodyPr/>
          <a:lstStyle/>
          <a:p>
            <a:pPr marL="1533071" lvl="2" indent="-326571">
              <a:defRPr sz="2400"/>
            </a:pPr>
            <a:r>
              <a:t>Desirable features of a scheduling algorithm</a:t>
            </a:r>
          </a:p>
          <a:p>
            <a:pPr marL="1977571" lvl="3" indent="-326571">
              <a:defRPr sz="2400"/>
            </a:pPr>
            <a:r>
              <a:t>Predictability: A job should run in same time and have same cost</a:t>
            </a:r>
          </a:p>
          <a:p>
            <a:pPr marL="1977571" lvl="3" indent="-326571">
              <a:defRPr sz="2400"/>
            </a:pPr>
            <a:r>
              <a:t>Balance resources: Keep resources of the system busy</a:t>
            </a:r>
          </a:p>
          <a:p>
            <a:pPr marL="1977571" lvl="3" indent="-326571">
              <a:defRPr sz="2400"/>
            </a:pPr>
            <a:r>
              <a:t>Enforcing priorities: Higher priority processes should be favored</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19" name="Types of scheduling…"/>
          <p:cNvSpPr txBox="1">
            <a:spLocks noGrp="1"/>
          </p:cNvSpPr>
          <p:nvPr>
            <p:ph type="body" idx="1"/>
          </p:nvPr>
        </p:nvSpPr>
        <p:spPr>
          <a:xfrm>
            <a:off x="1270000" y="2768600"/>
            <a:ext cx="10972800" cy="6578600"/>
          </a:xfrm>
          <a:prstGeom prst="rect">
            <a:avLst/>
          </a:prstGeom>
        </p:spPr>
        <p:txBody>
          <a:bodyPr/>
          <a:lstStyle/>
          <a:p>
            <a:pPr marL="1533071" lvl="2" indent="-326571">
              <a:defRPr sz="2400"/>
            </a:pPr>
            <a:r>
              <a:t>Types of scheduling</a:t>
            </a:r>
          </a:p>
          <a:p>
            <a:pPr marL="1977571" lvl="3" indent="-326571">
              <a:defRPr sz="2400"/>
            </a:pPr>
            <a:r>
              <a:t>Preemptive</a:t>
            </a:r>
          </a:p>
          <a:p>
            <a:pPr marL="2422071" lvl="4" indent="-326571">
              <a:defRPr sz="2400"/>
            </a:pPr>
            <a:r>
              <a:t>Temporarily suspend the logically runnable processes</a:t>
            </a:r>
          </a:p>
          <a:p>
            <a:pPr marL="2422071" lvl="4" indent="-326571">
              <a:defRPr sz="2400"/>
            </a:pPr>
            <a:r>
              <a:t>More expensive in terms of CPU time</a:t>
            </a:r>
          </a:p>
          <a:p>
            <a:pPr marL="2422071" lvl="4" indent="-326571">
              <a:defRPr sz="2400"/>
            </a:pPr>
            <a:r>
              <a:t>Can be caused by:</a:t>
            </a:r>
          </a:p>
          <a:p>
            <a:pPr marL="2777671" lvl="5" indent="-326571">
              <a:spcBef>
                <a:spcPts val="2400"/>
              </a:spcBef>
              <a:defRPr sz="2400"/>
            </a:pPr>
            <a:r>
              <a:t>Interrupt</a:t>
            </a:r>
          </a:p>
          <a:p>
            <a:pPr marL="2777671" lvl="5" indent="-326571">
              <a:spcBef>
                <a:spcPts val="2400"/>
              </a:spcBef>
              <a:defRPr sz="2400"/>
            </a:pPr>
            <a:r>
              <a:t>Trap</a:t>
            </a:r>
          </a:p>
          <a:p>
            <a:pPr marL="2777671" lvl="5" indent="-326571">
              <a:spcBef>
                <a:spcPts val="2400"/>
              </a:spcBef>
              <a:defRPr sz="2400"/>
            </a:pPr>
            <a:r>
              <a:t>Supervisor call</a:t>
            </a:r>
          </a:p>
          <a:p>
            <a:pPr marL="2422071" lvl="4" indent="-326571">
              <a:defRPr sz="2400"/>
            </a:pPr>
            <a:r>
              <a:t>Nonpreemptive</a:t>
            </a:r>
          </a:p>
          <a:p>
            <a:pPr marL="2777671" lvl="5" indent="-326571">
              <a:spcBef>
                <a:spcPts val="2400"/>
              </a:spcBef>
              <a:defRPr sz="2400"/>
            </a:pPr>
            <a:r>
              <a:t>Run the process to completion</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22" name="Universal Scheduler: specified in terms of the following concepts…"/>
          <p:cNvSpPr txBox="1">
            <a:spLocks noGrp="1"/>
          </p:cNvSpPr>
          <p:nvPr>
            <p:ph type="body" idx="1"/>
          </p:nvPr>
        </p:nvSpPr>
        <p:spPr>
          <a:xfrm>
            <a:off x="1270000" y="2768600"/>
            <a:ext cx="10972800" cy="6578600"/>
          </a:xfrm>
          <a:prstGeom prst="rect">
            <a:avLst/>
          </a:prstGeom>
        </p:spPr>
        <p:txBody>
          <a:bodyPr/>
          <a:lstStyle/>
          <a:p>
            <a:pPr marL="1533071" lvl="2" indent="-326571">
              <a:defRPr sz="2400"/>
            </a:pPr>
            <a:r>
              <a:t>Universal Scheduler: specified in terms of the following concepts</a:t>
            </a:r>
          </a:p>
          <a:p>
            <a:pPr marL="1977571" lvl="3" indent="-326571">
              <a:defRPr sz="2400" i="1"/>
            </a:pPr>
            <a:r>
              <a:t>Decision mode</a:t>
            </a:r>
          </a:p>
          <a:p>
            <a:pPr marL="2422071" lvl="4" indent="-326571">
              <a:defRPr sz="2400"/>
            </a:pPr>
            <a:r>
              <a:t>Select the process to be assigned to the CPU</a:t>
            </a:r>
          </a:p>
          <a:p>
            <a:pPr marL="1977571" lvl="3" indent="-326571">
              <a:defRPr sz="2400" i="1"/>
            </a:pPr>
            <a:r>
              <a:t>Priority function</a:t>
            </a:r>
          </a:p>
          <a:p>
            <a:pPr marL="2422071" lvl="4" indent="-326571">
              <a:defRPr sz="2400"/>
            </a:pPr>
            <a:r>
              <a:t>Applied to all processes in the ready queue to determine current priority</a:t>
            </a:r>
          </a:p>
          <a:p>
            <a:pPr marL="1977571" lvl="3" indent="-326571">
              <a:defRPr sz="2400" i="1"/>
            </a:pPr>
            <a:r>
              <a:t>Arbitration rule</a:t>
            </a:r>
          </a:p>
          <a:p>
            <a:pPr marL="2422071" lvl="4" indent="-326571">
              <a:defRPr sz="2400"/>
            </a:pPr>
            <a:r>
              <a:t>Applied to select a process in case two processes are found with the same current priority</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25" name="Decision mode…"/>
          <p:cNvSpPr txBox="1">
            <a:spLocks noGrp="1"/>
          </p:cNvSpPr>
          <p:nvPr>
            <p:ph type="body" idx="1"/>
          </p:nvPr>
        </p:nvSpPr>
        <p:spPr>
          <a:xfrm>
            <a:off x="1270000" y="2768600"/>
            <a:ext cx="10972800" cy="6578600"/>
          </a:xfrm>
          <a:prstGeom prst="rect">
            <a:avLst/>
          </a:prstGeom>
        </p:spPr>
        <p:txBody>
          <a:bodyPr/>
          <a:lstStyle/>
          <a:p>
            <a:pPr marL="1533071" lvl="2" indent="-326571">
              <a:defRPr sz="2400"/>
            </a:pPr>
            <a:r>
              <a:t>Decision mode</a:t>
            </a:r>
          </a:p>
          <a:p>
            <a:pPr marL="1977571" lvl="3" indent="-326571">
              <a:defRPr sz="2400"/>
            </a:pPr>
            <a:r>
              <a:t>When (time) to select a process for execution</a:t>
            </a:r>
          </a:p>
          <a:p>
            <a:pPr marL="1977571" lvl="3" indent="-326571">
              <a:defRPr sz="2400"/>
            </a:pPr>
            <a:r>
              <a:t>Preemptive and nonpreemptive decisions</a:t>
            </a:r>
          </a:p>
          <a:p>
            <a:pPr marL="1977571" lvl="3" indent="-326571">
              <a:defRPr sz="2400"/>
            </a:pPr>
            <a:r>
              <a:t>Selection of a process occurs when:</a:t>
            </a:r>
          </a:p>
          <a:p>
            <a:pPr marL="2422071" lvl="4" indent="-326571">
              <a:defRPr sz="2400"/>
            </a:pPr>
            <a:r>
              <a:t>A new process arrives</a:t>
            </a:r>
          </a:p>
          <a:p>
            <a:pPr marL="2422071" lvl="4" indent="-326571">
              <a:defRPr sz="2400"/>
            </a:pPr>
            <a:r>
              <a:t>An existing process terminates</a:t>
            </a:r>
          </a:p>
          <a:p>
            <a:pPr marL="2422071" lvl="4" indent="-326571">
              <a:defRPr sz="2400"/>
            </a:pPr>
            <a:r>
              <a:t>A waiting process changes state to ready</a:t>
            </a:r>
          </a:p>
          <a:p>
            <a:pPr marL="2422071" lvl="4" indent="-326571">
              <a:defRPr sz="2400"/>
            </a:pPr>
            <a:r>
              <a:t>A running process changes state to waiting (I/O) or ready (INT)</a:t>
            </a:r>
          </a:p>
          <a:p>
            <a:pPr marL="2422071" lvl="4" indent="-326571">
              <a:defRPr sz="2400"/>
            </a:pPr>
            <a:r>
              <a:t>Every </a:t>
            </a:r>
            <a:r>
              <a:rPr i="1"/>
              <a:t>q </a:t>
            </a:r>
            <a:r>
              <a:t>seconds (quantum)</a:t>
            </a:r>
          </a:p>
          <a:p>
            <a:pPr marL="2422071" lvl="4" indent="-326571">
              <a:defRPr sz="2400"/>
            </a:pPr>
            <a:r>
              <a:t>Priority of a ready process exceeds priority of running process</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28" name="Decision mode:…"/>
          <p:cNvSpPr txBox="1">
            <a:spLocks noGrp="1"/>
          </p:cNvSpPr>
          <p:nvPr>
            <p:ph type="body" idx="1"/>
          </p:nvPr>
        </p:nvSpPr>
        <p:spPr>
          <a:xfrm>
            <a:off x="1270000" y="2768600"/>
            <a:ext cx="10972800" cy="6578600"/>
          </a:xfrm>
          <a:prstGeom prst="rect">
            <a:avLst/>
          </a:prstGeom>
        </p:spPr>
        <p:txBody>
          <a:bodyPr/>
          <a:lstStyle/>
          <a:p>
            <a:pPr marL="1533071" lvl="2" indent="-326571">
              <a:defRPr sz="2400"/>
            </a:pPr>
            <a:r>
              <a:t>Decision mode:</a:t>
            </a:r>
          </a:p>
          <a:p>
            <a:pPr marL="1977571" lvl="3" indent="-326571">
              <a:defRPr sz="2400"/>
            </a:pPr>
            <a:r>
              <a:t>Selective preemption</a:t>
            </a:r>
          </a:p>
          <a:p>
            <a:pPr marL="2422071" lvl="4" indent="-326571">
              <a:defRPr sz="2400"/>
            </a:pPr>
            <a:r>
              <a:t>Uses a bit pair (</a:t>
            </a:r>
            <a:r>
              <a:rPr i="1"/>
              <a:t>u</a:t>
            </a:r>
            <a:r>
              <a:rPr sz="2300" i="1" baseline="-5999"/>
              <a:t>p</a:t>
            </a:r>
            <a:r>
              <a:t>,</a:t>
            </a:r>
            <a:r>
              <a:rPr i="1"/>
              <a:t>v</a:t>
            </a:r>
            <a:r>
              <a:rPr i="1" baseline="-5999"/>
              <a:t>p</a:t>
            </a:r>
            <a:r>
              <a:t>)</a:t>
            </a:r>
          </a:p>
          <a:p>
            <a:pPr marL="2777671" lvl="5" indent="-326571">
              <a:spcBef>
                <a:spcPts val="2400"/>
              </a:spcBef>
              <a:defRPr sz="2400"/>
            </a:pPr>
            <a:r>
              <a:rPr i="1"/>
              <a:t>u</a:t>
            </a:r>
            <a:r>
              <a:rPr i="1" baseline="-5999"/>
              <a:t>p</a:t>
            </a:r>
            <a:r>
              <a:t> set if </a:t>
            </a:r>
            <a:r>
              <a:rPr i="1"/>
              <a:t>p</a:t>
            </a:r>
            <a:r>
              <a:t> may preempt another process</a:t>
            </a:r>
          </a:p>
          <a:p>
            <a:pPr marL="2777671" lvl="5" indent="-326571">
              <a:spcBef>
                <a:spcPts val="2400"/>
              </a:spcBef>
              <a:defRPr sz="2400"/>
            </a:pPr>
            <a:r>
              <a:rPr i="1"/>
              <a:t>v</a:t>
            </a:r>
            <a:r>
              <a:rPr i="1" baseline="-5999"/>
              <a:t>p</a:t>
            </a:r>
            <a:r>
              <a:t> set if </a:t>
            </a:r>
            <a:r>
              <a:rPr i="1"/>
              <a:t>p</a:t>
            </a:r>
            <a:r>
              <a:t> may be preempted by another process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31" name="Priority function…"/>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Priority function</a:t>
            </a:r>
          </a:p>
          <a:p>
            <a:pPr marL="1977571" lvl="3" indent="-326571">
              <a:defRPr sz="2400"/>
            </a:pPr>
            <a:r>
              <a:t>Defines priority of a ready process using parameters associated with process</a:t>
            </a:r>
          </a:p>
          <a:p>
            <a:pPr marL="1977571" lvl="3" indent="-326571">
              <a:defRPr sz="2400"/>
            </a:pPr>
            <a:r>
              <a:t>Memory requirements are important due to swapping overhead</a:t>
            </a:r>
          </a:p>
          <a:p>
            <a:pPr marL="2422071" lvl="4" indent="-326571">
              <a:defRPr sz="2400"/>
            </a:pPr>
            <a:r>
              <a:t>Smaller memory means less swapping overhead</a:t>
            </a:r>
          </a:p>
          <a:p>
            <a:pPr marL="2422071" lvl="4" indent="-326571">
              <a:defRPr sz="2400"/>
            </a:pPr>
            <a:r>
              <a:t>Smaller memory also means can service more processes</a:t>
            </a:r>
          </a:p>
          <a:p>
            <a:pPr marL="1977571" lvl="3" indent="-326571">
              <a:defRPr sz="2400"/>
            </a:pPr>
            <a:r>
              <a:t>Attained service time</a:t>
            </a:r>
          </a:p>
          <a:p>
            <a:pPr marL="2422071" lvl="4" indent="-326571">
              <a:defRPr sz="2400"/>
            </a:pPr>
            <a:r>
              <a:t>Total time when the process is in the running state</a:t>
            </a:r>
          </a:p>
          <a:p>
            <a:pPr marL="1977571" lvl="3" indent="-326571">
              <a:defRPr sz="2400"/>
            </a:pPr>
            <a:r>
              <a:t>Real time in system</a:t>
            </a:r>
          </a:p>
          <a:p>
            <a:pPr marL="2422071" lvl="4" indent="-326571">
              <a:defRPr sz="2400"/>
            </a:pPr>
            <a:r>
              <a:t>Total actual time the process spends in the system since arrival</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34" name="Priority function…"/>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Priority function</a:t>
            </a:r>
          </a:p>
          <a:p>
            <a:pPr marL="1977571" lvl="3" indent="-326571">
              <a:defRPr sz="2400"/>
            </a:pPr>
            <a:r>
              <a:t>Total service time</a:t>
            </a:r>
          </a:p>
          <a:p>
            <a:pPr marL="2422071" lvl="4" indent="-326571">
              <a:defRPr sz="2400"/>
            </a:pPr>
            <a:r>
              <a:t>Total CPU time consumed by process during lifetime</a:t>
            </a:r>
          </a:p>
          <a:p>
            <a:pPr marL="2422071" lvl="4" indent="-326571">
              <a:defRPr sz="2400"/>
            </a:pPr>
            <a:r>
              <a:t>Equals attained service time when process terminates</a:t>
            </a:r>
          </a:p>
          <a:p>
            <a:pPr marL="2422071" lvl="4" indent="-326571">
              <a:defRPr sz="2400"/>
            </a:pPr>
            <a:r>
              <a:t>Higher priority for shorter processes</a:t>
            </a:r>
          </a:p>
          <a:p>
            <a:pPr marL="2422071" lvl="4" indent="-326571">
              <a:defRPr sz="2400"/>
            </a:pPr>
            <a:r>
              <a:t>Preferential treatment of shorter processes reduces average time a process spends in system</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37" name="Priority function…"/>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Priority function</a:t>
            </a:r>
          </a:p>
          <a:p>
            <a:pPr marL="1977571" lvl="3" indent="-326571">
              <a:defRPr sz="2400"/>
            </a:pPr>
            <a:r>
              <a:t>External priorities</a:t>
            </a:r>
          </a:p>
          <a:p>
            <a:pPr marL="2422071" lvl="4" indent="-326571">
              <a:defRPr sz="2400"/>
            </a:pPr>
            <a:r>
              <a:t>Differentiate between classes of user and system processes</a:t>
            </a:r>
          </a:p>
          <a:p>
            <a:pPr marL="2777671" lvl="5" indent="-326571">
              <a:spcBef>
                <a:spcPts val="2400"/>
              </a:spcBef>
              <a:defRPr sz="2400"/>
            </a:pPr>
            <a:r>
              <a:t>Interactive processes should have higher priority</a:t>
            </a:r>
          </a:p>
          <a:p>
            <a:pPr marL="2777671" lvl="5" indent="-326571">
              <a:spcBef>
                <a:spcPts val="2400"/>
              </a:spcBef>
              <a:defRPr sz="2400"/>
            </a:pPr>
            <a:r>
              <a:t>Batch processes should have lower priority</a:t>
            </a:r>
          </a:p>
          <a:p>
            <a:pPr marL="2777671" lvl="5" indent="-326571">
              <a:spcBef>
                <a:spcPts val="2400"/>
              </a:spcBef>
              <a:defRPr sz="2400"/>
            </a:pPr>
            <a:r>
              <a:t>Account for resource utilization</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40" name="Priority function…"/>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Priority function</a:t>
            </a:r>
          </a:p>
          <a:p>
            <a:pPr marL="1977571" lvl="3" indent="-326571">
              <a:defRPr sz="2400"/>
            </a:pPr>
            <a:r>
              <a:t>Timeliness</a:t>
            </a:r>
          </a:p>
          <a:p>
            <a:pPr marL="2422071" lvl="4" indent="-326571">
              <a:defRPr sz="2400"/>
            </a:pPr>
            <a:r>
              <a:t>Dependent upon the urgency of a task and deadlines</a:t>
            </a:r>
          </a:p>
          <a:p>
            <a:pPr marL="1977571" lvl="3" indent="-326571">
              <a:defRPr sz="2400"/>
            </a:pPr>
            <a:r>
              <a:t>System load</a:t>
            </a:r>
          </a:p>
          <a:p>
            <a:pPr marL="2422071" lvl="4" indent="-326571">
              <a:defRPr sz="2400"/>
            </a:pPr>
            <a:r>
              <a:t>Maintain good response time during heavy load</a:t>
            </a:r>
          </a:p>
          <a:p>
            <a:pPr marL="2422071" lvl="4" indent="-326571">
              <a:defRPr sz="2400"/>
            </a:pPr>
            <a:r>
              <a:t>Reduce swapping overhead by larger quanta of time</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Process Scheduling"/>
          <p:cNvSpPr txBox="1">
            <a:spLocks noGrp="1"/>
          </p:cNvSpPr>
          <p:nvPr>
            <p:ph type="title"/>
          </p:nvPr>
        </p:nvSpPr>
        <p:spPr>
          <a:prstGeom prst="rect">
            <a:avLst/>
          </a:prstGeom>
        </p:spPr>
        <p:txBody>
          <a:bodyPr/>
          <a:lstStyle>
            <a:lvl1pPr>
              <a:defRPr sz="6400"/>
            </a:lvl1pPr>
          </a:lstStyle>
          <a:p>
            <a:r>
              <a:t>Process Scheduling</a:t>
            </a:r>
          </a:p>
        </p:txBody>
      </p:sp>
      <p:sp>
        <p:nvSpPr>
          <p:cNvPr id="343" name="Arbitration rule…"/>
          <p:cNvSpPr txBox="1">
            <a:spLocks noGrp="1"/>
          </p:cNvSpPr>
          <p:nvPr>
            <p:ph type="body" idx="1"/>
          </p:nvPr>
        </p:nvSpPr>
        <p:spPr>
          <a:xfrm>
            <a:off x="1270000" y="2768600"/>
            <a:ext cx="10972800" cy="6578600"/>
          </a:xfrm>
          <a:prstGeom prst="rect">
            <a:avLst/>
          </a:prstGeom>
        </p:spPr>
        <p:txBody>
          <a:bodyPr/>
          <a:lstStyle/>
          <a:p>
            <a:pPr marL="1533071" lvl="2" indent="-326571">
              <a:defRPr sz="2400"/>
            </a:pPr>
            <a:r>
              <a:t>Arbitration rule</a:t>
            </a:r>
          </a:p>
          <a:p>
            <a:pPr marL="1977571" lvl="3" indent="-326571">
              <a:defRPr sz="2400"/>
            </a:pPr>
            <a:r>
              <a:t>Random choice</a:t>
            </a:r>
          </a:p>
          <a:p>
            <a:pPr marL="1977571" lvl="3" indent="-326571">
              <a:defRPr sz="2400"/>
            </a:pPr>
            <a:r>
              <a:t>Round robin (cyclic ordering)</a:t>
            </a:r>
          </a:p>
          <a:p>
            <a:pPr marL="1977571" lvl="3" indent="-326571">
              <a:defRPr sz="2400"/>
            </a:pPr>
            <a:r>
              <a:t>Chronological ordering (FIFO)</a:t>
            </a:r>
          </a:p>
          <a:p>
            <a:pPr marL="1533071" lvl="2" indent="-326571">
              <a:defRPr sz="2400"/>
            </a:pPr>
            <a:r>
              <a:t>Time-Based Scheduling Algorithms</a:t>
            </a:r>
          </a:p>
          <a:p>
            <a:pPr marL="1977571" lvl="3" indent="-326571">
              <a:defRPr sz="2400"/>
            </a:pPr>
            <a:r>
              <a:t>May be independent of required service time</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riority Queuing"/>
          <p:cNvSpPr txBox="1">
            <a:spLocks noGrp="1"/>
          </p:cNvSpPr>
          <p:nvPr>
            <p:ph type="title"/>
          </p:nvPr>
        </p:nvSpPr>
        <p:spPr>
          <a:prstGeom prst="rect">
            <a:avLst/>
          </a:prstGeom>
        </p:spPr>
        <p:txBody>
          <a:bodyPr/>
          <a:lstStyle>
            <a:lvl1pPr>
              <a:defRPr sz="6400"/>
            </a:lvl1pPr>
          </a:lstStyle>
          <a:p>
            <a:r>
              <a:t>Priority Queuing</a:t>
            </a:r>
          </a:p>
        </p:txBody>
      </p:sp>
      <p:pic>
        <p:nvPicPr>
          <p:cNvPr id="346" name="image12.gif" descr="image12.gif"/>
          <p:cNvPicPr>
            <a:picLocks noChangeAspect="1"/>
          </p:cNvPicPr>
          <p:nvPr/>
        </p:nvPicPr>
        <p:blipFill>
          <a:blip r:embed="rId2"/>
          <a:stretch>
            <a:fillRect/>
          </a:stretch>
        </p:blipFill>
        <p:spPr>
          <a:xfrm>
            <a:off x="2692400" y="2540000"/>
            <a:ext cx="6399110" cy="5434607"/>
          </a:xfrm>
          <a:prstGeom prst="rect">
            <a:avLst/>
          </a:prstGeom>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First-Come-First-Served"/>
          <p:cNvSpPr txBox="1">
            <a:spLocks noGrp="1"/>
          </p:cNvSpPr>
          <p:nvPr>
            <p:ph type="title"/>
          </p:nvPr>
        </p:nvSpPr>
        <p:spPr>
          <a:prstGeom prst="rect">
            <a:avLst/>
          </a:prstGeom>
        </p:spPr>
        <p:txBody>
          <a:bodyPr/>
          <a:lstStyle>
            <a:lvl1pPr>
              <a:defRPr sz="6400"/>
            </a:lvl1pPr>
          </a:lstStyle>
          <a:p>
            <a:r>
              <a:rPr dirty="0"/>
              <a:t>First-Come-First-Served</a:t>
            </a:r>
          </a:p>
        </p:txBody>
      </p:sp>
      <p:sp>
        <p:nvSpPr>
          <p:cNvPr id="349" name="Also called FIFO or strict queueing…"/>
          <p:cNvSpPr txBox="1">
            <a:spLocks noGrp="1"/>
          </p:cNvSpPr>
          <p:nvPr>
            <p:ph type="body" idx="1"/>
          </p:nvPr>
        </p:nvSpPr>
        <p:spPr>
          <a:xfrm>
            <a:off x="1270000" y="2768600"/>
            <a:ext cx="10972800" cy="6578600"/>
          </a:xfrm>
          <a:prstGeom prst="rect">
            <a:avLst/>
          </a:prstGeom>
        </p:spPr>
        <p:txBody>
          <a:bodyPr/>
          <a:lstStyle/>
          <a:p>
            <a:pPr marL="1533071" lvl="2" indent="-326571">
              <a:defRPr sz="2400"/>
            </a:pPr>
            <a:r>
              <a:t>Also called FIFO or strict queueing</a:t>
            </a:r>
          </a:p>
          <a:p>
            <a:pPr marL="1533071" lvl="2" indent="-326571">
              <a:defRPr sz="2400"/>
            </a:pPr>
            <a:r>
              <a:t>Nonpreemptive decision mode</a:t>
            </a:r>
          </a:p>
          <a:p>
            <a:pPr marL="1533071" lvl="2" indent="-326571">
              <a:defRPr sz="2400"/>
            </a:pPr>
            <a:r>
              <a:t>Upon process creation, link its PCB to rear of FIFO queue</a:t>
            </a:r>
          </a:p>
          <a:p>
            <a:pPr marL="1533071" lvl="2" indent="-326571">
              <a:defRPr sz="2400"/>
            </a:pPr>
            <a:r>
              <a:t>Scheduler allocates CPU to the process at the front of FIFO queue</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FIFO scheduling"/>
          <p:cNvSpPr txBox="1">
            <a:spLocks noGrp="1"/>
          </p:cNvSpPr>
          <p:nvPr>
            <p:ph type="title"/>
          </p:nvPr>
        </p:nvSpPr>
        <p:spPr>
          <a:prstGeom prst="rect">
            <a:avLst/>
          </a:prstGeom>
        </p:spPr>
        <p:txBody>
          <a:bodyPr/>
          <a:lstStyle>
            <a:lvl1pPr>
              <a:defRPr sz="6400"/>
            </a:lvl1pPr>
          </a:lstStyle>
          <a:p>
            <a:r>
              <a:t>FIFO scheduling</a:t>
            </a:r>
          </a:p>
        </p:txBody>
      </p:sp>
      <p:pic>
        <p:nvPicPr>
          <p:cNvPr id="352" name="image15.gif" descr="image15.gif"/>
          <p:cNvPicPr>
            <a:picLocks noChangeAspect="1"/>
          </p:cNvPicPr>
          <p:nvPr/>
        </p:nvPicPr>
        <p:blipFill>
          <a:blip r:embed="rId2"/>
          <a:stretch>
            <a:fillRect/>
          </a:stretch>
        </p:blipFill>
        <p:spPr>
          <a:xfrm>
            <a:off x="304798" y="3886200"/>
            <a:ext cx="11595102" cy="2684581"/>
          </a:xfrm>
          <a:prstGeom prst="rect">
            <a:avLst/>
          </a:prstGeom>
          <a:ln w="12700"/>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FIFO scheduling"/>
          <p:cNvSpPr txBox="1">
            <a:spLocks noGrp="1"/>
          </p:cNvSpPr>
          <p:nvPr>
            <p:ph type="title"/>
          </p:nvPr>
        </p:nvSpPr>
        <p:spPr>
          <a:prstGeom prst="rect">
            <a:avLst/>
          </a:prstGeom>
        </p:spPr>
        <p:txBody>
          <a:bodyPr/>
          <a:lstStyle>
            <a:lvl1pPr>
              <a:defRPr sz="6400"/>
            </a:lvl1pPr>
          </a:lstStyle>
          <a:p>
            <a:r>
              <a:t>FIFO scheduling</a:t>
            </a:r>
          </a:p>
        </p:txBody>
      </p:sp>
      <p:pic>
        <p:nvPicPr>
          <p:cNvPr id="355" name="image15.gif" descr="image15.gif"/>
          <p:cNvPicPr>
            <a:picLocks noChangeAspect="1"/>
          </p:cNvPicPr>
          <p:nvPr/>
        </p:nvPicPr>
        <p:blipFill>
          <a:blip r:embed="rId2"/>
          <a:stretch>
            <a:fillRect/>
          </a:stretch>
        </p:blipFill>
        <p:spPr>
          <a:xfrm>
            <a:off x="304798" y="3886200"/>
            <a:ext cx="11595102" cy="2684581"/>
          </a:xfrm>
          <a:prstGeom prst="rect">
            <a:avLst/>
          </a:prstGeom>
          <a:ln w="12700"/>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FIFO Scheduling"/>
          <p:cNvSpPr txBox="1">
            <a:spLocks noGrp="1"/>
          </p:cNvSpPr>
          <p:nvPr>
            <p:ph type="title"/>
          </p:nvPr>
        </p:nvSpPr>
        <p:spPr>
          <a:prstGeom prst="rect">
            <a:avLst/>
          </a:prstGeom>
        </p:spPr>
        <p:txBody>
          <a:bodyPr/>
          <a:lstStyle>
            <a:lvl1pPr>
              <a:defRPr sz="6400"/>
            </a:lvl1pPr>
          </a:lstStyle>
          <a:p>
            <a:r>
              <a:t>FIFO Scheduling</a:t>
            </a:r>
          </a:p>
        </p:txBody>
      </p:sp>
      <p:sp>
        <p:nvSpPr>
          <p:cNvPr id="358" name="Tends to fair CPU-bound processes compared to I/O bound processes…"/>
          <p:cNvSpPr txBox="1">
            <a:spLocks noGrp="1"/>
          </p:cNvSpPr>
          <p:nvPr>
            <p:ph type="body" idx="1"/>
          </p:nvPr>
        </p:nvSpPr>
        <p:spPr>
          <a:xfrm>
            <a:off x="1270000" y="2768600"/>
            <a:ext cx="10972800" cy="6578600"/>
          </a:xfrm>
          <a:prstGeom prst="rect">
            <a:avLst/>
          </a:prstGeom>
        </p:spPr>
        <p:txBody>
          <a:bodyPr/>
          <a:lstStyle/>
          <a:p>
            <a:pPr marL="1533071" lvl="2" indent="-326571">
              <a:defRPr sz="2400"/>
            </a:pPr>
            <a:r>
              <a:t>Tends to fair CPU-bound processes compared to I/O bound processes</a:t>
            </a:r>
          </a:p>
          <a:p>
            <a:pPr marL="1977571" lvl="3" indent="-326571">
              <a:defRPr sz="2400"/>
            </a:pPr>
            <a:r>
              <a:t>Due to non-preemptive nature</a:t>
            </a:r>
          </a:p>
          <a:p>
            <a:pPr marL="1977571" lvl="3" indent="-326571">
              <a:defRPr sz="2400"/>
            </a:pPr>
            <a:r>
              <a:t>If CPU bound process is in wait state when I/O bound process initiates I/O, CPU goes idle</a:t>
            </a:r>
          </a:p>
          <a:p>
            <a:pPr marL="2422071" lvl="4" indent="-326571">
              <a:defRPr sz="2400"/>
            </a:pPr>
            <a:r>
              <a:t>Inefficient use of both CPU and I/O devices</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Shortest Job Next Scheduling"/>
          <p:cNvSpPr txBox="1">
            <a:spLocks noGrp="1"/>
          </p:cNvSpPr>
          <p:nvPr>
            <p:ph type="title"/>
          </p:nvPr>
        </p:nvSpPr>
        <p:spPr>
          <a:prstGeom prst="rect">
            <a:avLst/>
          </a:prstGeom>
        </p:spPr>
        <p:txBody>
          <a:bodyPr/>
          <a:lstStyle>
            <a:lvl1pPr>
              <a:defRPr sz="6400"/>
            </a:lvl1pPr>
          </a:lstStyle>
          <a:p>
            <a:r>
              <a:t>Shortest Job Next Scheduling</a:t>
            </a:r>
          </a:p>
        </p:txBody>
      </p:sp>
      <p:sp>
        <p:nvSpPr>
          <p:cNvPr id="361" name="Associate length of next CPU burst with each process…"/>
          <p:cNvSpPr txBox="1">
            <a:spLocks noGrp="1"/>
          </p:cNvSpPr>
          <p:nvPr>
            <p:ph type="body" idx="1"/>
          </p:nvPr>
        </p:nvSpPr>
        <p:spPr>
          <a:xfrm>
            <a:off x="1270000" y="2768600"/>
            <a:ext cx="10972800" cy="6578600"/>
          </a:xfrm>
          <a:prstGeom prst="rect">
            <a:avLst/>
          </a:prstGeom>
        </p:spPr>
        <p:txBody>
          <a:bodyPr/>
          <a:lstStyle/>
          <a:p>
            <a:pPr marL="1533071" lvl="2" indent="-326571">
              <a:defRPr sz="2400"/>
            </a:pPr>
            <a:r>
              <a:t>Associate length of next CPU burst with each process</a:t>
            </a:r>
          </a:p>
          <a:p>
            <a:pPr marL="1533071" lvl="2" indent="-326571">
              <a:defRPr sz="2400"/>
            </a:pPr>
            <a:r>
              <a:t>Assign process with shortest CPU burst requirement to the CPU</a:t>
            </a:r>
          </a:p>
          <a:p>
            <a:pPr marL="1533071" lvl="2" indent="-326571">
              <a:defRPr sz="2400"/>
            </a:pPr>
            <a:r>
              <a:t>Nonpreemptive scheduling</a:t>
            </a:r>
          </a:p>
          <a:p>
            <a:pPr marL="1533071" lvl="2" indent="-326571">
              <a:defRPr sz="2400"/>
            </a:pPr>
            <a:r>
              <a:t>Specially suitable for batch processing or longterm scheduling</a:t>
            </a:r>
          </a:p>
          <a:p>
            <a:pPr marL="1533071" lvl="2" indent="-326571">
              <a:defRPr sz="2400"/>
            </a:pPr>
            <a:r>
              <a:t>Ties broken by FIFI scheduling</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Shortest Job Next Scheduling"/>
          <p:cNvSpPr txBox="1">
            <a:spLocks noGrp="1"/>
          </p:cNvSpPr>
          <p:nvPr>
            <p:ph type="title"/>
          </p:nvPr>
        </p:nvSpPr>
        <p:spPr>
          <a:prstGeom prst="rect">
            <a:avLst/>
          </a:prstGeom>
        </p:spPr>
        <p:txBody>
          <a:bodyPr/>
          <a:lstStyle>
            <a:lvl1pPr>
              <a:defRPr sz="6400"/>
            </a:lvl1pPr>
          </a:lstStyle>
          <a:p>
            <a:r>
              <a:t>Shortest Job Next Scheduling</a:t>
            </a:r>
          </a:p>
        </p:txBody>
      </p:sp>
      <p:pic>
        <p:nvPicPr>
          <p:cNvPr id="364" name="image20.gif" descr="image20.gif"/>
          <p:cNvPicPr>
            <a:picLocks noChangeAspect="1"/>
          </p:cNvPicPr>
          <p:nvPr/>
        </p:nvPicPr>
        <p:blipFill>
          <a:blip r:embed="rId2"/>
          <a:stretch>
            <a:fillRect/>
          </a:stretch>
        </p:blipFill>
        <p:spPr>
          <a:xfrm>
            <a:off x="464206" y="4606433"/>
            <a:ext cx="12057775" cy="2019301"/>
          </a:xfrm>
          <a:prstGeom prst="rect">
            <a:avLst/>
          </a:prstGeom>
          <a:ln w="12700"/>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Shortest Job Next Scheduling"/>
          <p:cNvSpPr txBox="1">
            <a:spLocks noGrp="1"/>
          </p:cNvSpPr>
          <p:nvPr>
            <p:ph type="title"/>
          </p:nvPr>
        </p:nvSpPr>
        <p:spPr>
          <a:prstGeom prst="rect">
            <a:avLst/>
          </a:prstGeom>
        </p:spPr>
        <p:txBody>
          <a:bodyPr/>
          <a:lstStyle>
            <a:lvl1pPr>
              <a:defRPr sz="6400"/>
            </a:lvl1pPr>
          </a:lstStyle>
          <a:p>
            <a:r>
              <a:t>Shortest Job Next Scheduling</a:t>
            </a:r>
          </a:p>
        </p:txBody>
      </p:sp>
      <p:sp>
        <p:nvSpPr>
          <p:cNvPr id="367" name="Priority function P(t) = 1/t…"/>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Priority function P(t) = 1/t</a:t>
            </a:r>
          </a:p>
          <a:p>
            <a:pPr marL="1533071" lvl="2" indent="-326571">
              <a:defRPr sz="2400"/>
            </a:pPr>
            <a:r>
              <a:t>Provably optimal scheduling</a:t>
            </a:r>
          </a:p>
          <a:p>
            <a:pPr marL="1977571" lvl="3" indent="-326571">
              <a:defRPr sz="2400"/>
            </a:pPr>
            <a:r>
              <a:t>Least average waiting time</a:t>
            </a:r>
          </a:p>
          <a:p>
            <a:pPr marL="2422071" lvl="4" indent="-326571">
              <a:defRPr sz="2400"/>
            </a:pPr>
            <a:r>
              <a:t>Moving a short job before a long one decreases the waiting time for short job more than it increases waiting time for longer proc</a:t>
            </a:r>
          </a:p>
          <a:p>
            <a:pPr marL="1977571" lvl="3" indent="-326571">
              <a:defRPr sz="2400"/>
            </a:pPr>
            <a:r>
              <a:t>Difficult in practice to determine length of CPU burst</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Shortest Remaining Time First"/>
          <p:cNvSpPr txBox="1">
            <a:spLocks noGrp="1"/>
          </p:cNvSpPr>
          <p:nvPr>
            <p:ph type="title"/>
          </p:nvPr>
        </p:nvSpPr>
        <p:spPr>
          <a:prstGeom prst="rect">
            <a:avLst/>
          </a:prstGeom>
        </p:spPr>
        <p:txBody>
          <a:bodyPr/>
          <a:lstStyle>
            <a:lvl1pPr>
              <a:defRPr sz="6400"/>
            </a:lvl1pPr>
          </a:lstStyle>
          <a:p>
            <a:r>
              <a:t>Shortest Remaining Time First</a:t>
            </a:r>
          </a:p>
        </p:txBody>
      </p:sp>
      <p:sp>
        <p:nvSpPr>
          <p:cNvPr id="370" name="Preemptive version of shortest job next scheduling…"/>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Preemptive version of shortest job next scheduling</a:t>
            </a:r>
          </a:p>
          <a:p>
            <a:pPr marL="1533071" lvl="2" indent="-326571">
              <a:defRPr sz="2400"/>
            </a:pPr>
            <a:r>
              <a:t>Preemptive in nature (only at arrival time)</a:t>
            </a:r>
          </a:p>
          <a:p>
            <a:pPr marL="1533071" lvl="2" indent="-326571">
              <a:defRPr sz="2400"/>
            </a:pPr>
            <a:r>
              <a:t>Highest priority to process that needs least time to complete</a:t>
            </a:r>
          </a:p>
          <a:p>
            <a:pPr marL="1533071" lvl="2" indent="-326571">
              <a:defRPr sz="2400"/>
            </a:pPr>
            <a:r>
              <a:t>Priority function P(</a:t>
            </a:r>
            <a:r>
              <a:rPr i="1"/>
              <a:t>t</a:t>
            </a:r>
            <a:r>
              <a:t>) = </a:t>
            </a:r>
            <a:r>
              <a:rPr i="1"/>
              <a:t>a</a:t>
            </a:r>
            <a:r>
              <a:t> - </a:t>
            </a:r>
            <a:r>
              <a:rPr i="1"/>
              <a:t>t</a:t>
            </a:r>
            <a:r>
              <a:t>, where a is arrival time</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Shortest Job Next Scheduling"/>
          <p:cNvSpPr txBox="1">
            <a:spLocks noGrp="1"/>
          </p:cNvSpPr>
          <p:nvPr>
            <p:ph type="title"/>
          </p:nvPr>
        </p:nvSpPr>
        <p:spPr>
          <a:prstGeom prst="rect">
            <a:avLst/>
          </a:prstGeom>
        </p:spPr>
        <p:txBody>
          <a:bodyPr/>
          <a:lstStyle>
            <a:lvl1pPr>
              <a:defRPr sz="6400"/>
            </a:lvl1pPr>
          </a:lstStyle>
          <a:p>
            <a:r>
              <a:t>Shortest Job Next Scheduling</a:t>
            </a:r>
          </a:p>
        </p:txBody>
      </p:sp>
      <p:pic>
        <p:nvPicPr>
          <p:cNvPr id="373" name="droppedImage.tiff" descr="droppedImage.tiff"/>
          <p:cNvPicPr>
            <a:picLocks noChangeAspect="1"/>
          </p:cNvPicPr>
          <p:nvPr/>
        </p:nvPicPr>
        <p:blipFill>
          <a:blip r:embed="rId2"/>
          <a:stretch>
            <a:fillRect/>
          </a:stretch>
        </p:blipFill>
        <p:spPr>
          <a:xfrm>
            <a:off x="444500" y="3175000"/>
            <a:ext cx="11792341" cy="4902200"/>
          </a:xfrm>
          <a:prstGeom prst="rect">
            <a:avLst/>
          </a:prstGeom>
          <a:ln w="12700">
            <a:miter lim="400000"/>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Round-Robin Scheduling"/>
          <p:cNvSpPr txBox="1">
            <a:spLocks noGrp="1"/>
          </p:cNvSpPr>
          <p:nvPr>
            <p:ph type="title"/>
          </p:nvPr>
        </p:nvSpPr>
        <p:spPr>
          <a:prstGeom prst="rect">
            <a:avLst/>
          </a:prstGeom>
        </p:spPr>
        <p:txBody>
          <a:bodyPr/>
          <a:lstStyle>
            <a:lvl1pPr>
              <a:defRPr sz="6400"/>
            </a:lvl1pPr>
          </a:lstStyle>
          <a:p>
            <a:r>
              <a:t>Round-Robin Scheduling</a:t>
            </a:r>
          </a:p>
        </p:txBody>
      </p:sp>
      <p:sp>
        <p:nvSpPr>
          <p:cNvPr id="376" name="Preemptive in nature, based on fixed time quanta q…"/>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Preemptive in nature, based on fixed time quanta q</a:t>
            </a:r>
          </a:p>
          <a:p>
            <a:pPr marL="1977571" lvl="3" indent="-326571">
              <a:defRPr sz="2400"/>
            </a:pPr>
            <a:r>
              <a:t>Reduces penalty that short jobs suffer with FIFO</a:t>
            </a:r>
          </a:p>
          <a:p>
            <a:pPr marL="1533071" lvl="2" indent="-326571">
              <a:defRPr sz="2400"/>
            </a:pPr>
            <a:r>
              <a:t>Generate clock interrupts at periodic intervals</a:t>
            </a:r>
          </a:p>
          <a:p>
            <a:pPr marL="1977571" lvl="3" indent="-326571">
              <a:defRPr sz="2400"/>
            </a:pPr>
            <a:r>
              <a:t>Time quantum between 10 and 100 milliseconds</a:t>
            </a:r>
          </a:p>
          <a:p>
            <a:pPr marL="1977571" lvl="3" indent="-326571">
              <a:defRPr sz="2400"/>
            </a:pPr>
            <a:r>
              <a:t>Each process gets a slice of time before preemption</a:t>
            </a:r>
          </a:p>
          <a:p>
            <a:pPr marL="1533071" lvl="2" indent="-326571">
              <a:defRPr sz="2400"/>
            </a:pPr>
            <a:r>
              <a:t>All user processes treated to be at same priority</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Round-Robin Scheduling"/>
          <p:cNvSpPr txBox="1">
            <a:spLocks noGrp="1"/>
          </p:cNvSpPr>
          <p:nvPr>
            <p:ph type="title"/>
          </p:nvPr>
        </p:nvSpPr>
        <p:spPr>
          <a:prstGeom prst="rect">
            <a:avLst/>
          </a:prstGeom>
        </p:spPr>
        <p:txBody>
          <a:bodyPr/>
          <a:lstStyle>
            <a:lvl1pPr>
              <a:defRPr sz="6400"/>
            </a:lvl1pPr>
          </a:lstStyle>
          <a:p>
            <a:r>
              <a:t>Round-Robin Scheduling</a:t>
            </a:r>
          </a:p>
        </p:txBody>
      </p:sp>
      <p:sp>
        <p:nvSpPr>
          <p:cNvPr id="379" name="Ready queue treated as circular…"/>
          <p:cNvSpPr txBox="1">
            <a:spLocks noGrp="1"/>
          </p:cNvSpPr>
          <p:nvPr>
            <p:ph type="body" idx="1"/>
          </p:nvPr>
        </p:nvSpPr>
        <p:spPr>
          <a:xfrm>
            <a:off x="1270000" y="2768600"/>
            <a:ext cx="11137900" cy="6578600"/>
          </a:xfrm>
          <a:prstGeom prst="rect">
            <a:avLst/>
          </a:prstGeom>
        </p:spPr>
        <p:txBody>
          <a:bodyPr/>
          <a:lstStyle/>
          <a:p>
            <a:pPr marL="1533071" lvl="2" indent="-326571">
              <a:defRPr sz="2400"/>
            </a:pPr>
            <a:r>
              <a:t>Ready queue treated as circular</a:t>
            </a:r>
          </a:p>
          <a:p>
            <a:pPr marL="1977571" lvl="3" indent="-326571">
              <a:defRPr sz="2400"/>
            </a:pPr>
            <a:r>
              <a:t>New processes added to the rear of ready queue</a:t>
            </a:r>
          </a:p>
          <a:p>
            <a:pPr marL="1977571" lvl="3" indent="-326571">
              <a:defRPr sz="2400"/>
            </a:pPr>
            <a:r>
              <a:t>Preempted processes added to the rear of the ready queue</a:t>
            </a:r>
          </a:p>
          <a:p>
            <a:pPr marL="1977571" lvl="3" indent="-326571">
              <a:defRPr sz="2400"/>
            </a:pPr>
            <a:r>
              <a:t>Scheduler pricks up a process form head of queue and dispatches it with a timer interrupt set after the time quantum</a:t>
            </a:r>
          </a:p>
          <a:p>
            <a:pPr marL="1533071" lvl="2" indent="-326571">
              <a:defRPr sz="2400"/>
            </a:pPr>
            <a:r>
              <a:t>CPU burst &lt; </a:t>
            </a:r>
            <a:r>
              <a:rPr i="1"/>
              <a:t>q</a:t>
            </a:r>
            <a:r>
              <a:t> means process releases CPU voluntarily</a:t>
            </a:r>
          </a:p>
          <a:p>
            <a:pPr marL="1533071" lvl="2" indent="-326571">
              <a:defRPr sz="2400"/>
            </a:pPr>
            <a:r>
              <a:t>Timer interrupt results in context switch and process put at rear of queue</a:t>
            </a:r>
          </a:p>
          <a:p>
            <a:pPr marL="1533071" lvl="2" indent="-326571">
              <a:defRPr sz="2400"/>
            </a:pPr>
            <a:r>
              <a:t>No process is allocated CPU time for more than 1 quantum in a row</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Round-Robin Scheduling"/>
          <p:cNvSpPr txBox="1">
            <a:spLocks noGrp="1"/>
          </p:cNvSpPr>
          <p:nvPr>
            <p:ph type="title"/>
          </p:nvPr>
        </p:nvSpPr>
        <p:spPr>
          <a:prstGeom prst="rect">
            <a:avLst/>
          </a:prstGeom>
        </p:spPr>
        <p:txBody>
          <a:bodyPr/>
          <a:lstStyle>
            <a:lvl1pPr>
              <a:defRPr sz="6400"/>
            </a:lvl1pPr>
          </a:lstStyle>
          <a:p>
            <a:r>
              <a:t>Round-Robin Scheduling</a:t>
            </a:r>
          </a:p>
        </p:txBody>
      </p:sp>
      <p:pic>
        <p:nvPicPr>
          <p:cNvPr id="382" name="image16.gif" descr="image16.gif"/>
          <p:cNvPicPr>
            <a:picLocks noChangeAspect="1"/>
          </p:cNvPicPr>
          <p:nvPr/>
        </p:nvPicPr>
        <p:blipFill>
          <a:blip r:embed="rId2"/>
          <a:stretch>
            <a:fillRect/>
          </a:stretch>
        </p:blipFill>
        <p:spPr>
          <a:xfrm>
            <a:off x="1143000" y="4279710"/>
            <a:ext cx="10704113" cy="1790701"/>
          </a:xfrm>
          <a:prstGeom prst="rect">
            <a:avLst/>
          </a:prstGeom>
          <a:ln w="12700"/>
        </p:spPr>
      </p:pic>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Round-Robin Scheduling"/>
          <p:cNvSpPr txBox="1">
            <a:spLocks noGrp="1"/>
          </p:cNvSpPr>
          <p:nvPr>
            <p:ph type="title"/>
          </p:nvPr>
        </p:nvSpPr>
        <p:spPr>
          <a:prstGeom prst="rect">
            <a:avLst/>
          </a:prstGeom>
        </p:spPr>
        <p:txBody>
          <a:bodyPr/>
          <a:lstStyle>
            <a:lvl1pPr>
              <a:defRPr sz="6400"/>
            </a:lvl1pPr>
          </a:lstStyle>
          <a:p>
            <a:r>
              <a:t>Round-Robin Scheduling</a:t>
            </a:r>
          </a:p>
        </p:txBody>
      </p:sp>
      <p:pic>
        <p:nvPicPr>
          <p:cNvPr id="385" name="image17.gif" descr="image17.gif"/>
          <p:cNvPicPr>
            <a:picLocks noChangeAspect="1"/>
          </p:cNvPicPr>
          <p:nvPr/>
        </p:nvPicPr>
        <p:blipFill>
          <a:blip r:embed="rId2"/>
          <a:stretch>
            <a:fillRect/>
          </a:stretch>
        </p:blipFill>
        <p:spPr>
          <a:xfrm>
            <a:off x="4216400" y="3187700"/>
            <a:ext cx="6064126" cy="4485962"/>
          </a:xfrm>
          <a:prstGeom prst="rect">
            <a:avLst/>
          </a:prstGeom>
        </p:spPr>
      </p:pic>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Round-Robin Scheduling"/>
          <p:cNvSpPr txBox="1">
            <a:spLocks noGrp="1"/>
          </p:cNvSpPr>
          <p:nvPr>
            <p:ph type="title"/>
          </p:nvPr>
        </p:nvSpPr>
        <p:spPr>
          <a:prstGeom prst="rect">
            <a:avLst/>
          </a:prstGeom>
        </p:spPr>
        <p:txBody>
          <a:bodyPr/>
          <a:lstStyle>
            <a:lvl1pPr>
              <a:defRPr sz="6400"/>
            </a:lvl1pPr>
          </a:lstStyle>
          <a:p>
            <a:r>
              <a:t>Round-Robin Scheduling</a:t>
            </a:r>
          </a:p>
        </p:txBody>
      </p:sp>
      <p:pic>
        <p:nvPicPr>
          <p:cNvPr id="388" name="image18.gif" descr="image18.gif"/>
          <p:cNvPicPr>
            <a:picLocks noChangeAspect="1"/>
          </p:cNvPicPr>
          <p:nvPr/>
        </p:nvPicPr>
        <p:blipFill>
          <a:blip r:embed="rId2"/>
          <a:stretch>
            <a:fillRect/>
          </a:stretch>
        </p:blipFill>
        <p:spPr>
          <a:xfrm>
            <a:off x="1917700" y="3314700"/>
            <a:ext cx="8289143" cy="4978116"/>
          </a:xfrm>
          <a:prstGeom prst="rect">
            <a:avLst/>
          </a:prstGeom>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Round-Robin Scheduling"/>
          <p:cNvSpPr txBox="1">
            <a:spLocks noGrp="1"/>
          </p:cNvSpPr>
          <p:nvPr>
            <p:ph type="title"/>
          </p:nvPr>
        </p:nvSpPr>
        <p:spPr>
          <a:prstGeom prst="rect">
            <a:avLst/>
          </a:prstGeom>
        </p:spPr>
        <p:txBody>
          <a:bodyPr/>
          <a:lstStyle>
            <a:lvl1pPr>
              <a:defRPr sz="6400"/>
            </a:lvl1pPr>
          </a:lstStyle>
          <a:p>
            <a:r>
              <a:t>Round-Robin Scheduling</a:t>
            </a:r>
          </a:p>
        </p:txBody>
      </p:sp>
      <p:sp>
        <p:nvSpPr>
          <p:cNvPr id="391" name="One drawback is generally I/O bound processes have shorter process burst…"/>
          <p:cNvSpPr txBox="1">
            <a:spLocks noGrp="1"/>
          </p:cNvSpPr>
          <p:nvPr>
            <p:ph type="body" idx="1"/>
          </p:nvPr>
        </p:nvSpPr>
        <p:spPr>
          <a:xfrm>
            <a:off x="1270000" y="2768600"/>
            <a:ext cx="10972800" cy="6578600"/>
          </a:xfrm>
          <a:prstGeom prst="rect">
            <a:avLst/>
          </a:prstGeom>
        </p:spPr>
        <p:txBody>
          <a:bodyPr/>
          <a:lstStyle/>
          <a:p>
            <a:pPr marL="1533071" lvl="2" indent="-326571">
              <a:defRPr sz="2400"/>
            </a:pPr>
            <a:r>
              <a:t>One drawback is generally I/O bound processes have shorter process burst</a:t>
            </a:r>
          </a:p>
          <a:p>
            <a:pPr marL="1977571" lvl="3" indent="-326571">
              <a:defRPr sz="2400"/>
            </a:pPr>
            <a:r>
              <a:t>Than a CPU bound process</a:t>
            </a:r>
          </a:p>
          <a:p>
            <a:pPr marL="1977571" lvl="3" indent="-326571">
              <a:defRPr sz="2400"/>
            </a:pPr>
            <a:r>
              <a:t>Why?</a:t>
            </a:r>
          </a:p>
          <a:p>
            <a:pPr marL="1533071" lvl="2" indent="-326571">
              <a:defRPr sz="2400"/>
            </a:pPr>
            <a:r>
              <a:t>So processor-bound processes tend to receive unfair amount of processor time</a:t>
            </a:r>
          </a:p>
          <a:p>
            <a:pPr marL="1533071" lvl="2" indent="-326571">
              <a:defRPr sz="2400"/>
            </a:pPr>
            <a:r>
              <a:t>Can add an auxiliary queue of processes that were blocked on I/O</a:t>
            </a:r>
          </a:p>
          <a:p>
            <a:pPr marL="1977571" lvl="3" indent="-326571">
              <a:defRPr sz="2400"/>
            </a:pPr>
            <a:r>
              <a:t>Take from that in preference to normal queue</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Round-Robin Scheduling"/>
          <p:cNvSpPr txBox="1">
            <a:spLocks noGrp="1"/>
          </p:cNvSpPr>
          <p:nvPr>
            <p:ph type="title"/>
          </p:nvPr>
        </p:nvSpPr>
        <p:spPr>
          <a:prstGeom prst="rect">
            <a:avLst/>
          </a:prstGeom>
        </p:spPr>
        <p:txBody>
          <a:bodyPr/>
          <a:lstStyle>
            <a:lvl1pPr>
              <a:defRPr sz="6400"/>
            </a:lvl1pPr>
          </a:lstStyle>
          <a:p>
            <a:r>
              <a:t>Round-Robin Scheduling</a:t>
            </a:r>
          </a:p>
        </p:txBody>
      </p:sp>
      <p:pic>
        <p:nvPicPr>
          <p:cNvPr id="394" name="image19.gif" descr="image19.gif"/>
          <p:cNvPicPr>
            <a:picLocks noChangeAspect="1"/>
          </p:cNvPicPr>
          <p:nvPr/>
        </p:nvPicPr>
        <p:blipFill>
          <a:blip r:embed="rId2"/>
          <a:stretch>
            <a:fillRect/>
          </a:stretch>
        </p:blipFill>
        <p:spPr>
          <a:xfrm>
            <a:off x="4064000" y="2656387"/>
            <a:ext cx="4876800" cy="5414617"/>
          </a:xfrm>
          <a:prstGeom prst="rect">
            <a:avLst/>
          </a:prstGeom>
        </p:spPr>
      </p:pic>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Round-Robin Scheduling"/>
          <p:cNvSpPr txBox="1">
            <a:spLocks noGrp="1"/>
          </p:cNvSpPr>
          <p:nvPr>
            <p:ph type="title"/>
          </p:nvPr>
        </p:nvSpPr>
        <p:spPr>
          <a:prstGeom prst="rect">
            <a:avLst/>
          </a:prstGeom>
        </p:spPr>
        <p:txBody>
          <a:bodyPr/>
          <a:lstStyle>
            <a:lvl1pPr>
              <a:defRPr sz="6400"/>
            </a:lvl1pPr>
          </a:lstStyle>
          <a:p>
            <a:r>
              <a:t>Round-Robin Scheduling</a:t>
            </a:r>
          </a:p>
        </p:txBody>
      </p:sp>
      <p:sp>
        <p:nvSpPr>
          <p:cNvPr id="397" name="If n processes in ready queue, and q is time quantum, each gets 1/n of CPU time in chunks of at most q time units…"/>
          <p:cNvSpPr txBox="1">
            <a:spLocks noGrp="1"/>
          </p:cNvSpPr>
          <p:nvPr>
            <p:ph type="body" idx="1"/>
          </p:nvPr>
        </p:nvSpPr>
        <p:spPr>
          <a:xfrm>
            <a:off x="1270000" y="2768600"/>
            <a:ext cx="10972800" cy="6578600"/>
          </a:xfrm>
          <a:prstGeom prst="rect">
            <a:avLst/>
          </a:prstGeom>
        </p:spPr>
        <p:txBody>
          <a:bodyPr/>
          <a:lstStyle/>
          <a:p>
            <a:pPr marL="1533071" lvl="2" indent="-326571">
              <a:defRPr sz="2400"/>
            </a:pPr>
            <a:r>
              <a:t>If </a:t>
            </a:r>
            <a:r>
              <a:rPr i="1"/>
              <a:t>n</a:t>
            </a:r>
            <a:r>
              <a:t> processes in ready queue, and </a:t>
            </a:r>
            <a:r>
              <a:rPr i="1"/>
              <a:t>q</a:t>
            </a:r>
            <a:r>
              <a:t> is time quantum, each gets 1</a:t>
            </a:r>
            <a:r>
              <a:rPr i="1"/>
              <a:t>/n</a:t>
            </a:r>
            <a:r>
              <a:t> of CPU time in chunks of at most </a:t>
            </a:r>
            <a:r>
              <a:rPr i="1"/>
              <a:t>q</a:t>
            </a:r>
            <a:r>
              <a:t> time units</a:t>
            </a:r>
          </a:p>
          <a:p>
            <a:pPr marL="1533071" lvl="2" indent="-326571">
              <a:defRPr sz="2400"/>
            </a:pPr>
            <a:r>
              <a:t>Each process waits no longer than (</a:t>
            </a:r>
            <a:r>
              <a:rPr i="1"/>
              <a:t>n</a:t>
            </a:r>
            <a:r>
              <a:t>-1)</a:t>
            </a:r>
            <a:r>
              <a:rPr i="1"/>
              <a:t>q</a:t>
            </a:r>
            <a:r>
              <a:t> time units for next quantum</a:t>
            </a:r>
          </a:p>
          <a:p>
            <a:pPr marL="1533071" lvl="2" indent="-326571">
              <a:defRPr sz="2400"/>
            </a:pPr>
            <a:r>
              <a:t>Performance depends heavily on size of time quantum</a:t>
            </a:r>
          </a:p>
          <a:p>
            <a:pPr marL="1977571" lvl="3" indent="-326571">
              <a:defRPr sz="2400"/>
            </a:pPr>
            <a:r>
              <a:t>Large time quantum means essentially FIFO</a:t>
            </a:r>
          </a:p>
          <a:p>
            <a:pPr marL="1977571" lvl="3" indent="-326571">
              <a:defRPr sz="2400"/>
            </a:pPr>
            <a:r>
              <a:t>Small time quantum means large context switching overhead</a:t>
            </a:r>
          </a:p>
          <a:p>
            <a:pPr marL="1533071" lvl="2" indent="-326571">
              <a:defRPr sz="2400"/>
            </a:pPr>
            <a:r>
              <a:t>Rule of thumb is 80% of CPU bursts should be shorter than time </a:t>
            </a:r>
            <a:r>
              <a:rPr i="1"/>
              <a:t>q</a:t>
            </a:r>
            <a:r>
              <a:t> </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Multilevel Feedback Queue"/>
          <p:cNvSpPr txBox="1">
            <a:spLocks noGrp="1"/>
          </p:cNvSpPr>
          <p:nvPr>
            <p:ph type="title"/>
          </p:nvPr>
        </p:nvSpPr>
        <p:spPr>
          <a:prstGeom prst="rect">
            <a:avLst/>
          </a:prstGeom>
        </p:spPr>
        <p:txBody>
          <a:bodyPr/>
          <a:lstStyle>
            <a:lvl1pPr>
              <a:defRPr sz="6400"/>
            </a:lvl1pPr>
          </a:lstStyle>
          <a:p>
            <a:r>
              <a:t>Multilevel Feedback Queue</a:t>
            </a:r>
          </a:p>
        </p:txBody>
      </p:sp>
      <p:sp>
        <p:nvSpPr>
          <p:cNvPr id="400" name="Most general CPU scheduling algorithm…"/>
          <p:cNvSpPr txBox="1">
            <a:spLocks noGrp="1"/>
          </p:cNvSpPr>
          <p:nvPr>
            <p:ph type="body" idx="1"/>
          </p:nvPr>
        </p:nvSpPr>
        <p:spPr>
          <a:xfrm>
            <a:off x="1270000" y="2768600"/>
            <a:ext cx="10972800" cy="6578600"/>
          </a:xfrm>
          <a:prstGeom prst="rect">
            <a:avLst/>
          </a:prstGeom>
        </p:spPr>
        <p:txBody>
          <a:bodyPr/>
          <a:lstStyle/>
          <a:p>
            <a:pPr marL="1533071" lvl="2" indent="-326571">
              <a:defRPr sz="2400"/>
            </a:pPr>
            <a:r>
              <a:t>Most general CPU scheduling algorithm</a:t>
            </a:r>
          </a:p>
          <a:p>
            <a:pPr marL="1533071" lvl="2" indent="-326571">
              <a:defRPr sz="2400"/>
            </a:pPr>
            <a:r>
              <a:t>Prefers shorter jobs by penalizing jobs that use too much CPU time</a:t>
            </a:r>
          </a:p>
          <a:p>
            <a:pPr marL="1977571" lvl="3" indent="-326571">
              <a:defRPr sz="2400"/>
            </a:pPr>
            <a:r>
              <a:t>Using dynamically computed priority</a:t>
            </a:r>
          </a:p>
          <a:p>
            <a:pPr marL="1533071" lvl="2" indent="-326571">
              <a:defRPr sz="2400"/>
            </a:pPr>
            <a:r>
              <a:t>Background</a:t>
            </a:r>
          </a:p>
          <a:p>
            <a:pPr marL="1977571" lvl="3" indent="-326571">
              <a:defRPr sz="2400"/>
            </a:pPr>
            <a:r>
              <a:t>Make a distinction between foreground (interactive) and batch processes</a:t>
            </a:r>
          </a:p>
          <a:p>
            <a:pPr marL="1977571" lvl="3" indent="-326571">
              <a:defRPr sz="2400"/>
            </a:pPr>
            <a:r>
              <a:t>Separate queues for different types of processes, with process priority being defined by what queue it is in</a:t>
            </a:r>
          </a:p>
          <a:p>
            <a:pPr marL="1533071" lvl="2" indent="-326571">
              <a:defRPr sz="2400"/>
            </a:pPr>
            <a:r>
              <a:t>Separates processes with different CPU burst requirements</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Multilevel Feedback Queue"/>
          <p:cNvSpPr txBox="1">
            <a:spLocks noGrp="1"/>
          </p:cNvSpPr>
          <p:nvPr>
            <p:ph type="title"/>
          </p:nvPr>
        </p:nvSpPr>
        <p:spPr>
          <a:prstGeom prst="rect">
            <a:avLst/>
          </a:prstGeom>
        </p:spPr>
        <p:txBody>
          <a:bodyPr/>
          <a:lstStyle>
            <a:lvl1pPr>
              <a:defRPr sz="6400"/>
            </a:lvl1pPr>
          </a:lstStyle>
          <a:p>
            <a:r>
              <a:t>Multilevel Feedback Queue</a:t>
            </a:r>
          </a:p>
        </p:txBody>
      </p:sp>
      <p:sp>
        <p:nvSpPr>
          <p:cNvPr id="403" name="Too much CPU time means lower priority…"/>
          <p:cNvSpPr txBox="1">
            <a:spLocks noGrp="1"/>
          </p:cNvSpPr>
          <p:nvPr>
            <p:ph type="body" idx="1"/>
          </p:nvPr>
        </p:nvSpPr>
        <p:spPr>
          <a:xfrm>
            <a:off x="1270000" y="2768600"/>
            <a:ext cx="10972800" cy="6578600"/>
          </a:xfrm>
          <a:prstGeom prst="rect">
            <a:avLst/>
          </a:prstGeom>
        </p:spPr>
        <p:txBody>
          <a:bodyPr/>
          <a:lstStyle/>
          <a:p>
            <a:pPr marL="1533071" lvl="2" indent="-326571">
              <a:defRPr sz="2400"/>
            </a:pPr>
            <a:r>
              <a:t>Too much CPU time means lower priority</a:t>
            </a:r>
          </a:p>
          <a:p>
            <a:pPr marL="1533071" lvl="2" indent="-326571">
              <a:defRPr sz="2400"/>
            </a:pPr>
            <a:r>
              <a:t>I/O bound and interactive processes means higher priority</a:t>
            </a:r>
          </a:p>
          <a:p>
            <a:pPr marL="1533071" lvl="2" indent="-326571">
              <a:defRPr sz="2400"/>
            </a:pPr>
            <a:r>
              <a:rPr i="1"/>
              <a:t>n</a:t>
            </a:r>
            <a:r>
              <a:t> different priority levels: ∏</a:t>
            </a:r>
            <a:r>
              <a:rPr baseline="-5999"/>
              <a:t>1</a:t>
            </a:r>
            <a:r>
              <a:t> ... ∏</a:t>
            </a:r>
            <a:r>
              <a:rPr baseline="-5999"/>
              <a:t>n</a:t>
            </a:r>
          </a:p>
          <a:p>
            <a:pPr marL="1533071" lvl="2" indent="-326571">
              <a:defRPr sz="2400"/>
            </a:pPr>
            <a:r>
              <a:t>Each process may not receive more than T</a:t>
            </a:r>
            <a:r>
              <a:rPr baseline="-5999"/>
              <a:t>∏</a:t>
            </a:r>
            <a:r>
              <a:t> time units at priority ∏</a:t>
            </a:r>
          </a:p>
          <a:p>
            <a:pPr marL="1533071" lvl="2" indent="-326571">
              <a:defRPr sz="2400"/>
            </a:pPr>
            <a:r>
              <a:t>Let T</a:t>
            </a:r>
            <a:r>
              <a:rPr baseline="-5999"/>
              <a:t>∏</a:t>
            </a:r>
            <a:r>
              <a:t> = 2</a:t>
            </a:r>
            <a:r>
              <a:rPr baseline="31999"/>
              <a:t>n-∏</a:t>
            </a:r>
            <a:r>
              <a:t>T</a:t>
            </a:r>
            <a:r>
              <a:rPr i="1" baseline="-5999"/>
              <a:t>n</a:t>
            </a:r>
            <a:r>
              <a:t>, where T</a:t>
            </a:r>
            <a:r>
              <a:rPr i="1" baseline="-5999"/>
              <a:t>n</a:t>
            </a:r>
            <a:r>
              <a:t> is the maximum time on highest priority queue at level n</a:t>
            </a:r>
          </a:p>
          <a:p>
            <a:pPr marL="1977571" lvl="3" indent="-326571">
              <a:defRPr sz="2400"/>
            </a:pPr>
            <a:r>
              <a:t>Each process will spend T</a:t>
            </a:r>
            <a:r>
              <a:rPr i="1" baseline="-5999"/>
              <a:t>n</a:t>
            </a:r>
            <a:r>
              <a:t> at priority n and time 2</a:t>
            </a:r>
            <a:r>
              <a:rPr baseline="31999"/>
              <a:t>i</a:t>
            </a:r>
            <a:r>
              <a:t>T</a:t>
            </a:r>
            <a:r>
              <a:rPr baseline="-5999"/>
              <a:t>n</a:t>
            </a:r>
            <a:r>
              <a:t> at priority </a:t>
            </a:r>
            <a:r>
              <a:rPr i="1"/>
              <a:t>n-i</a:t>
            </a:r>
            <a:r>
              <a:t>,   1 &lt;=</a:t>
            </a:r>
            <a:r>
              <a:rPr i="1"/>
              <a:t> i</a:t>
            </a:r>
            <a:r>
              <a:t> &lt;= </a:t>
            </a:r>
            <a:r>
              <a:rPr i="1"/>
              <a:t>n</a:t>
            </a:r>
          </a:p>
          <a:p>
            <a:pPr marL="1977571" lvl="3" indent="-326571">
              <a:defRPr sz="2400"/>
            </a:pPr>
            <a:r>
              <a:t>Process may remain at lowest priority level for infinite time</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Multilevel Feedback Queue"/>
          <p:cNvSpPr txBox="1">
            <a:spLocks noGrp="1"/>
          </p:cNvSpPr>
          <p:nvPr>
            <p:ph type="title"/>
          </p:nvPr>
        </p:nvSpPr>
        <p:spPr>
          <a:prstGeom prst="rect">
            <a:avLst/>
          </a:prstGeom>
        </p:spPr>
        <p:txBody>
          <a:bodyPr/>
          <a:lstStyle>
            <a:lvl1pPr>
              <a:defRPr sz="6400"/>
            </a:lvl1pPr>
          </a:lstStyle>
          <a:p>
            <a:r>
              <a:t>Multilevel Feedback Queue</a:t>
            </a:r>
          </a:p>
        </p:txBody>
      </p:sp>
      <p:sp>
        <p:nvSpPr>
          <p:cNvPr id="406" name="CPU always serves highest priority queue…"/>
          <p:cNvSpPr txBox="1">
            <a:spLocks noGrp="1"/>
          </p:cNvSpPr>
          <p:nvPr>
            <p:ph type="body" idx="1"/>
          </p:nvPr>
        </p:nvSpPr>
        <p:spPr>
          <a:xfrm>
            <a:off x="1270000" y="2768600"/>
            <a:ext cx="10972800" cy="6578600"/>
          </a:xfrm>
          <a:prstGeom prst="rect">
            <a:avLst/>
          </a:prstGeom>
        </p:spPr>
        <p:txBody>
          <a:bodyPr/>
          <a:lstStyle/>
          <a:p>
            <a:pPr marL="1533071" lvl="2" indent="-326571">
              <a:defRPr sz="2400"/>
            </a:pPr>
            <a:r>
              <a:t>CPU always serves highest priority queue</a:t>
            </a:r>
          </a:p>
          <a:p>
            <a:pPr marL="1977571" lvl="3" indent="-326571">
              <a:defRPr sz="2400"/>
            </a:pPr>
            <a:r>
              <a:t>That has processes in it ready for execution</a:t>
            </a:r>
          </a:p>
          <a:p>
            <a:pPr marL="1533071" lvl="2" indent="-326571">
              <a:defRPr sz="2400"/>
            </a:pPr>
            <a:r>
              <a:t>Can result in starvation. How?</a:t>
            </a:r>
          </a:p>
          <a:p>
            <a:pPr marL="1533071" lvl="2" indent="-326571">
              <a:defRPr sz="2400"/>
            </a:pPr>
            <a:r>
              <a:t>Variation:</a:t>
            </a:r>
          </a:p>
          <a:p>
            <a:pPr marL="1977571" lvl="3" indent="-326571">
              <a:defRPr sz="2400"/>
            </a:pPr>
            <a:r>
              <a:rPr i="1"/>
              <a:t>Aging</a:t>
            </a:r>
            <a:r>
              <a:t> to prevent starvation</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Examples"/>
          <p:cNvSpPr txBox="1">
            <a:spLocks noGrp="1"/>
          </p:cNvSpPr>
          <p:nvPr>
            <p:ph type="title"/>
          </p:nvPr>
        </p:nvSpPr>
        <p:spPr>
          <a:prstGeom prst="rect">
            <a:avLst/>
          </a:prstGeom>
        </p:spPr>
        <p:txBody>
          <a:bodyPr/>
          <a:lstStyle>
            <a:lvl1pPr>
              <a:defRPr sz="6400"/>
            </a:lvl1pPr>
          </a:lstStyle>
          <a:p>
            <a:r>
              <a:t>Examples</a:t>
            </a:r>
          </a:p>
        </p:txBody>
      </p:sp>
      <p:graphicFrame>
        <p:nvGraphicFramePr>
          <p:cNvPr id="409" name="Table 1"/>
          <p:cNvGraphicFramePr/>
          <p:nvPr/>
        </p:nvGraphicFramePr>
        <p:xfrm>
          <a:off x="2253853" y="2857500"/>
          <a:ext cx="8497093" cy="4062906"/>
        </p:xfrm>
        <a:graphic>
          <a:graphicData uri="http://schemas.openxmlformats.org/drawingml/2006/table">
            <a:tbl>
              <a:tblPr firstRow="1" firstCol="1" bandRow="1">
                <a:tableStyleId>{4C3C2611-4C71-4FC5-86AE-919BDF0F9419}</a:tableStyleId>
              </a:tblPr>
              <a:tblGrid>
                <a:gridCol w="1481005">
                  <a:extLst>
                    <a:ext uri="{9D8B030D-6E8A-4147-A177-3AD203B41FA5}">
                      <a16:colId xmlns:a16="http://schemas.microsoft.com/office/drawing/2014/main" val="20000"/>
                    </a:ext>
                  </a:extLst>
                </a:gridCol>
                <a:gridCol w="4183724">
                  <a:extLst>
                    <a:ext uri="{9D8B030D-6E8A-4147-A177-3AD203B41FA5}">
                      <a16:colId xmlns:a16="http://schemas.microsoft.com/office/drawing/2014/main" val="20001"/>
                    </a:ext>
                  </a:extLst>
                </a:gridCol>
                <a:gridCol w="2832364">
                  <a:extLst>
                    <a:ext uri="{9D8B030D-6E8A-4147-A177-3AD203B41FA5}">
                      <a16:colId xmlns:a16="http://schemas.microsoft.com/office/drawing/2014/main" val="20002"/>
                    </a:ext>
                  </a:extLst>
                </a:gridCol>
              </a:tblGrid>
              <a:tr h="978552">
                <a:tc>
                  <a:txBody>
                    <a:bodyPr/>
                    <a:lstStyle/>
                    <a:p>
                      <a:pPr defTabSz="914400">
                        <a:defRPr b="0">
                          <a:solidFill>
                            <a:srgbClr val="000000"/>
                          </a:solidFill>
                        </a:defRPr>
                      </a:pPr>
                      <a:r>
                        <a:rPr sz="2200" b="1">
                          <a:solidFill>
                            <a:srgbClr val="FFFFFF"/>
                          </a:solidFill>
                          <a:sym typeface="Helvetica Neue"/>
                        </a:rPr>
                        <a:t>Process</a:t>
                      </a:r>
                    </a:p>
                  </a:txBody>
                  <a:tcPr marL="50800" marR="50800" marT="50800" marB="50800" anchor="ctr" horzOverflow="overflow"/>
                </a:tc>
                <a:tc>
                  <a:txBody>
                    <a:bodyPr/>
                    <a:lstStyle/>
                    <a:p>
                      <a:pPr defTabSz="914400">
                        <a:defRPr b="0">
                          <a:solidFill>
                            <a:srgbClr val="000000"/>
                          </a:solidFill>
                        </a:defRPr>
                      </a:pPr>
                      <a:r>
                        <a:rPr sz="2200" b="1">
                          <a:solidFill>
                            <a:srgbClr val="FFFFFF"/>
                          </a:solidFill>
                          <a:sym typeface="Helvetica Neue"/>
                        </a:rPr>
                        <a:t>Arrival Time</a:t>
                      </a:r>
                    </a:p>
                  </a:txBody>
                  <a:tcPr marL="50800" marR="50800" marT="50800" marB="50800" anchor="ctr" horzOverflow="overflow"/>
                </a:tc>
                <a:tc>
                  <a:txBody>
                    <a:bodyPr/>
                    <a:lstStyle/>
                    <a:p>
                      <a:pPr defTabSz="914400">
                        <a:defRPr b="0">
                          <a:solidFill>
                            <a:srgbClr val="000000"/>
                          </a:solidFill>
                        </a:defRPr>
                      </a:pPr>
                      <a:r>
                        <a:rPr sz="2200" b="1">
                          <a:solidFill>
                            <a:srgbClr val="FFFFFF"/>
                          </a:solidFill>
                          <a:sym typeface="Helvetica Neue"/>
                        </a:rPr>
                        <a:t>Service Time</a:t>
                      </a:r>
                    </a:p>
                  </a:txBody>
                  <a:tcPr marL="50800" marR="50800" marT="50800" marB="50800" anchor="ctr" horzOverflow="overflow"/>
                </a:tc>
                <a:extLst>
                  <a:ext uri="{0D108BD9-81ED-4DB2-BD59-A6C34878D82A}">
                    <a16:rowId xmlns:a16="http://schemas.microsoft.com/office/drawing/2014/main" val="10000"/>
                  </a:ext>
                </a:extLst>
              </a:tr>
              <a:tr h="563456">
                <a:tc>
                  <a:txBody>
                    <a:bodyPr/>
                    <a:lstStyle/>
                    <a:p>
                      <a:pPr defTabSz="914400">
                        <a:defRPr b="0">
                          <a:solidFill>
                            <a:srgbClr val="000000"/>
                          </a:solidFill>
                        </a:defRPr>
                      </a:pPr>
                      <a:r>
                        <a:rPr sz="2200" b="1">
                          <a:solidFill>
                            <a:srgbClr val="FFFFFF"/>
                          </a:solidFill>
                          <a:sym typeface="Helvetica Neue"/>
                        </a:rPr>
                        <a:t>A</a:t>
                      </a:r>
                    </a:p>
                  </a:txBody>
                  <a:tcPr marL="50800" marR="50800" marT="50800" marB="50800" anchor="ctr" horzOverflow="overflow"/>
                </a:tc>
                <a:tc>
                  <a:txBody>
                    <a:bodyPr/>
                    <a:lstStyle/>
                    <a:p>
                      <a:pPr defTabSz="914400"/>
                      <a:r>
                        <a:rPr sz="2200">
                          <a:sym typeface="Helvetica Neue"/>
                        </a:rPr>
                        <a:t>0</a:t>
                      </a:r>
                    </a:p>
                  </a:txBody>
                  <a:tcPr marL="50800" marR="50800" marT="50800" marB="50800" anchor="ctr" horzOverflow="overflow"/>
                </a:tc>
                <a:tc>
                  <a:txBody>
                    <a:bodyPr/>
                    <a:lstStyle/>
                    <a:p>
                      <a:pPr defTabSz="914400"/>
                      <a:r>
                        <a:rPr sz="2200">
                          <a:sym typeface="Helvetica Neue"/>
                        </a:rPr>
                        <a:t>3</a:t>
                      </a:r>
                    </a:p>
                  </a:txBody>
                  <a:tcPr marL="50800" marR="50800" marT="50800" marB="50800" anchor="ctr" horzOverflow="overflow"/>
                </a:tc>
                <a:extLst>
                  <a:ext uri="{0D108BD9-81ED-4DB2-BD59-A6C34878D82A}">
                    <a16:rowId xmlns:a16="http://schemas.microsoft.com/office/drawing/2014/main" val="10001"/>
                  </a:ext>
                </a:extLst>
              </a:tr>
              <a:tr h="581291">
                <a:tc>
                  <a:txBody>
                    <a:bodyPr/>
                    <a:lstStyle/>
                    <a:p>
                      <a:pPr defTabSz="914400">
                        <a:defRPr b="0">
                          <a:solidFill>
                            <a:srgbClr val="000000"/>
                          </a:solidFill>
                        </a:defRPr>
                      </a:pPr>
                      <a:r>
                        <a:rPr sz="2200" b="1">
                          <a:solidFill>
                            <a:srgbClr val="FFFFFF"/>
                          </a:solidFill>
                          <a:sym typeface="Helvetica Neue"/>
                        </a:rPr>
                        <a:t>B</a:t>
                      </a:r>
                    </a:p>
                  </a:txBody>
                  <a:tcPr marL="50800" marR="50800" marT="50800" marB="50800" anchor="ctr" horzOverflow="overflow"/>
                </a:tc>
                <a:tc>
                  <a:txBody>
                    <a:bodyPr/>
                    <a:lstStyle/>
                    <a:p>
                      <a:pPr defTabSz="914400"/>
                      <a:r>
                        <a:rPr sz="2200">
                          <a:sym typeface="Helvetica Neue"/>
                        </a:rPr>
                        <a:t>2</a:t>
                      </a:r>
                    </a:p>
                  </a:txBody>
                  <a:tcPr marL="50800" marR="50800" marT="50800" marB="50800" anchor="ctr" horzOverflow="overflow"/>
                </a:tc>
                <a:tc>
                  <a:txBody>
                    <a:bodyPr/>
                    <a:lstStyle/>
                    <a:p>
                      <a:pPr defTabSz="914400"/>
                      <a:r>
                        <a:rPr sz="2200">
                          <a:sym typeface="Helvetica Neue"/>
                        </a:rPr>
                        <a:t>6</a:t>
                      </a:r>
                    </a:p>
                  </a:txBody>
                  <a:tcPr marL="50800" marR="50800" marT="50800" marB="50800" anchor="ctr" horzOverflow="overflow"/>
                </a:tc>
                <a:extLst>
                  <a:ext uri="{0D108BD9-81ED-4DB2-BD59-A6C34878D82A}">
                    <a16:rowId xmlns:a16="http://schemas.microsoft.com/office/drawing/2014/main" val="10002"/>
                  </a:ext>
                </a:extLst>
              </a:tr>
              <a:tr h="591885">
                <a:tc>
                  <a:txBody>
                    <a:bodyPr/>
                    <a:lstStyle/>
                    <a:p>
                      <a:pPr defTabSz="914400">
                        <a:defRPr b="0">
                          <a:solidFill>
                            <a:srgbClr val="000000"/>
                          </a:solidFill>
                        </a:defRPr>
                      </a:pPr>
                      <a:r>
                        <a:rPr sz="2200" b="1">
                          <a:solidFill>
                            <a:srgbClr val="FFFFFF"/>
                          </a:solidFill>
                          <a:sym typeface="Helvetica Neue"/>
                        </a:rPr>
                        <a:t>C</a:t>
                      </a:r>
                    </a:p>
                  </a:txBody>
                  <a:tcPr marL="50800" marR="50800" marT="50800" marB="50800" anchor="ctr" horzOverflow="overflow"/>
                </a:tc>
                <a:tc>
                  <a:txBody>
                    <a:bodyPr/>
                    <a:lstStyle/>
                    <a:p>
                      <a:pPr defTabSz="914400"/>
                      <a:r>
                        <a:rPr sz="2200">
                          <a:sym typeface="Helvetica Neue"/>
                        </a:rPr>
                        <a:t>4</a:t>
                      </a:r>
                    </a:p>
                  </a:txBody>
                  <a:tcPr marL="50800" marR="50800" marT="50800" marB="50800" anchor="ctr" horzOverflow="overflow"/>
                </a:tc>
                <a:tc>
                  <a:txBody>
                    <a:bodyPr/>
                    <a:lstStyle/>
                    <a:p>
                      <a:pPr defTabSz="914400"/>
                      <a:r>
                        <a:rPr sz="2200">
                          <a:sym typeface="Helvetica Neue"/>
                        </a:rPr>
                        <a:t>4</a:t>
                      </a:r>
                    </a:p>
                  </a:txBody>
                  <a:tcPr marL="50800" marR="50800" marT="50800" marB="50800" anchor="ctr" horzOverflow="overflow"/>
                </a:tc>
                <a:extLst>
                  <a:ext uri="{0D108BD9-81ED-4DB2-BD59-A6C34878D82A}">
                    <a16:rowId xmlns:a16="http://schemas.microsoft.com/office/drawing/2014/main" val="10003"/>
                  </a:ext>
                </a:extLst>
              </a:tr>
              <a:tr h="673861">
                <a:tc>
                  <a:txBody>
                    <a:bodyPr/>
                    <a:lstStyle/>
                    <a:p>
                      <a:pPr defTabSz="914400">
                        <a:defRPr b="0">
                          <a:solidFill>
                            <a:srgbClr val="000000"/>
                          </a:solidFill>
                        </a:defRPr>
                      </a:pPr>
                      <a:r>
                        <a:rPr sz="2200" b="1">
                          <a:solidFill>
                            <a:srgbClr val="FFFFFF"/>
                          </a:solidFill>
                          <a:sym typeface="Helvetica Neue"/>
                        </a:rPr>
                        <a:t>D</a:t>
                      </a:r>
                    </a:p>
                  </a:txBody>
                  <a:tcPr marL="50800" marR="50800" marT="50800" marB="50800" anchor="ctr" horzOverflow="overflow"/>
                </a:tc>
                <a:tc>
                  <a:txBody>
                    <a:bodyPr/>
                    <a:lstStyle/>
                    <a:p>
                      <a:pPr defTabSz="914400"/>
                      <a:r>
                        <a:rPr sz="2200">
                          <a:sym typeface="Helvetica Neue"/>
                        </a:rPr>
                        <a:t>6</a:t>
                      </a:r>
                    </a:p>
                  </a:txBody>
                  <a:tcPr marL="50800" marR="50800" marT="50800" marB="50800" anchor="ctr" horzOverflow="overflow"/>
                </a:tc>
                <a:tc>
                  <a:txBody>
                    <a:bodyPr/>
                    <a:lstStyle/>
                    <a:p>
                      <a:pPr defTabSz="914400"/>
                      <a:r>
                        <a:rPr sz="2200">
                          <a:sym typeface="Helvetica Neue"/>
                        </a:rPr>
                        <a:t>5</a:t>
                      </a:r>
                    </a:p>
                  </a:txBody>
                  <a:tcPr marL="50800" marR="50800" marT="50800" marB="50800" anchor="ctr" horzOverflow="overflow"/>
                </a:tc>
                <a:extLst>
                  <a:ext uri="{0D108BD9-81ED-4DB2-BD59-A6C34878D82A}">
                    <a16:rowId xmlns:a16="http://schemas.microsoft.com/office/drawing/2014/main" val="10004"/>
                  </a:ext>
                </a:extLst>
              </a:tr>
              <a:tr h="673861">
                <a:tc>
                  <a:txBody>
                    <a:bodyPr/>
                    <a:lstStyle/>
                    <a:p>
                      <a:pPr defTabSz="914400">
                        <a:defRPr b="0">
                          <a:solidFill>
                            <a:srgbClr val="000000"/>
                          </a:solidFill>
                        </a:defRPr>
                      </a:pPr>
                      <a:r>
                        <a:rPr sz="2200" b="1">
                          <a:solidFill>
                            <a:srgbClr val="FFFFFF"/>
                          </a:solidFill>
                          <a:sym typeface="Helvetica Neue"/>
                        </a:rPr>
                        <a:t>E</a:t>
                      </a:r>
                    </a:p>
                  </a:txBody>
                  <a:tcPr marL="50800" marR="50800" marT="50800" marB="50800" anchor="ctr" horzOverflow="overflow"/>
                </a:tc>
                <a:tc>
                  <a:txBody>
                    <a:bodyPr/>
                    <a:lstStyle/>
                    <a:p>
                      <a:pPr defTabSz="914400"/>
                      <a:r>
                        <a:rPr sz="2200">
                          <a:sym typeface="Helvetica Neue"/>
                        </a:rPr>
                        <a:t>8</a:t>
                      </a:r>
                    </a:p>
                  </a:txBody>
                  <a:tcPr marL="50800" marR="50800" marT="50800" marB="50800" anchor="ctr" horzOverflow="overflow"/>
                </a:tc>
                <a:tc>
                  <a:txBody>
                    <a:bodyPr/>
                    <a:lstStyle/>
                    <a:p>
                      <a:pPr defTabSz="914400"/>
                      <a:r>
                        <a:rPr sz="2200">
                          <a:sym typeface="Helvetica Neue"/>
                        </a:rPr>
                        <a:t>2</a:t>
                      </a:r>
                    </a:p>
                  </a:txBody>
                  <a:tcPr marL="50800" marR="50800" marT="50800" marB="50800" anchor="ctr" horzOverflow="overflow"/>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 name="pasted-image.pdf" descr="pasted-image.pdf"/>
          <p:cNvPicPr>
            <a:picLocks noChangeAspect="1"/>
          </p:cNvPicPr>
          <p:nvPr/>
        </p:nvPicPr>
        <p:blipFill>
          <a:blip r:embed="rId2"/>
          <a:stretch>
            <a:fillRect/>
          </a:stretch>
        </p:blipFill>
        <p:spPr>
          <a:xfrm>
            <a:off x="2906294" y="352335"/>
            <a:ext cx="6766854" cy="9048930"/>
          </a:xfrm>
          <a:prstGeom prst="rect">
            <a:avLst/>
          </a:prstGeom>
          <a:ln w="12700">
            <a:miter lim="400000"/>
          </a:ln>
        </p:spPr>
      </p:pic>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Scheduling policy in Linux"/>
          <p:cNvSpPr txBox="1">
            <a:spLocks noGrp="1"/>
          </p:cNvSpPr>
          <p:nvPr>
            <p:ph type="title"/>
          </p:nvPr>
        </p:nvSpPr>
        <p:spPr>
          <a:prstGeom prst="rect">
            <a:avLst/>
          </a:prstGeom>
        </p:spPr>
        <p:txBody>
          <a:bodyPr/>
          <a:lstStyle>
            <a:lvl1pPr>
              <a:defRPr sz="6400"/>
            </a:lvl1pPr>
          </a:lstStyle>
          <a:p>
            <a:r>
              <a:t>Scheduling policy in Linux</a:t>
            </a:r>
          </a:p>
        </p:txBody>
      </p:sp>
      <p:sp>
        <p:nvSpPr>
          <p:cNvPr id="414" name="Linux objectives include:…"/>
          <p:cNvSpPr txBox="1">
            <a:spLocks noGrp="1"/>
          </p:cNvSpPr>
          <p:nvPr>
            <p:ph type="body" idx="1"/>
          </p:nvPr>
        </p:nvSpPr>
        <p:spPr>
          <a:xfrm>
            <a:off x="1270000" y="2768600"/>
            <a:ext cx="10972800" cy="6578600"/>
          </a:xfrm>
          <a:prstGeom prst="rect">
            <a:avLst/>
          </a:prstGeom>
        </p:spPr>
        <p:txBody>
          <a:bodyPr/>
          <a:lstStyle/>
          <a:p>
            <a:pPr marL="1533071" lvl="2" indent="-326571">
              <a:defRPr sz="2400"/>
            </a:pPr>
            <a:r>
              <a:t>Linux objectives include:</a:t>
            </a:r>
          </a:p>
          <a:p>
            <a:pPr marL="1977571" lvl="3" indent="-326571">
              <a:defRPr sz="2400"/>
            </a:pPr>
            <a:r>
              <a:t>Fast process response time</a:t>
            </a:r>
          </a:p>
          <a:p>
            <a:pPr marL="1977571" lvl="3" indent="-326571">
              <a:defRPr sz="2400"/>
            </a:pPr>
            <a:r>
              <a:t>Good throughput for background jobs</a:t>
            </a:r>
          </a:p>
          <a:p>
            <a:pPr marL="1977571" lvl="3" indent="-326571">
              <a:defRPr sz="2400"/>
            </a:pPr>
            <a:r>
              <a:t>Avoidance of process starvation</a:t>
            </a:r>
          </a:p>
          <a:p>
            <a:pPr marL="1977571" lvl="3" indent="-326571">
              <a:defRPr sz="2400"/>
            </a:pPr>
            <a:r>
              <a:t>Reconcile the needs of low and high priority processes</a:t>
            </a:r>
          </a:p>
          <a:p>
            <a:pPr marL="1533071" lvl="2" indent="-326571">
              <a:defRPr sz="2400"/>
            </a:pPr>
            <a:r>
              <a:t>Based on time sharing</a:t>
            </a:r>
          </a:p>
          <a:p>
            <a:pPr marL="1977571" lvl="3" indent="-326571">
              <a:defRPr sz="2400"/>
            </a:pPr>
            <a:r>
              <a:t>Several processes run in time-multiplexing mode, where users take turns</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Multilevel Feedback Queue"/>
          <p:cNvSpPr txBox="1">
            <a:spLocks noGrp="1"/>
          </p:cNvSpPr>
          <p:nvPr>
            <p:ph type="title"/>
          </p:nvPr>
        </p:nvSpPr>
        <p:spPr>
          <a:prstGeom prst="rect">
            <a:avLst/>
          </a:prstGeom>
        </p:spPr>
        <p:txBody>
          <a:bodyPr/>
          <a:lstStyle>
            <a:lvl1pPr>
              <a:defRPr sz="6400"/>
            </a:lvl1pPr>
          </a:lstStyle>
          <a:p>
            <a:r>
              <a:t>Multilevel Feedback Queue</a:t>
            </a:r>
          </a:p>
        </p:txBody>
      </p:sp>
      <p:sp>
        <p:nvSpPr>
          <p:cNvPr id="417" name="Process priority is dynamic…"/>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Process priority is dynamic</a:t>
            </a:r>
          </a:p>
          <a:p>
            <a:pPr marL="1977571" lvl="3" indent="-326571">
              <a:defRPr sz="2400"/>
            </a:pPr>
            <a:r>
              <a:t>Scheduler keeps track of what the processes are doing and adjust their priorities</a:t>
            </a:r>
          </a:p>
          <a:p>
            <a:pPr marL="1977571" lvl="3" indent="-326571">
              <a:defRPr sz="2400"/>
            </a:pPr>
            <a:r>
              <a:t>Processes that do not get CPU for a long time will have priority boosted by dynamically increasing their priority</a:t>
            </a:r>
          </a:p>
          <a:p>
            <a:pPr marL="1977571" lvl="3" indent="-326571">
              <a:defRPr sz="2400"/>
            </a:pPr>
            <a:r>
              <a:t>Processes that run a long time are penalized by decreasing priority</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20" name="Process classification…"/>
          <p:cNvSpPr txBox="1">
            <a:spLocks noGrp="1"/>
          </p:cNvSpPr>
          <p:nvPr>
            <p:ph type="body" idx="1"/>
          </p:nvPr>
        </p:nvSpPr>
        <p:spPr>
          <a:xfrm>
            <a:off x="1270000" y="2768600"/>
            <a:ext cx="10972800" cy="6578600"/>
          </a:xfrm>
          <a:prstGeom prst="rect">
            <a:avLst/>
          </a:prstGeom>
        </p:spPr>
        <p:txBody>
          <a:bodyPr/>
          <a:lstStyle/>
          <a:p>
            <a:pPr marL="1533071" lvl="2" indent="-326571">
              <a:defRPr sz="2400"/>
            </a:pPr>
            <a:r>
              <a:t>Process classification</a:t>
            </a:r>
          </a:p>
          <a:p>
            <a:pPr marL="1977571" lvl="3" indent="-326571">
              <a:defRPr sz="2400"/>
            </a:pPr>
            <a:r>
              <a:t>Interactive process</a:t>
            </a:r>
          </a:p>
          <a:p>
            <a:pPr marL="2422071" lvl="4" indent="-326571">
              <a:defRPr sz="2400"/>
            </a:pPr>
            <a:r>
              <a:t>Interact constantly with users</a:t>
            </a:r>
          </a:p>
          <a:p>
            <a:pPr marL="2422071" lvl="4" indent="-326571">
              <a:defRPr sz="2400"/>
            </a:pPr>
            <a:r>
              <a:t>Waiting for keypresses or mouse operations</a:t>
            </a:r>
          </a:p>
          <a:p>
            <a:pPr marL="2422071" lvl="4" indent="-326571">
              <a:defRPr sz="2400"/>
            </a:pPr>
            <a:r>
              <a:t>When user input, need to respond quickly</a:t>
            </a:r>
          </a:p>
          <a:p>
            <a:pPr marL="2422071" lvl="4" indent="-326571">
              <a:defRPr sz="2400"/>
            </a:pPr>
            <a:r>
              <a:t>Typical delay between 50-150ms</a:t>
            </a:r>
          </a:p>
          <a:p>
            <a:pPr marL="2422071" lvl="4" indent="-326571">
              <a:defRPr sz="2400"/>
            </a:pPr>
            <a:r>
              <a:t>Variance of delay should be bounded or will seem erratic</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23" name="Batch processes…"/>
          <p:cNvSpPr txBox="1">
            <a:spLocks noGrp="1"/>
          </p:cNvSpPr>
          <p:nvPr>
            <p:ph type="body" idx="1"/>
          </p:nvPr>
        </p:nvSpPr>
        <p:spPr>
          <a:xfrm>
            <a:off x="1270000" y="2768600"/>
            <a:ext cx="10972800" cy="6578600"/>
          </a:xfrm>
          <a:prstGeom prst="rect">
            <a:avLst/>
          </a:prstGeom>
        </p:spPr>
        <p:txBody>
          <a:bodyPr/>
          <a:lstStyle/>
          <a:p>
            <a:pPr marL="1533071" lvl="2" indent="-326571">
              <a:defRPr sz="2400"/>
            </a:pPr>
            <a:r>
              <a:t>Batch processes</a:t>
            </a:r>
          </a:p>
          <a:p>
            <a:pPr marL="1977571" lvl="3" indent="-326571">
              <a:defRPr sz="2400"/>
            </a:pPr>
            <a:r>
              <a:t>No user interaction</a:t>
            </a:r>
          </a:p>
          <a:p>
            <a:pPr marL="1977571" lvl="3" indent="-326571">
              <a:defRPr sz="2400"/>
            </a:pPr>
            <a:r>
              <a:t>Run in the background</a:t>
            </a:r>
          </a:p>
          <a:p>
            <a:pPr marL="1977571" lvl="3" indent="-326571">
              <a:defRPr sz="2400"/>
            </a:pPr>
            <a:r>
              <a:t>Need not be very responsive and hence, are penalized by scheduler</a:t>
            </a:r>
          </a:p>
          <a:p>
            <a:pPr marL="1977571" lvl="3" indent="-326571">
              <a:defRPr sz="2400"/>
            </a:pPr>
            <a:r>
              <a:t>May be I/O-bound or CPU-bound</a:t>
            </a:r>
          </a:p>
          <a:p>
            <a:pPr marL="1533071" lvl="2" indent="-326571">
              <a:defRPr sz="2400"/>
            </a:pPr>
            <a:r>
              <a:t>Real-time processes</a:t>
            </a:r>
          </a:p>
          <a:p>
            <a:pPr marL="1977571" lvl="3" indent="-326571">
              <a:defRPr sz="2400"/>
            </a:pPr>
            <a:r>
              <a:t>Stringent scheduling requirements</a:t>
            </a:r>
          </a:p>
          <a:p>
            <a:pPr marL="1977571" lvl="3" indent="-326571">
              <a:defRPr sz="2400"/>
            </a:pPr>
            <a:r>
              <a:t>Should never be blocked by lower priority processes</a:t>
            </a:r>
          </a:p>
          <a:p>
            <a:pPr marL="1977571" lvl="3" indent="-326571">
              <a:defRPr sz="2400"/>
            </a:pPr>
            <a:r>
              <a:t>Short guaranteed response time with minimum variance</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26" name="Linux scheduling pre-2.6…"/>
          <p:cNvSpPr txBox="1">
            <a:spLocks noGrp="1"/>
          </p:cNvSpPr>
          <p:nvPr>
            <p:ph type="body" idx="1"/>
          </p:nvPr>
        </p:nvSpPr>
        <p:spPr>
          <a:xfrm>
            <a:off x="1270000" y="2768600"/>
            <a:ext cx="10972800" cy="6578600"/>
          </a:xfrm>
          <a:prstGeom prst="rect">
            <a:avLst/>
          </a:prstGeom>
        </p:spPr>
        <p:txBody>
          <a:bodyPr/>
          <a:lstStyle/>
          <a:p>
            <a:pPr marL="1533071" lvl="2" indent="-326571">
              <a:defRPr sz="2400"/>
            </a:pPr>
            <a:r>
              <a:t>Linux scheduling pre-2.6</a:t>
            </a:r>
          </a:p>
          <a:p>
            <a:pPr marL="1977571" lvl="3" indent="-326571">
              <a:defRPr sz="2400"/>
            </a:pPr>
            <a:r>
              <a:t>At every process switch:</a:t>
            </a:r>
          </a:p>
          <a:p>
            <a:pPr marL="2422071" lvl="4" indent="-326571">
              <a:defRPr sz="2400"/>
            </a:pPr>
            <a:r>
              <a:t>Kernel scanned list of ready processes</a:t>
            </a:r>
          </a:p>
          <a:p>
            <a:pPr marL="2422071" lvl="4" indent="-326571">
              <a:defRPr sz="2400"/>
            </a:pPr>
            <a:r>
              <a:t>Computes their priorities</a:t>
            </a:r>
          </a:p>
          <a:p>
            <a:pPr marL="2422071" lvl="4" indent="-326571">
              <a:defRPr sz="2400"/>
            </a:pPr>
            <a:r>
              <a:t>Selects the one with highest priority</a:t>
            </a:r>
          </a:p>
          <a:p>
            <a:pPr marL="1977571" lvl="3" indent="-326571">
              <a:defRPr sz="2400"/>
            </a:pPr>
            <a:r>
              <a:t>Expensive algorithm if list of ready processes is large</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29" name="Linux Scheduling Post-2.6…"/>
          <p:cNvSpPr txBox="1">
            <a:spLocks noGrp="1"/>
          </p:cNvSpPr>
          <p:nvPr>
            <p:ph type="body" idx="1"/>
          </p:nvPr>
        </p:nvSpPr>
        <p:spPr>
          <a:xfrm>
            <a:off x="1270000" y="2768600"/>
            <a:ext cx="10972800" cy="6578600"/>
          </a:xfrm>
          <a:prstGeom prst="rect">
            <a:avLst/>
          </a:prstGeom>
        </p:spPr>
        <p:txBody>
          <a:bodyPr/>
          <a:lstStyle/>
          <a:p>
            <a:pPr marL="1533071" lvl="2" indent="-326571">
              <a:defRPr sz="2400"/>
            </a:pPr>
            <a:r>
              <a:t>Linux Scheduling Post-2.6</a:t>
            </a:r>
          </a:p>
          <a:p>
            <a:pPr marL="1977571" lvl="3" indent="-326571">
              <a:defRPr sz="2400"/>
            </a:pPr>
            <a:r>
              <a:t>Designed to scale well with number of ready processes</a:t>
            </a:r>
          </a:p>
          <a:p>
            <a:pPr marL="1977571" lvl="3" indent="-326571">
              <a:defRPr sz="2400"/>
            </a:pPr>
            <a:r>
              <a:t>Selects process to run in constant time</a:t>
            </a:r>
          </a:p>
          <a:p>
            <a:pPr marL="2422071" lvl="4" indent="-326571">
              <a:defRPr sz="2400"/>
            </a:pPr>
            <a:r>
              <a:t>Independent of the number of processes in ready queue</a:t>
            </a:r>
          </a:p>
          <a:p>
            <a:pPr marL="1977571" lvl="3" indent="-326571">
              <a:defRPr sz="2400"/>
            </a:pPr>
            <a:r>
              <a:t>Designed to scale well with number of processors</a:t>
            </a:r>
          </a:p>
          <a:p>
            <a:pPr marL="2422071" lvl="4" indent="-326571">
              <a:defRPr sz="2400"/>
            </a:pPr>
            <a:r>
              <a:t>Each processor has its own </a:t>
            </a:r>
            <a:r>
              <a:rPr>
                <a:latin typeface="Courier New"/>
                <a:ea typeface="Courier New"/>
                <a:cs typeface="Courier New"/>
                <a:sym typeface="Courier New"/>
              </a:rPr>
              <a:t>runqueue</a:t>
            </a:r>
            <a:r>
              <a:t> </a:t>
            </a:r>
          </a:p>
          <a:p>
            <a:pPr marL="1977571" lvl="3" indent="-326571">
              <a:defRPr sz="2400"/>
            </a:pPr>
            <a:r>
              <a:t>Does a better job distinguishing between interactive and batch process</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32" name="Scheduler always finds a process to be executed…"/>
          <p:cNvSpPr txBox="1">
            <a:spLocks noGrp="1"/>
          </p:cNvSpPr>
          <p:nvPr>
            <p:ph type="body" idx="1"/>
          </p:nvPr>
        </p:nvSpPr>
        <p:spPr>
          <a:xfrm>
            <a:off x="1270000" y="2768600"/>
            <a:ext cx="10972800" cy="6578600"/>
          </a:xfrm>
          <a:prstGeom prst="rect">
            <a:avLst/>
          </a:prstGeom>
        </p:spPr>
        <p:txBody>
          <a:bodyPr/>
          <a:lstStyle/>
          <a:p>
            <a:pPr marL="1533071" lvl="2" indent="-326571">
              <a:defRPr sz="2400"/>
            </a:pPr>
            <a:r>
              <a:t>Scheduler always finds a process to be executed</a:t>
            </a:r>
          </a:p>
          <a:p>
            <a:pPr marL="1977571" lvl="3" indent="-326571">
              <a:defRPr sz="2400"/>
            </a:pPr>
            <a:r>
              <a:t>There is always at least one runnable process</a:t>
            </a:r>
          </a:p>
          <a:p>
            <a:pPr marL="2422071" lvl="4" indent="-326571">
              <a:defRPr sz="2400"/>
            </a:pPr>
            <a:r>
              <a:t>Always </a:t>
            </a:r>
            <a:r>
              <a:rPr>
                <a:latin typeface="Courier New"/>
                <a:ea typeface="Courier New"/>
                <a:cs typeface="Courier New"/>
                <a:sym typeface="Courier New"/>
              </a:rPr>
              <a:t>swapper</a:t>
            </a:r>
            <a:r>
              <a:t> with PID 0</a:t>
            </a:r>
          </a:p>
          <a:p>
            <a:pPr marL="2422071" lvl="4" indent="-326571">
              <a:defRPr sz="2400"/>
            </a:pPr>
            <a:r>
              <a:t>Executes only when CPU cannot execute any other process</a:t>
            </a:r>
          </a:p>
          <a:p>
            <a:pPr marL="2422071" lvl="4" indent="-326571">
              <a:defRPr sz="2400"/>
            </a:pPr>
            <a:r>
              <a:t>Every CPU in multiprocessor system has its own </a:t>
            </a:r>
            <a:r>
              <a:rPr>
                <a:latin typeface="Courier New"/>
                <a:ea typeface="Courier New"/>
                <a:cs typeface="Courier New"/>
                <a:sym typeface="Courier New"/>
              </a:rPr>
              <a:t>swapper</a:t>
            </a:r>
            <a:r>
              <a:t> </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 name="Linux Processes"/>
          <p:cNvSpPr txBox="1">
            <a:spLocks noGrp="1"/>
          </p:cNvSpPr>
          <p:nvPr>
            <p:ph type="title"/>
          </p:nvPr>
        </p:nvSpPr>
        <p:spPr>
          <a:prstGeom prst="rect">
            <a:avLst/>
          </a:prstGeom>
        </p:spPr>
        <p:txBody>
          <a:bodyPr/>
          <a:lstStyle>
            <a:lvl1pPr>
              <a:defRPr sz="6400"/>
            </a:lvl1pPr>
          </a:lstStyle>
          <a:p>
            <a:r>
              <a:t>Linux Processes</a:t>
            </a:r>
          </a:p>
        </p:txBody>
      </p:sp>
      <p:sp>
        <p:nvSpPr>
          <p:cNvPr id="435" name="Linux scheduler…"/>
          <p:cNvSpPr txBox="1">
            <a:spLocks noGrp="1"/>
          </p:cNvSpPr>
          <p:nvPr>
            <p:ph type="body" idx="1"/>
          </p:nvPr>
        </p:nvSpPr>
        <p:spPr>
          <a:xfrm>
            <a:off x="1270000" y="2768600"/>
            <a:ext cx="11404600" cy="6578600"/>
          </a:xfrm>
          <a:prstGeom prst="rect">
            <a:avLst/>
          </a:prstGeom>
        </p:spPr>
        <p:txBody>
          <a:bodyPr/>
          <a:lstStyle/>
          <a:p>
            <a:pPr marL="1088571" lvl="1" indent="-326571">
              <a:defRPr sz="2400"/>
            </a:pPr>
            <a:r>
              <a:t>Linux scheduler</a:t>
            </a:r>
          </a:p>
          <a:p>
            <a:pPr marL="1533071" lvl="2" indent="-326571">
              <a:defRPr sz="2400"/>
            </a:pPr>
            <a:r>
              <a:t>Assigns priority in range of 0 to 139</a:t>
            </a:r>
          </a:p>
          <a:p>
            <a:pPr marL="1533071" lvl="2" indent="-326571">
              <a:defRPr sz="2400"/>
            </a:pPr>
            <a:r>
              <a:t>140 different lists in </a:t>
            </a:r>
            <a:r>
              <a:rPr>
                <a:latin typeface="Courier New"/>
                <a:ea typeface="Courier New"/>
                <a:cs typeface="Courier New"/>
                <a:sym typeface="Courier New"/>
              </a:rPr>
              <a:t>runqueue</a:t>
            </a:r>
            <a:r>
              <a:t> structure</a:t>
            </a:r>
          </a:p>
          <a:p>
            <a:pPr marL="1533071" lvl="2" indent="-326571">
              <a:defRPr sz="2400"/>
            </a:pPr>
            <a:r>
              <a:t>Process descriptor linked into list of runnable processes with same priority</a:t>
            </a:r>
          </a:p>
          <a:p>
            <a:pPr marL="1533071" lvl="2" indent="-326571">
              <a:defRPr sz="2400"/>
            </a:pPr>
            <a:r>
              <a:t>On multiprocessor systems, each CPU has its own </a:t>
            </a:r>
            <a:r>
              <a:rPr>
                <a:latin typeface="Courier New"/>
                <a:ea typeface="Courier New"/>
                <a:cs typeface="Courier New"/>
                <a:sym typeface="Courier New"/>
              </a:rPr>
              <a:t>runqueue</a:t>
            </a:r>
            <a:r>
              <a:t> </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38" name="Every Linux process scheduled according to its scheduling class…"/>
          <p:cNvSpPr txBox="1">
            <a:spLocks noGrp="1"/>
          </p:cNvSpPr>
          <p:nvPr>
            <p:ph type="body" idx="1"/>
          </p:nvPr>
        </p:nvSpPr>
        <p:spPr>
          <a:xfrm>
            <a:off x="1270000" y="2768600"/>
            <a:ext cx="10972800" cy="6578600"/>
          </a:xfrm>
          <a:prstGeom prst="rect">
            <a:avLst/>
          </a:prstGeom>
        </p:spPr>
        <p:txBody>
          <a:bodyPr/>
          <a:lstStyle/>
          <a:p>
            <a:pPr marL="1533071" lvl="2" indent="-326571">
              <a:defRPr sz="2400"/>
            </a:pPr>
            <a:r>
              <a:t>Every Linux process scheduled according to its </a:t>
            </a:r>
            <a:r>
              <a:rPr i="1"/>
              <a:t>scheduling class</a:t>
            </a:r>
            <a:r>
              <a:t> </a:t>
            </a:r>
          </a:p>
          <a:p>
            <a:pPr marL="1533071" lvl="2" indent="-326571">
              <a:defRPr sz="2400"/>
            </a:pPr>
            <a:r>
              <a:rPr>
                <a:latin typeface="Courier New"/>
                <a:ea typeface="Courier New"/>
                <a:cs typeface="Courier New"/>
                <a:sym typeface="Courier New"/>
              </a:rPr>
              <a:t>SCHED_FIFO</a:t>
            </a:r>
            <a:r>
              <a:t>:  A FIFO real-time process</a:t>
            </a:r>
          </a:p>
          <a:p>
            <a:pPr marL="1977571" lvl="3" indent="-326571">
              <a:defRPr sz="2400"/>
            </a:pPr>
            <a:r>
              <a:t>When scheduler assigns CPU to the process, it leaves the process descriptor in its current position in </a:t>
            </a:r>
            <a:r>
              <a:rPr>
                <a:latin typeface="Courier New"/>
                <a:ea typeface="Courier New"/>
                <a:cs typeface="Courier New"/>
                <a:sym typeface="Courier New"/>
              </a:rPr>
              <a:t>runqueue</a:t>
            </a:r>
            <a:r>
              <a:t> </a:t>
            </a:r>
          </a:p>
          <a:p>
            <a:pPr marL="1977571" lvl="3" indent="-326571">
              <a:defRPr sz="2400"/>
            </a:pPr>
            <a:r>
              <a:t>If no other higher priority runnable real-time process, current process uses CPU as long as it needs even if there are other runnable real-time processes at same priority</a:t>
            </a:r>
          </a:p>
          <a:p>
            <a:pPr marL="1533071" lvl="2" indent="-326571">
              <a:defRPr sz="2400"/>
            </a:pPr>
            <a:r>
              <a:rPr>
                <a:latin typeface="Courier New"/>
                <a:ea typeface="Courier New"/>
                <a:cs typeface="Courier New"/>
                <a:sym typeface="Courier New"/>
              </a:rPr>
              <a:t>SCHED_RR</a:t>
            </a:r>
            <a:r>
              <a:t>: A round robin real-time process</a:t>
            </a:r>
          </a:p>
          <a:p>
            <a:pPr marL="1977571" lvl="3" indent="-326571">
              <a:defRPr sz="2400"/>
            </a:pPr>
            <a:r>
              <a:t>When a scheduler assigns CPU to the process, it leaves the process descriptor at the tail of </a:t>
            </a:r>
            <a:r>
              <a:rPr>
                <a:latin typeface="Courier New"/>
                <a:ea typeface="Courier New"/>
                <a:cs typeface="Courier New"/>
                <a:sym typeface="Courier New"/>
              </a:rPr>
              <a:t>runqueue</a:t>
            </a:r>
            <a:r>
              <a:t> </a:t>
            </a:r>
          </a:p>
          <a:p>
            <a:pPr marL="1977571" lvl="3" indent="-326571">
              <a:defRPr sz="2400"/>
            </a:pPr>
            <a:r>
              <a:t>Ensures a faire assignment of CPU time to all </a:t>
            </a:r>
            <a:r>
              <a:rPr>
                <a:latin typeface="Courier New"/>
                <a:ea typeface="Courier New"/>
                <a:cs typeface="Courier New"/>
                <a:sym typeface="Courier New"/>
              </a:rPr>
              <a:t>SCHED_RR</a:t>
            </a:r>
            <a:r>
              <a:t> real-time processes with same priority</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41" name="SCHED_NORMAL: Conventional time-shared process…"/>
          <p:cNvSpPr txBox="1">
            <a:spLocks noGrp="1"/>
          </p:cNvSpPr>
          <p:nvPr>
            <p:ph type="body" idx="1"/>
          </p:nvPr>
        </p:nvSpPr>
        <p:spPr>
          <a:xfrm>
            <a:off x="1270000" y="2768600"/>
            <a:ext cx="10972800" cy="6578600"/>
          </a:xfrm>
          <a:prstGeom prst="rect">
            <a:avLst/>
          </a:prstGeom>
        </p:spPr>
        <p:txBody>
          <a:bodyPr/>
          <a:lstStyle/>
          <a:p>
            <a:pPr marL="1533071" lvl="2" indent="-326571">
              <a:defRPr sz="2400"/>
            </a:pPr>
            <a:r>
              <a:t>SCHED_NORMAL: Conventional time-shared process</a:t>
            </a:r>
          </a:p>
          <a:p>
            <a:pPr marL="1977571" lvl="3" indent="-326571">
              <a:defRPr sz="2400"/>
            </a:pPr>
            <a:r>
              <a:t>Scheduling of a conventional process</a:t>
            </a:r>
          </a:p>
          <a:p>
            <a:pPr marL="2422071" lvl="4" indent="-326571">
              <a:defRPr sz="2400"/>
            </a:pPr>
            <a:r>
              <a:t>Each conventional process has its own static priority</a:t>
            </a:r>
          </a:p>
          <a:p>
            <a:pPr marL="2422071" lvl="4" indent="-326571">
              <a:defRPr sz="2400"/>
            </a:pPr>
            <a:r>
              <a:t>Static priority used by scheduler to rate process with respect to other conventional processes in system</a:t>
            </a:r>
          </a:p>
          <a:p>
            <a:pPr marL="2422071" lvl="4" indent="-326571">
              <a:defRPr sz="2400"/>
            </a:pPr>
            <a:r>
              <a:t>Static priority in range 100(highest) to 139(lowest)</a:t>
            </a:r>
          </a:p>
          <a:p>
            <a:pPr marL="2422071" lvl="4" indent="-326571">
              <a:defRPr sz="2400"/>
            </a:pPr>
            <a:r>
              <a:t>New process inherits static priority of its parent</a:t>
            </a:r>
          </a:p>
          <a:p>
            <a:pPr marL="2777671" lvl="5" indent="-326571">
              <a:spcBef>
                <a:spcPts val="2400"/>
              </a:spcBef>
              <a:defRPr sz="2400"/>
            </a:pPr>
            <a:r>
              <a:t>Can change with using nice(2) or setpriority(3c)</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44" name="Have an adjustable time quanta based on CPU use…"/>
          <p:cNvSpPr txBox="1">
            <a:spLocks noGrp="1"/>
          </p:cNvSpPr>
          <p:nvPr>
            <p:ph type="body" idx="1"/>
          </p:nvPr>
        </p:nvSpPr>
        <p:spPr>
          <a:xfrm>
            <a:off x="1270000" y="2755900"/>
            <a:ext cx="10972800" cy="6578600"/>
          </a:xfrm>
          <a:prstGeom prst="rect">
            <a:avLst/>
          </a:prstGeom>
        </p:spPr>
        <p:txBody>
          <a:bodyPr/>
          <a:lstStyle/>
          <a:p>
            <a:pPr marL="1533071" lvl="2" indent="-326571">
              <a:defRPr sz="2400"/>
            </a:pPr>
            <a:r>
              <a:t>Have an adjustable time quanta based on CPU use</a:t>
            </a:r>
          </a:p>
          <a:p>
            <a:pPr marL="1977571" lvl="3" indent="-326571">
              <a:defRPr sz="2400"/>
            </a:pPr>
            <a:r>
              <a:t>Q</a:t>
            </a:r>
            <a:r>
              <a:rPr baseline="-5999"/>
              <a:t>b</a:t>
            </a:r>
            <a:r>
              <a:t> time quantum in ms</a:t>
            </a:r>
          </a:p>
          <a:p>
            <a:pPr marL="1977571" lvl="3" indent="-326571">
              <a:defRPr sz="2400"/>
            </a:pPr>
            <a:r>
              <a:t>Based on its static priority </a:t>
            </a:r>
            <a:r>
              <a:rPr i="1"/>
              <a:t>P</a:t>
            </a:r>
            <a:r>
              <a:rPr sz="2300" i="1" baseline="-5999"/>
              <a:t>s</a:t>
            </a:r>
            <a:endParaRPr sz="2300"/>
          </a:p>
          <a:p>
            <a:pPr marL="1977571" lvl="3" indent="-326571">
              <a:defRPr sz="2400"/>
            </a:pPr>
            <a:endParaRPr sz="2300"/>
          </a:p>
          <a:p>
            <a:pPr marL="1977571" lvl="3" indent="-326571">
              <a:defRPr sz="2400"/>
            </a:pPr>
            <a:endParaRPr sz="2300"/>
          </a:p>
          <a:p>
            <a:pPr marL="1963964" lvl="3" indent="-312964">
              <a:defRPr sz="2400"/>
            </a:pPr>
            <a:r>
              <a:rPr sz="2300"/>
              <a:t>Higher the static priority (lower its numerical value), longer the base quantum</a:t>
            </a:r>
          </a:p>
        </p:txBody>
      </p:sp>
      <p:pic>
        <p:nvPicPr>
          <p:cNvPr id="445" name="Timequantum.png" descr="Timequantum.png"/>
          <p:cNvPicPr>
            <a:picLocks noChangeAspect="1"/>
          </p:cNvPicPr>
          <p:nvPr/>
        </p:nvPicPr>
        <p:blipFill>
          <a:blip r:embed="rId2"/>
          <a:stretch>
            <a:fillRect/>
          </a:stretch>
        </p:blipFill>
        <p:spPr>
          <a:xfrm>
            <a:off x="2908300" y="5969000"/>
            <a:ext cx="4394200" cy="929171"/>
          </a:xfrm>
          <a:prstGeom prst="rect">
            <a:avLst/>
          </a:prstGeom>
          <a:ln w="12700">
            <a:miter lim="400000"/>
          </a:ln>
        </p:spPr>
      </p:pic>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48" name="Dynamic priority Pd and average sleep time…"/>
          <p:cNvSpPr txBox="1">
            <a:spLocks noGrp="1"/>
          </p:cNvSpPr>
          <p:nvPr>
            <p:ph type="body" idx="1"/>
          </p:nvPr>
        </p:nvSpPr>
        <p:spPr>
          <a:xfrm>
            <a:off x="1155700" y="2832100"/>
            <a:ext cx="10972800" cy="6578600"/>
          </a:xfrm>
          <a:prstGeom prst="rect">
            <a:avLst/>
          </a:prstGeom>
        </p:spPr>
        <p:txBody>
          <a:bodyPr/>
          <a:lstStyle/>
          <a:p>
            <a:pPr marL="1533071" lvl="2" indent="-326571">
              <a:defRPr sz="2400"/>
            </a:pPr>
            <a:r>
              <a:t>Dynamic priority </a:t>
            </a:r>
            <a:r>
              <a:rPr i="1"/>
              <a:t>P</a:t>
            </a:r>
            <a:r>
              <a:rPr i="1" baseline="-5999"/>
              <a:t>d</a:t>
            </a:r>
            <a:r>
              <a:t> and average sleep time</a:t>
            </a:r>
          </a:p>
          <a:p>
            <a:pPr marL="1977571" lvl="3" indent="-326571">
              <a:defRPr sz="2400"/>
            </a:pPr>
            <a:r>
              <a:t>Ranges from 100 (highest) to 139 (lowest)</a:t>
            </a:r>
          </a:p>
          <a:p>
            <a:pPr marL="1977571" lvl="3" indent="-326571">
              <a:defRPr sz="2400"/>
            </a:pPr>
            <a:r>
              <a:t>Actual priority used by scheduler to select a new process to run</a:t>
            </a:r>
          </a:p>
          <a:p>
            <a:pPr marL="1977571" lvl="3" indent="-326571">
              <a:defRPr sz="2400"/>
            </a:pPr>
            <a:endParaRPr/>
          </a:p>
          <a:p>
            <a:pPr marL="1977571" lvl="3" indent="-326571">
              <a:defRPr sz="2400"/>
            </a:pPr>
            <a:endParaRPr/>
          </a:p>
          <a:p>
            <a:pPr marL="1977571" lvl="3" indent="-326571">
              <a:defRPr sz="2400"/>
            </a:pPr>
            <a:r>
              <a:t>b is a bonus value ranging from 0 to 10</a:t>
            </a:r>
          </a:p>
          <a:p>
            <a:pPr marL="1977571" lvl="3" indent="-326571">
              <a:defRPr sz="2400"/>
            </a:pPr>
            <a:r>
              <a:t>b &lt; 5 is a penalty to lower P</a:t>
            </a:r>
            <a:r>
              <a:rPr baseline="-5999"/>
              <a:t>d</a:t>
            </a:r>
          </a:p>
          <a:p>
            <a:pPr marL="1977571" lvl="3" indent="-326571">
              <a:defRPr sz="2400"/>
            </a:pPr>
            <a:r>
              <a:t>b &gt; 5 raises P</a:t>
            </a:r>
            <a:r>
              <a:rPr baseline="-5999"/>
              <a:t>d</a:t>
            </a:r>
          </a:p>
          <a:p>
            <a:pPr marL="1977571" lvl="3" indent="-326571">
              <a:defRPr sz="2400"/>
            </a:pPr>
            <a:r>
              <a:t>b depends on past history of the process</a:t>
            </a:r>
          </a:p>
          <a:p>
            <a:pPr marL="2422071" lvl="4" indent="-326571">
              <a:defRPr sz="2400"/>
            </a:pPr>
            <a:r>
              <a:t>Related to average sleep time</a:t>
            </a:r>
          </a:p>
        </p:txBody>
      </p:sp>
      <p:sp>
        <p:nvSpPr>
          <p:cNvPr id="449" name="Pd = max(100, min(Ps - b + 5, 139))"/>
          <p:cNvSpPr txBox="1"/>
          <p:nvPr/>
        </p:nvSpPr>
        <p:spPr>
          <a:xfrm>
            <a:off x="2865859" y="5232400"/>
            <a:ext cx="6870701" cy="444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defRPr sz="2400">
                <a:latin typeface="Courier New"/>
                <a:ea typeface="Courier New"/>
                <a:cs typeface="Courier New"/>
                <a:sym typeface="Courier New"/>
              </a:defRPr>
            </a:pPr>
            <a:r>
              <a:rPr i="1"/>
              <a:t>P</a:t>
            </a:r>
            <a:r>
              <a:rPr i="1" baseline="-5999"/>
              <a:t>d</a:t>
            </a:r>
            <a:r>
              <a:t> = max(100, min(</a:t>
            </a:r>
            <a:r>
              <a:rPr i="1"/>
              <a:t>P</a:t>
            </a:r>
            <a:r>
              <a:rPr i="1" baseline="-5999"/>
              <a:t>s</a:t>
            </a:r>
            <a:r>
              <a:t> - </a:t>
            </a:r>
            <a:r>
              <a:rPr i="1"/>
              <a:t>b</a:t>
            </a:r>
            <a:r>
              <a:t> + 5, 139))</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52" name="Average sleep time…"/>
          <p:cNvSpPr txBox="1">
            <a:spLocks noGrp="1"/>
          </p:cNvSpPr>
          <p:nvPr>
            <p:ph type="body" idx="1"/>
          </p:nvPr>
        </p:nvSpPr>
        <p:spPr>
          <a:xfrm>
            <a:off x="1270000" y="2768600"/>
            <a:ext cx="11391900" cy="6578600"/>
          </a:xfrm>
          <a:prstGeom prst="rect">
            <a:avLst/>
          </a:prstGeom>
        </p:spPr>
        <p:txBody>
          <a:bodyPr/>
          <a:lstStyle/>
          <a:p>
            <a:pPr marL="1533071" lvl="2" indent="-326571">
              <a:defRPr sz="2400"/>
            </a:pPr>
            <a:r>
              <a:t>Average sleep time</a:t>
            </a:r>
          </a:p>
          <a:p>
            <a:pPr marL="1977571" lvl="3" indent="-326571">
              <a:defRPr sz="2400"/>
            </a:pPr>
            <a:r>
              <a:t>Given by average number of nanoseconds spent by process in sleep state</a:t>
            </a:r>
          </a:p>
          <a:p>
            <a:pPr marL="1977571" lvl="3" indent="-326571">
              <a:defRPr sz="2400"/>
            </a:pPr>
            <a:r>
              <a:t>Sleeping in </a:t>
            </a:r>
            <a:r>
              <a:rPr>
                <a:latin typeface="Courier New"/>
                <a:ea typeface="Courier New"/>
                <a:cs typeface="Courier New"/>
                <a:sym typeface="Courier New"/>
              </a:rPr>
              <a:t>TASK_INTERRUPTIBLE</a:t>
            </a:r>
            <a:r>
              <a:t> state contributes to average sleep time in a different way from sleeping in </a:t>
            </a:r>
            <a:r>
              <a:rPr>
                <a:latin typeface="Courier New"/>
                <a:ea typeface="Courier New"/>
                <a:cs typeface="Courier New"/>
                <a:sym typeface="Courier New"/>
              </a:rPr>
              <a:t>TASK_UNINTERRUPTIBLE</a:t>
            </a:r>
          </a:p>
          <a:p>
            <a:pPr marL="1977571" lvl="3" indent="-326571">
              <a:defRPr sz="2400"/>
            </a:pPr>
            <a:r>
              <a:t>Average sleep time decreases while process is running</a:t>
            </a:r>
          </a:p>
          <a:p>
            <a:pPr marL="1977571" lvl="3" indent="-326571">
              <a:defRPr sz="2400"/>
            </a:pPr>
            <a:r>
              <a:t>Can never become larger than 1s</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55" name="Average sleeptime is also used to differentiate between batch/interactive…"/>
          <p:cNvSpPr txBox="1">
            <a:spLocks noGrp="1"/>
          </p:cNvSpPr>
          <p:nvPr>
            <p:ph type="body" idx="1"/>
          </p:nvPr>
        </p:nvSpPr>
        <p:spPr>
          <a:xfrm>
            <a:off x="1270000" y="2768600"/>
            <a:ext cx="10972800" cy="6578600"/>
          </a:xfrm>
          <a:prstGeom prst="rect">
            <a:avLst/>
          </a:prstGeom>
        </p:spPr>
        <p:txBody>
          <a:bodyPr/>
          <a:lstStyle/>
          <a:p>
            <a:pPr marL="1533071" lvl="2" indent="-326571">
              <a:defRPr sz="2400"/>
            </a:pPr>
            <a:r>
              <a:t>Average sleeptime is also used to differentiate between batch/interactive</a:t>
            </a:r>
          </a:p>
          <a:p>
            <a:pPr marL="1977571" lvl="3" indent="-326571">
              <a:defRPr sz="2400"/>
            </a:pPr>
            <a:r>
              <a:t>Interactive if it satisfies either of these equivalent statements</a:t>
            </a:r>
          </a:p>
        </p:txBody>
      </p:sp>
      <p:sp>
        <p:nvSpPr>
          <p:cNvPr id="456" name="Pd &lt;= 3 * Ps / 4 + 28…"/>
          <p:cNvSpPr txBox="1"/>
          <p:nvPr/>
        </p:nvSpPr>
        <p:spPr>
          <a:xfrm>
            <a:off x="3310359" y="7467600"/>
            <a:ext cx="6870701" cy="1130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defRPr sz="2400">
                <a:latin typeface="Courier New"/>
                <a:ea typeface="Courier New"/>
                <a:cs typeface="Courier New"/>
                <a:sym typeface="Courier New"/>
              </a:defRPr>
            </a:pPr>
            <a:r>
              <a:rPr i="1"/>
              <a:t>P</a:t>
            </a:r>
            <a:r>
              <a:rPr i="1" baseline="-5999"/>
              <a:t>d</a:t>
            </a:r>
            <a:r>
              <a:t> &lt;= 3 * </a:t>
            </a:r>
            <a:r>
              <a:rPr i="1"/>
              <a:t>P</a:t>
            </a:r>
            <a:r>
              <a:rPr i="1" baseline="-5999"/>
              <a:t>s</a:t>
            </a:r>
            <a:r>
              <a:t> / 4 + 28</a:t>
            </a:r>
          </a:p>
          <a:p>
            <a:pPr>
              <a:defRPr sz="2400">
                <a:latin typeface="Courier New"/>
                <a:ea typeface="Courier New"/>
                <a:cs typeface="Courier New"/>
                <a:sym typeface="Courier New"/>
              </a:defRPr>
            </a:pPr>
            <a:r>
              <a:t>or</a:t>
            </a:r>
          </a:p>
          <a:p>
            <a:pPr>
              <a:defRPr sz="2400">
                <a:latin typeface="Courier New"/>
                <a:ea typeface="Courier New"/>
                <a:cs typeface="Courier New"/>
                <a:sym typeface="Courier New"/>
              </a:defRPr>
            </a:pPr>
            <a:r>
              <a:rPr i="1"/>
              <a:t>b</a:t>
            </a:r>
            <a:r>
              <a:t> - 5 &gt;= </a:t>
            </a:r>
            <a:r>
              <a:rPr i="1"/>
              <a:t>P</a:t>
            </a:r>
            <a:r>
              <a:rPr i="1" baseline="-5999"/>
              <a:t>s</a:t>
            </a:r>
            <a:r>
              <a:t> / 4 - 28</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Average sleep time"/>
          <p:cNvSpPr txBox="1">
            <a:spLocks noGrp="1"/>
          </p:cNvSpPr>
          <p:nvPr>
            <p:ph type="title"/>
          </p:nvPr>
        </p:nvSpPr>
        <p:spPr>
          <a:prstGeom prst="rect">
            <a:avLst/>
          </a:prstGeom>
        </p:spPr>
        <p:txBody>
          <a:bodyPr/>
          <a:lstStyle>
            <a:lvl1pPr>
              <a:defRPr sz="6400"/>
            </a:lvl1pPr>
          </a:lstStyle>
          <a:p>
            <a:r>
              <a:t>Average sleep time</a:t>
            </a:r>
          </a:p>
        </p:txBody>
      </p:sp>
      <p:pic>
        <p:nvPicPr>
          <p:cNvPr id="459" name="AverageSleepTable.png" descr="AverageSleepTable.png"/>
          <p:cNvPicPr>
            <a:picLocks noChangeAspect="1"/>
          </p:cNvPicPr>
          <p:nvPr/>
        </p:nvPicPr>
        <p:blipFill>
          <a:blip r:embed="rId2"/>
          <a:stretch>
            <a:fillRect/>
          </a:stretch>
        </p:blipFill>
        <p:spPr>
          <a:xfrm>
            <a:off x="3213100" y="3289300"/>
            <a:ext cx="6566589" cy="4660900"/>
          </a:xfrm>
          <a:prstGeom prst="rect">
            <a:avLst/>
          </a:prstGeom>
          <a:ln w="12700">
            <a:miter lim="400000"/>
          </a:ln>
        </p:spPr>
      </p:pic>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62" name="Interactive delta Δi…"/>
          <p:cNvSpPr txBox="1">
            <a:spLocks noGrp="1"/>
          </p:cNvSpPr>
          <p:nvPr>
            <p:ph type="body" idx="1"/>
          </p:nvPr>
        </p:nvSpPr>
        <p:spPr>
          <a:xfrm>
            <a:off x="1270000" y="2768600"/>
            <a:ext cx="10972800" cy="6578600"/>
          </a:xfrm>
          <a:prstGeom prst="rect">
            <a:avLst/>
          </a:prstGeom>
        </p:spPr>
        <p:txBody>
          <a:bodyPr/>
          <a:lstStyle/>
          <a:p>
            <a:pPr marL="1533071" lvl="2" indent="-326571">
              <a:defRPr sz="2400"/>
            </a:pPr>
            <a:r>
              <a:t>Interactive delta Δ</a:t>
            </a:r>
            <a:r>
              <a:rPr baseline="-5999"/>
              <a:t>i</a:t>
            </a:r>
          </a:p>
          <a:p>
            <a:pPr marL="1977571" lvl="3" indent="-326571">
              <a:defRPr sz="2400"/>
            </a:pPr>
            <a:r>
              <a:t>Given by </a:t>
            </a:r>
            <a:r>
              <a:rPr i="1">
                <a:latin typeface="Courier New"/>
                <a:ea typeface="Courier New"/>
                <a:cs typeface="Courier New"/>
                <a:sym typeface="Courier New"/>
              </a:rPr>
              <a:t>P</a:t>
            </a:r>
            <a:r>
              <a:rPr i="1" baseline="-5999">
                <a:latin typeface="Courier New"/>
                <a:ea typeface="Courier New"/>
                <a:cs typeface="Courier New"/>
                <a:sym typeface="Courier New"/>
              </a:rPr>
              <a:t>s</a:t>
            </a:r>
            <a:r>
              <a:rPr>
                <a:latin typeface="Courier New"/>
                <a:ea typeface="Courier New"/>
                <a:cs typeface="Courier New"/>
                <a:sym typeface="Courier New"/>
              </a:rPr>
              <a:t> / 4 - 28</a:t>
            </a:r>
          </a:p>
          <a:p>
            <a:pPr marL="1977571" lvl="3" indent="-326571">
              <a:defRPr sz="2400"/>
            </a:pPr>
            <a:r>
              <a:t>Easier for higher priority processes to become interactive</a:t>
            </a:r>
          </a:p>
          <a:p>
            <a:pPr marL="1977571" lvl="3" indent="-326571">
              <a:defRPr sz="2400"/>
            </a:pPr>
            <a:r>
              <a:t>A process with 100 priority is considered interactive if b &gt; 2</a:t>
            </a:r>
          </a:p>
          <a:p>
            <a:pPr marL="2422071" lvl="4" indent="-326571">
              <a:defRPr sz="2400"/>
            </a:pPr>
            <a:r>
              <a:t>Or average sleep time &gt; 200ms</a:t>
            </a:r>
          </a:p>
          <a:p>
            <a:pPr marL="1977571" lvl="3" indent="-326571">
              <a:defRPr sz="2400"/>
            </a:pPr>
            <a:r>
              <a:t>Process with 139 priority is never considered interactive</a:t>
            </a:r>
          </a:p>
          <a:p>
            <a:pPr marL="2422071" lvl="4" indent="-326571">
              <a:defRPr sz="2400"/>
            </a:pPr>
            <a:r>
              <a:t>b is always less than 100</a:t>
            </a:r>
          </a:p>
          <a:p>
            <a:pPr marL="1977571" lvl="3" indent="-326571">
              <a:defRPr sz="2400"/>
            </a:pPr>
            <a:r>
              <a:t>Process with priority of 120 becomes interactive as soon as average sleeptime exceeds 700ms</a:t>
            </a: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65" name="Sleep threshold Θs"/>
          <p:cNvSpPr txBox="1">
            <a:spLocks noGrp="1"/>
          </p:cNvSpPr>
          <p:nvPr>
            <p:ph type="body" sz="quarter" idx="1"/>
          </p:nvPr>
        </p:nvSpPr>
        <p:spPr>
          <a:xfrm>
            <a:off x="1257300" y="3263900"/>
            <a:ext cx="10972800" cy="419100"/>
          </a:xfrm>
          <a:prstGeom prst="rect">
            <a:avLst/>
          </a:prstGeom>
        </p:spPr>
        <p:txBody>
          <a:bodyPr/>
          <a:lstStyle/>
          <a:p>
            <a:pPr marL="1533071" lvl="2" indent="-326571">
              <a:defRPr sz="2400"/>
            </a:pPr>
            <a:r>
              <a:t>Sleep threshold Θ</a:t>
            </a:r>
            <a:r>
              <a:rPr baseline="-5999"/>
              <a:t>s</a:t>
            </a:r>
          </a:p>
        </p:txBody>
      </p:sp>
      <p:pic>
        <p:nvPicPr>
          <p:cNvPr id="466" name="PriorityValues.png" descr="PriorityValues.png"/>
          <p:cNvPicPr>
            <a:picLocks noChangeAspect="1"/>
          </p:cNvPicPr>
          <p:nvPr/>
        </p:nvPicPr>
        <p:blipFill>
          <a:blip r:embed="rId2"/>
          <a:stretch>
            <a:fillRect/>
          </a:stretch>
        </p:blipFill>
        <p:spPr>
          <a:xfrm>
            <a:off x="1816100" y="4267200"/>
            <a:ext cx="9372600" cy="3025800"/>
          </a:xfrm>
          <a:prstGeom prst="rect">
            <a:avLst/>
          </a:prstGeom>
          <a:ln w="12700">
            <a:miter lim="400000"/>
          </a:ln>
        </p:spPr>
      </p:pic>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69" name="Scheduling of real-time processes…"/>
          <p:cNvSpPr txBox="1">
            <a:spLocks noGrp="1"/>
          </p:cNvSpPr>
          <p:nvPr>
            <p:ph type="body" idx="1"/>
          </p:nvPr>
        </p:nvSpPr>
        <p:spPr>
          <a:xfrm>
            <a:off x="1270000" y="2768600"/>
            <a:ext cx="10972800" cy="6578600"/>
          </a:xfrm>
          <a:prstGeom prst="rect">
            <a:avLst/>
          </a:prstGeom>
        </p:spPr>
        <p:txBody>
          <a:bodyPr/>
          <a:lstStyle/>
          <a:p>
            <a:pPr marL="1533071" lvl="2" indent="-326571">
              <a:defRPr sz="2400"/>
            </a:pPr>
            <a:r>
              <a:t>Scheduling of real-time processes</a:t>
            </a:r>
          </a:p>
          <a:p>
            <a:pPr marL="1977571" lvl="3" indent="-326571">
              <a:defRPr sz="2400"/>
            </a:pPr>
            <a:r>
              <a:t>Real-time priority ranges from 1 (highest) to 99 (lowest)</a:t>
            </a:r>
          </a:p>
          <a:p>
            <a:pPr marL="1977571" lvl="3" indent="-326571">
              <a:defRPr sz="2400"/>
            </a:pPr>
            <a:r>
              <a:t>Scheduler always favors higher priority runnable process over a lower priority one</a:t>
            </a:r>
          </a:p>
          <a:p>
            <a:pPr marL="1977571" lvl="3" indent="-326571">
              <a:defRPr sz="2400"/>
            </a:pPr>
            <a:r>
              <a:t>Real-time processes always considered active</a:t>
            </a:r>
          </a:p>
          <a:p>
            <a:pPr marL="1977571" lvl="3" indent="-326571">
              <a:defRPr sz="2400"/>
            </a:pPr>
            <a:r>
              <a:t>If there are several real-time runnable processes at same priority, scheduler chooses the process that occurs first in the corresponding list of local CPU’s </a:t>
            </a:r>
            <a:r>
              <a:rPr>
                <a:latin typeface="Courier New"/>
                <a:ea typeface="Courier New"/>
                <a:cs typeface="Courier New"/>
                <a:sym typeface="Courier New"/>
              </a:rPr>
              <a:t>runqueue</a:t>
            </a:r>
            <a:r>
              <a:t> </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72" name="Active and expired processes…"/>
          <p:cNvSpPr txBox="1">
            <a:spLocks noGrp="1"/>
          </p:cNvSpPr>
          <p:nvPr>
            <p:ph type="body" idx="1"/>
          </p:nvPr>
        </p:nvSpPr>
        <p:spPr>
          <a:xfrm>
            <a:off x="1270000" y="2768600"/>
            <a:ext cx="10972800" cy="6578600"/>
          </a:xfrm>
          <a:prstGeom prst="rect">
            <a:avLst/>
          </a:prstGeom>
        </p:spPr>
        <p:txBody>
          <a:bodyPr/>
          <a:lstStyle/>
          <a:p>
            <a:pPr marL="1533071" lvl="2" indent="-326571">
              <a:defRPr sz="2400"/>
            </a:pPr>
            <a:r>
              <a:t>Active and expired processes</a:t>
            </a:r>
          </a:p>
          <a:p>
            <a:pPr marL="1977571" lvl="3" indent="-326571">
              <a:defRPr sz="2400"/>
            </a:pPr>
            <a:r>
              <a:t>processes with higher </a:t>
            </a:r>
            <a:r>
              <a:rPr>
                <a:latin typeface="Courier New"/>
                <a:ea typeface="Courier New"/>
                <a:cs typeface="Courier New"/>
                <a:sym typeface="Courier New"/>
              </a:rPr>
              <a:t>P</a:t>
            </a:r>
            <a:r>
              <a:rPr baseline="-5999">
                <a:latin typeface="Courier New"/>
                <a:ea typeface="Courier New"/>
                <a:cs typeface="Courier New"/>
                <a:sym typeface="Courier New"/>
              </a:rPr>
              <a:t>s</a:t>
            </a:r>
            <a:r>
              <a:t> get larger slice of CPU time but they should not completely lock out processes with lower </a:t>
            </a:r>
            <a:r>
              <a:rPr>
                <a:latin typeface="Courier New"/>
                <a:ea typeface="Courier New"/>
                <a:cs typeface="Courier New"/>
                <a:sym typeface="Courier New"/>
              </a:rPr>
              <a:t>P</a:t>
            </a:r>
            <a:r>
              <a:rPr baseline="-5999">
                <a:latin typeface="Courier New"/>
                <a:ea typeface="Courier New"/>
                <a:cs typeface="Courier New"/>
                <a:sym typeface="Courier New"/>
              </a:rPr>
              <a:t>s</a:t>
            </a:r>
          </a:p>
          <a:p>
            <a:pPr marL="1977571" lvl="3" indent="-326571">
              <a:defRPr sz="2400"/>
            </a:pPr>
            <a:r>
              <a:t>Process starvation is avoided by scheduling a lower priority process whose time quantum has not been exhausted when a higher priority process finishes its quantum</a:t>
            </a:r>
          </a:p>
          <a:p>
            <a:pPr marL="1977571" lvl="3" indent="-326571">
              <a:defRPr sz="2400"/>
            </a:pPr>
            <a:r>
              <a:t>Active processes:</a:t>
            </a:r>
          </a:p>
          <a:p>
            <a:pPr marL="2422071" lvl="4" indent="-326571">
              <a:defRPr sz="2400"/>
            </a:pPr>
            <a:r>
              <a:t>Runnable processes that have not exhausted their time quantum and are allowed to run</a:t>
            </a:r>
          </a:p>
          <a:p>
            <a:pPr marL="1977571" lvl="3" indent="-326571">
              <a:defRPr sz="2400"/>
            </a:pPr>
            <a:r>
              <a:t>Expired processes:</a:t>
            </a:r>
          </a:p>
          <a:p>
            <a:pPr marL="2422071" lvl="4" indent="-326571">
              <a:defRPr sz="2400"/>
            </a:pPr>
            <a:r>
              <a:t>Runnable processes that have exhausted their time quantum and are forbidden to run until all active processes expire</a:t>
            </a: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runqueue"/>
          <p:cNvSpPr txBox="1">
            <a:spLocks noGrp="1"/>
          </p:cNvSpPr>
          <p:nvPr>
            <p:ph type="title"/>
          </p:nvPr>
        </p:nvSpPr>
        <p:spPr>
          <a:prstGeom prst="rect">
            <a:avLst/>
          </a:prstGeom>
        </p:spPr>
        <p:txBody>
          <a:bodyPr/>
          <a:lstStyle>
            <a:lvl1pPr>
              <a:defRPr sz="6400"/>
            </a:lvl1pPr>
          </a:lstStyle>
          <a:p>
            <a:r>
              <a:t>runqueue</a:t>
            </a:r>
          </a:p>
        </p:txBody>
      </p:sp>
      <p:sp>
        <p:nvSpPr>
          <p:cNvPr id="475" name="struct runqueue {…"/>
          <p:cNvSpPr txBox="1"/>
          <p:nvPr/>
        </p:nvSpPr>
        <p:spPr>
          <a:xfrm>
            <a:off x="480944" y="2241550"/>
            <a:ext cx="12026901" cy="721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1800">
                <a:latin typeface="Courier New"/>
                <a:ea typeface="Courier New"/>
                <a:cs typeface="Courier New"/>
                <a:sym typeface="Courier New"/>
              </a:defRPr>
            </a:pPr>
            <a:r>
              <a:t>struct runqueue {</a:t>
            </a:r>
          </a:p>
          <a:p>
            <a:pPr algn="l">
              <a:defRPr sz="1800">
                <a:latin typeface="Courier New"/>
                <a:ea typeface="Courier New"/>
                <a:cs typeface="Courier New"/>
                <a:sym typeface="Courier New"/>
              </a:defRPr>
            </a:pPr>
            <a:r>
              <a:t>    spinlock_t     lock;        /* spin lock which protects this</a:t>
            </a:r>
          </a:p>
          <a:p>
            <a:pPr algn="l">
              <a:defRPr sz="1800">
                <a:latin typeface="Courier New"/>
                <a:ea typeface="Courier New"/>
                <a:cs typeface="Courier New"/>
                <a:sym typeface="Courier New"/>
              </a:defRPr>
            </a:pPr>
            <a:r>
              <a:t>                                   runqueue */</a:t>
            </a:r>
          </a:p>
          <a:p>
            <a:pPr algn="l">
              <a:defRPr sz="1800">
                <a:latin typeface="Courier New"/>
                <a:ea typeface="Courier New"/>
                <a:cs typeface="Courier New"/>
                <a:sym typeface="Courier New"/>
              </a:defRPr>
            </a:pPr>
            <a:r>
              <a:t>    unsigned long    nr_running;     /* number of runnable tasks */</a:t>
            </a:r>
          </a:p>
          <a:p>
            <a:pPr algn="l">
              <a:defRPr sz="1800">
                <a:latin typeface="Courier New"/>
                <a:ea typeface="Courier New"/>
                <a:cs typeface="Courier New"/>
                <a:sym typeface="Courier New"/>
              </a:defRPr>
            </a:pPr>
            <a:r>
              <a:t>    unsigned long    nr_switches;     /* number of contextswitches */</a:t>
            </a:r>
          </a:p>
          <a:p>
            <a:pPr algn="l">
              <a:defRPr sz="1800">
                <a:latin typeface="Courier New"/>
                <a:ea typeface="Courier New"/>
                <a:cs typeface="Courier New"/>
                <a:sym typeface="Courier New"/>
              </a:defRPr>
            </a:pPr>
            <a:r>
              <a:t>    unsigned long    expired_timestamp;  /* time of last array swap */</a:t>
            </a:r>
          </a:p>
          <a:p>
            <a:pPr algn="l">
              <a:defRPr sz="1800">
                <a:latin typeface="Courier New"/>
                <a:ea typeface="Courier New"/>
                <a:cs typeface="Courier New"/>
                <a:sym typeface="Courier New"/>
              </a:defRPr>
            </a:pPr>
            <a:r>
              <a:t>    unsigned long    nr_uninterruptible; /* number of tasks in</a:t>
            </a:r>
          </a:p>
          <a:p>
            <a:pPr algn="l">
              <a:defRPr sz="1800">
                <a:latin typeface="Courier New"/>
                <a:ea typeface="Courier New"/>
                <a:cs typeface="Courier New"/>
                <a:sym typeface="Courier New"/>
              </a:defRPr>
            </a:pPr>
            <a:r>
              <a:t>                                               uinterruptible sleep */</a:t>
            </a:r>
          </a:p>
          <a:p>
            <a:pPr algn="l">
              <a:defRPr sz="1800">
                <a:latin typeface="Courier New"/>
                <a:ea typeface="Courier New"/>
                <a:cs typeface="Courier New"/>
                <a:sym typeface="Courier New"/>
              </a:defRPr>
            </a:pPr>
            <a:r>
              <a:t>    struct task_struct *curr;        /* this processor's currently</a:t>
            </a:r>
          </a:p>
          <a:p>
            <a:pPr algn="l">
              <a:defRPr sz="1800">
                <a:latin typeface="Courier New"/>
                <a:ea typeface="Courier New"/>
                <a:cs typeface="Courier New"/>
                <a:sym typeface="Courier New"/>
              </a:defRPr>
            </a:pPr>
            <a:r>
              <a:t>                                      running task */</a:t>
            </a:r>
          </a:p>
          <a:p>
            <a:pPr algn="l">
              <a:defRPr sz="1800">
                <a:latin typeface="Courier New"/>
                <a:ea typeface="Courier New"/>
                <a:cs typeface="Courier New"/>
                <a:sym typeface="Courier New"/>
              </a:defRPr>
            </a:pPr>
            <a:r>
              <a:t>    struct task_struct *idle;        /* this processor's idle task */</a:t>
            </a:r>
          </a:p>
          <a:p>
            <a:pPr algn="l">
              <a:defRPr sz="1800">
                <a:latin typeface="Courier New"/>
                <a:ea typeface="Courier New"/>
                <a:cs typeface="Courier New"/>
                <a:sym typeface="Courier New"/>
              </a:defRPr>
            </a:pPr>
            <a:r>
              <a:t>    struct mm_struct  *prev_mm;      /* mm_struct of last running task</a:t>
            </a:r>
          </a:p>
          <a:p>
            <a:pPr algn="l">
              <a:defRPr sz="1800">
                <a:latin typeface="Courier New"/>
                <a:ea typeface="Courier New"/>
                <a:cs typeface="Courier New"/>
                <a:sym typeface="Courier New"/>
              </a:defRPr>
            </a:pPr>
            <a:r>
              <a:t>                                      */</a:t>
            </a:r>
          </a:p>
          <a:p>
            <a:pPr algn="l">
              <a:defRPr sz="1800">
                <a:latin typeface="Courier New"/>
                <a:ea typeface="Courier New"/>
                <a:cs typeface="Courier New"/>
                <a:sym typeface="Courier New"/>
              </a:defRPr>
            </a:pPr>
            <a:r>
              <a:t>    struct prio_array  *active;       /* pointer to the active priority</a:t>
            </a:r>
          </a:p>
          <a:p>
            <a:pPr algn="l">
              <a:defRPr sz="1800">
                <a:latin typeface="Courier New"/>
                <a:ea typeface="Courier New"/>
                <a:cs typeface="Courier New"/>
                <a:sym typeface="Courier New"/>
              </a:defRPr>
            </a:pPr>
            <a:r>
              <a:t>                                        array */</a:t>
            </a:r>
          </a:p>
          <a:p>
            <a:pPr algn="l">
              <a:defRPr sz="1800">
                <a:latin typeface="Courier New"/>
                <a:ea typeface="Courier New"/>
                <a:cs typeface="Courier New"/>
                <a:sym typeface="Courier New"/>
              </a:defRPr>
            </a:pPr>
            <a:r>
              <a:t>    struct prio_array  *expired;      /* pointer to the expired</a:t>
            </a:r>
          </a:p>
          <a:p>
            <a:pPr algn="l">
              <a:defRPr sz="1800">
                <a:latin typeface="Courier New"/>
                <a:ea typeface="Courier New"/>
                <a:cs typeface="Courier New"/>
                <a:sym typeface="Courier New"/>
              </a:defRPr>
            </a:pPr>
            <a:r>
              <a:t>                                         priority array */</a:t>
            </a:r>
          </a:p>
          <a:p>
            <a:pPr algn="l">
              <a:defRPr sz="1800">
                <a:latin typeface="Courier New"/>
                <a:ea typeface="Courier New"/>
                <a:cs typeface="Courier New"/>
                <a:sym typeface="Courier New"/>
              </a:defRPr>
            </a:pPr>
            <a:r>
              <a:t>    struct prio_array  arrays[2];      /* the actual priority arrays */</a:t>
            </a:r>
          </a:p>
          <a:p>
            <a:pPr algn="l">
              <a:defRPr sz="1800">
                <a:latin typeface="Courier New"/>
                <a:ea typeface="Courier New"/>
                <a:cs typeface="Courier New"/>
                <a:sym typeface="Courier New"/>
              </a:defRPr>
            </a:pPr>
            <a:r>
              <a:t>    int         prev_cpu_load[NR_CPUS];/* load on each processor */</a:t>
            </a:r>
          </a:p>
          <a:p>
            <a:pPr algn="l">
              <a:defRPr sz="1800">
                <a:latin typeface="Courier New"/>
                <a:ea typeface="Courier New"/>
                <a:cs typeface="Courier New"/>
                <a:sym typeface="Courier New"/>
              </a:defRPr>
            </a:pPr>
            <a:r>
              <a:t>    struct task_struct *migration_thread;  /* the migration thread on this</a:t>
            </a:r>
          </a:p>
          <a:p>
            <a:pPr algn="l">
              <a:defRPr sz="1800">
                <a:latin typeface="Courier New"/>
                <a:ea typeface="Courier New"/>
                <a:cs typeface="Courier New"/>
                <a:sym typeface="Courier New"/>
              </a:defRPr>
            </a:pPr>
            <a:r>
              <a:t>                                              processor */</a:t>
            </a:r>
          </a:p>
          <a:p>
            <a:pPr algn="l">
              <a:defRPr sz="1800">
                <a:latin typeface="Courier New"/>
                <a:ea typeface="Courier New"/>
                <a:cs typeface="Courier New"/>
                <a:sym typeface="Courier New"/>
              </a:defRPr>
            </a:pPr>
            <a:r>
              <a:t>    struct list_head  migration_queue;   /* the migration queue for this</a:t>
            </a:r>
          </a:p>
          <a:p>
            <a:pPr algn="l">
              <a:defRPr sz="1800">
                <a:latin typeface="Courier New"/>
                <a:ea typeface="Courier New"/>
                <a:cs typeface="Courier New"/>
                <a:sym typeface="Courier New"/>
              </a:defRPr>
            </a:pPr>
            <a:r>
              <a:t>                                             processor */</a:t>
            </a:r>
          </a:p>
          <a:p>
            <a:pPr algn="l">
              <a:defRPr sz="1800">
                <a:latin typeface="Courier New"/>
                <a:ea typeface="Courier New"/>
                <a:cs typeface="Courier New"/>
                <a:sym typeface="Courier New"/>
              </a:defRPr>
            </a:pPr>
            <a:r>
              <a:t>    atomic_t      nr_iowait;      /* number of tasks waiting on I/O</a:t>
            </a:r>
          </a:p>
          <a:p>
            <a:pPr algn="l">
              <a:defRPr sz="1800">
                <a:latin typeface="Courier New"/>
                <a:ea typeface="Courier New"/>
                <a:cs typeface="Courier New"/>
                <a:sym typeface="Courier New"/>
              </a:defRPr>
            </a:pPr>
            <a:r>
              <a:t>                                   */</a:t>
            </a:r>
          </a:p>
          <a:p>
            <a:pPr algn="l">
              <a:defRPr sz="1800">
                <a:latin typeface="Courier New"/>
                <a:ea typeface="Courier New"/>
                <a:cs typeface="Courier New"/>
                <a:sym typeface="Courier New"/>
              </a:defRPr>
            </a:pPr>
            <a:r>
              <a:t>}</a:t>
            </a:r>
          </a:p>
          <a:p>
            <a:pPr algn="l">
              <a:defRPr sz="1800">
                <a:latin typeface="Courier New"/>
                <a:ea typeface="Courier New"/>
                <a:cs typeface="Courier New"/>
                <a:sym typeface="Courier New"/>
              </a:defRPr>
            </a:pPr>
            <a:endParaRPr/>
          </a:p>
          <a:p>
            <a:pPr algn="l">
              <a:defRPr sz="1800">
                <a:latin typeface="Courier New"/>
                <a:ea typeface="Courier New"/>
                <a:cs typeface="Courier New"/>
                <a:sym typeface="Courier New"/>
              </a:defRPr>
            </a:pPr>
            <a:r>
              <a:t>     </a:t>
            </a: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78" name="Data structures used by scheduler…"/>
          <p:cNvSpPr txBox="1">
            <a:spLocks noGrp="1"/>
          </p:cNvSpPr>
          <p:nvPr>
            <p:ph type="body" idx="1"/>
          </p:nvPr>
        </p:nvSpPr>
        <p:spPr>
          <a:xfrm>
            <a:off x="1270000" y="2768600"/>
            <a:ext cx="10972800" cy="6578600"/>
          </a:xfrm>
          <a:prstGeom prst="rect">
            <a:avLst/>
          </a:prstGeom>
        </p:spPr>
        <p:txBody>
          <a:bodyPr/>
          <a:lstStyle/>
          <a:p>
            <a:pPr marL="1533071" lvl="2" indent="-326571">
              <a:defRPr sz="2400"/>
            </a:pPr>
            <a:r>
              <a:t>Data structures used by scheduler</a:t>
            </a:r>
          </a:p>
          <a:p>
            <a:pPr marL="1977571" lvl="3" indent="-326571">
              <a:defRPr sz="2400">
                <a:latin typeface="Courier New"/>
                <a:ea typeface="Courier New"/>
                <a:cs typeface="Courier New"/>
                <a:sym typeface="Courier New"/>
              </a:defRPr>
            </a:pPr>
            <a:r>
              <a:t>runqueue</a:t>
            </a:r>
          </a:p>
          <a:p>
            <a:pPr marL="2422071" lvl="4" indent="-326571">
              <a:defRPr sz="2400"/>
            </a:pPr>
            <a:r>
              <a:t>Each CPU has its own </a:t>
            </a:r>
            <a:r>
              <a:rPr>
                <a:latin typeface="Courier New"/>
                <a:ea typeface="Courier New"/>
                <a:cs typeface="Courier New"/>
                <a:sym typeface="Courier New"/>
              </a:rPr>
              <a:t>runqueue</a:t>
            </a:r>
          </a:p>
          <a:p>
            <a:pPr marL="2422071" lvl="4" indent="-326571">
              <a:defRPr sz="2400"/>
            </a:pPr>
            <a:r>
              <a:t>Every runnable process in system belongs to exactly one </a:t>
            </a:r>
            <a:r>
              <a:rPr>
                <a:latin typeface="Courier New"/>
                <a:ea typeface="Courier New"/>
                <a:cs typeface="Courier New"/>
                <a:sym typeface="Courier New"/>
              </a:rPr>
              <a:t>runqueue</a:t>
            </a:r>
          </a:p>
          <a:p>
            <a:pPr marL="2422071" lvl="4" indent="-326571">
              <a:defRPr sz="2400"/>
            </a:pPr>
            <a:r>
              <a:t>Runnable processes may migrate from one </a:t>
            </a:r>
            <a:r>
              <a:rPr>
                <a:latin typeface="Courier New"/>
                <a:ea typeface="Courier New"/>
                <a:cs typeface="Courier New"/>
                <a:sym typeface="Courier New"/>
              </a:rPr>
              <a:t>runqueue</a:t>
            </a:r>
            <a:r>
              <a:t> to another</a:t>
            </a:r>
          </a:p>
          <a:p>
            <a:pPr marL="2777671" lvl="5" indent="-326571">
              <a:spcBef>
                <a:spcPts val="2400"/>
              </a:spcBef>
              <a:defRPr sz="2400"/>
            </a:pPr>
            <a:r>
              <a:t>ie: Move to another CPU</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81" name="runqueue cont.…"/>
          <p:cNvSpPr txBox="1">
            <a:spLocks noGrp="1"/>
          </p:cNvSpPr>
          <p:nvPr>
            <p:ph type="body" idx="1"/>
          </p:nvPr>
        </p:nvSpPr>
        <p:spPr>
          <a:xfrm>
            <a:off x="1270000" y="2768600"/>
            <a:ext cx="11366500" cy="6578600"/>
          </a:xfrm>
          <a:prstGeom prst="rect">
            <a:avLst/>
          </a:prstGeom>
        </p:spPr>
        <p:txBody>
          <a:bodyPr/>
          <a:lstStyle/>
          <a:p>
            <a:pPr marL="1533071" lvl="2" indent="-326571">
              <a:defRPr sz="2400"/>
            </a:pPr>
            <a:r>
              <a:t>runqueue cont.</a:t>
            </a:r>
          </a:p>
          <a:p>
            <a:pPr marL="1977571" lvl="3" indent="-326571">
              <a:defRPr sz="2400"/>
            </a:pPr>
            <a:r>
              <a:t>each structure also contains two </a:t>
            </a:r>
            <a:r>
              <a:rPr>
                <a:latin typeface="Courier New"/>
                <a:ea typeface="Courier New"/>
                <a:cs typeface="Courier New"/>
                <a:sym typeface="Courier New"/>
              </a:rPr>
              <a:t>arrays</a:t>
            </a:r>
            <a:r>
              <a:t> of 140 doubly linked list heads</a:t>
            </a:r>
          </a:p>
          <a:p>
            <a:pPr marL="2422071" lvl="4" indent="-326571">
              <a:defRPr sz="2400"/>
            </a:pPr>
            <a:r>
              <a:t>One list corresponding to each priority (0-139)</a:t>
            </a:r>
          </a:p>
          <a:p>
            <a:pPr marL="2422071" lvl="4" indent="-326571">
              <a:defRPr sz="2400"/>
            </a:pPr>
            <a:r>
              <a:rPr>
                <a:latin typeface="Courier New"/>
                <a:ea typeface="Courier New"/>
                <a:cs typeface="Courier New"/>
                <a:sym typeface="Courier New"/>
              </a:rPr>
              <a:t>arrays[0]</a:t>
            </a:r>
            <a:r>
              <a:t> contains expired processes</a:t>
            </a:r>
          </a:p>
          <a:p>
            <a:pPr marL="2422071" lvl="4" indent="-326571">
              <a:defRPr sz="2400"/>
            </a:pPr>
            <a:r>
              <a:rPr>
                <a:latin typeface="Courier New"/>
                <a:ea typeface="Courier New"/>
                <a:cs typeface="Courier New"/>
                <a:sym typeface="Courier New"/>
              </a:rPr>
              <a:t>arrays[1]</a:t>
            </a:r>
            <a:r>
              <a:t> contains active processes</a:t>
            </a:r>
          </a:p>
          <a:p>
            <a:pPr marL="2422071" lvl="4" indent="-326571">
              <a:defRPr sz="2400"/>
            </a:pPr>
            <a:r>
              <a:t>Role of each of these swaps periodically</a:t>
            </a:r>
          </a:p>
          <a:p>
            <a:pPr marL="2777671" lvl="5" indent="-326571">
              <a:spcBef>
                <a:spcPts val="2400"/>
              </a:spcBef>
              <a:defRPr sz="2400"/>
            </a:pPr>
            <a:r>
              <a:rPr>
                <a:latin typeface="Courier New"/>
                <a:ea typeface="Courier New"/>
                <a:cs typeface="Courier New"/>
                <a:sym typeface="Courier New"/>
              </a:rPr>
              <a:t>arrays[0]</a:t>
            </a:r>
            <a:r>
              <a:t> holds active processes, </a:t>
            </a:r>
            <a:r>
              <a:rPr>
                <a:latin typeface="Courier New"/>
                <a:ea typeface="Courier New"/>
                <a:cs typeface="Courier New"/>
                <a:sym typeface="Courier New"/>
              </a:rPr>
              <a:t>arrays[1]</a:t>
            </a:r>
            <a:r>
              <a:t> holds expired processes</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Linux Processes"/>
          <p:cNvSpPr txBox="1">
            <a:spLocks noGrp="1"/>
          </p:cNvSpPr>
          <p:nvPr>
            <p:ph type="title"/>
          </p:nvPr>
        </p:nvSpPr>
        <p:spPr>
          <a:prstGeom prst="rect">
            <a:avLst/>
          </a:prstGeom>
        </p:spPr>
        <p:txBody>
          <a:bodyPr/>
          <a:lstStyle>
            <a:lvl1pPr>
              <a:defRPr sz="6400"/>
            </a:lvl1pPr>
          </a:lstStyle>
          <a:p>
            <a:r>
              <a:t>Linux Processes</a:t>
            </a:r>
          </a:p>
        </p:txBody>
      </p:sp>
      <p:sp>
        <p:nvSpPr>
          <p:cNvPr id="484" name="Linux process information cont.…"/>
          <p:cNvSpPr txBox="1">
            <a:spLocks noGrp="1"/>
          </p:cNvSpPr>
          <p:nvPr>
            <p:ph type="body" sz="half" idx="1"/>
          </p:nvPr>
        </p:nvSpPr>
        <p:spPr>
          <a:xfrm>
            <a:off x="1270000" y="2768600"/>
            <a:ext cx="10972800" cy="2946400"/>
          </a:xfrm>
          <a:prstGeom prst="rect">
            <a:avLst/>
          </a:prstGeom>
        </p:spPr>
        <p:txBody>
          <a:bodyPr/>
          <a:lstStyle/>
          <a:p>
            <a:pPr marL="1533071" lvl="2" indent="-326571">
              <a:defRPr sz="2400"/>
            </a:pPr>
            <a:r>
              <a:t>Linux process information cont.</a:t>
            </a:r>
          </a:p>
          <a:p>
            <a:pPr marL="1977571" lvl="3" indent="-326571">
              <a:defRPr sz="2400"/>
            </a:pPr>
            <a:r>
              <a:rPr>
                <a:latin typeface="Courier New"/>
                <a:ea typeface="Courier New"/>
                <a:cs typeface="Courier New"/>
                <a:sym typeface="Courier New"/>
              </a:rPr>
              <a:t>tasks-&gt;prev</a:t>
            </a:r>
            <a:r>
              <a:t> field of </a:t>
            </a:r>
            <a:r>
              <a:rPr>
                <a:latin typeface="Courier New"/>
                <a:ea typeface="Courier New"/>
                <a:cs typeface="Courier New"/>
                <a:sym typeface="Courier New"/>
              </a:rPr>
              <a:t>init_task</a:t>
            </a:r>
            <a:r>
              <a:t> points to the </a:t>
            </a:r>
            <a:r>
              <a:rPr>
                <a:latin typeface="Courier New"/>
                <a:ea typeface="Courier New"/>
                <a:cs typeface="Courier New"/>
                <a:sym typeface="Courier New"/>
              </a:rPr>
              <a:t>tasks</a:t>
            </a:r>
            <a:r>
              <a:t> field of process descriptor inserted last in the list</a:t>
            </a:r>
          </a:p>
          <a:p>
            <a:pPr marL="1977571" lvl="3" indent="-326571">
              <a:defRPr sz="2400"/>
            </a:pPr>
            <a:r>
              <a:t>Entire process list is scanned by following macro:</a:t>
            </a:r>
          </a:p>
        </p:txBody>
      </p:sp>
      <p:sp>
        <p:nvSpPr>
          <p:cNvPr id="485" name="#define for_each_process(p) \…"/>
          <p:cNvSpPr txBox="1"/>
          <p:nvPr/>
        </p:nvSpPr>
        <p:spPr>
          <a:xfrm>
            <a:off x="823844" y="6223000"/>
            <a:ext cx="12026901" cy="18161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2400">
                <a:latin typeface="Courier New"/>
                <a:ea typeface="Courier New"/>
                <a:cs typeface="Courier New"/>
                <a:sym typeface="Courier New"/>
              </a:defRPr>
            </a:pPr>
            <a:r>
              <a:t>#define for_each_process(p) \</a:t>
            </a:r>
          </a:p>
          <a:p>
            <a:pPr algn="l">
              <a:defRPr sz="2400">
                <a:latin typeface="Courier New"/>
                <a:ea typeface="Courier New"/>
                <a:cs typeface="Courier New"/>
                <a:sym typeface="Courier New"/>
              </a:defRPr>
            </a:pPr>
            <a:r>
              <a:t>   for (p = &amp;init_task; \</a:t>
            </a:r>
          </a:p>
          <a:p>
            <a:pPr algn="l">
              <a:defRPr sz="2400">
                <a:latin typeface="Courier New"/>
                <a:ea typeface="Courier New"/>
                <a:cs typeface="Courier New"/>
                <a:sym typeface="Courier New"/>
              </a:defRPr>
            </a:pPr>
            <a:r>
              <a:t>      (p = list_entry((p)-&gt;tasks.next,struct task_struct,tasks))\</a:t>
            </a:r>
          </a:p>
          <a:p>
            <a:pPr algn="l">
              <a:defRPr sz="2400">
                <a:latin typeface="Courier New"/>
                <a:ea typeface="Courier New"/>
                <a:cs typeface="Courier New"/>
                <a:sym typeface="Courier New"/>
              </a:defRPr>
            </a:pPr>
            <a:r>
              <a:t>         != &amp;init_task; )</a:t>
            </a:r>
          </a:p>
          <a:p>
            <a:pPr algn="l">
              <a:defRPr sz="2400">
                <a:latin typeface="Courier New"/>
                <a:ea typeface="Courier New"/>
                <a:cs typeface="Courier New"/>
                <a:sym typeface="Courier New"/>
              </a:defRPr>
            </a:pPr>
            <a:r>
              <a:t>     </a:t>
            </a: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Linux Processes"/>
          <p:cNvSpPr txBox="1">
            <a:spLocks noGrp="1"/>
          </p:cNvSpPr>
          <p:nvPr>
            <p:ph type="title"/>
          </p:nvPr>
        </p:nvSpPr>
        <p:spPr>
          <a:prstGeom prst="rect">
            <a:avLst/>
          </a:prstGeom>
        </p:spPr>
        <p:txBody>
          <a:bodyPr/>
          <a:lstStyle>
            <a:lvl1pPr>
              <a:defRPr sz="6400"/>
            </a:lvl1pPr>
          </a:lstStyle>
          <a:p>
            <a:r>
              <a:t>Linux Processes</a:t>
            </a:r>
          </a:p>
        </p:txBody>
      </p:sp>
      <p:sp>
        <p:nvSpPr>
          <p:cNvPr id="488" name="Lists of TASK_RUNNING processes…"/>
          <p:cNvSpPr txBox="1">
            <a:spLocks noGrp="1"/>
          </p:cNvSpPr>
          <p:nvPr>
            <p:ph type="body" idx="1"/>
          </p:nvPr>
        </p:nvSpPr>
        <p:spPr>
          <a:xfrm>
            <a:off x="1270000" y="2768600"/>
            <a:ext cx="10972800" cy="6578600"/>
          </a:xfrm>
          <a:prstGeom prst="rect">
            <a:avLst/>
          </a:prstGeom>
        </p:spPr>
        <p:txBody>
          <a:bodyPr/>
          <a:lstStyle/>
          <a:p>
            <a:pPr marL="1533071" lvl="2" indent="-326571">
              <a:defRPr sz="2400"/>
            </a:pPr>
            <a:r>
              <a:t>Lists of TASK_RUNNING processes</a:t>
            </a:r>
          </a:p>
          <a:p>
            <a:pPr marL="1977571" lvl="3" indent="-326571">
              <a:defRPr sz="2400"/>
            </a:pPr>
            <a:r>
              <a:t>When looking for a new process to run on CPU, kernel has to consider only runnable processes</a:t>
            </a:r>
          </a:p>
          <a:p>
            <a:pPr marL="2422071" lvl="4" indent="-326571">
              <a:defRPr sz="2400"/>
            </a:pPr>
            <a:r>
              <a:t>Processes in TASK_RUNNING state</a:t>
            </a:r>
          </a:p>
          <a:p>
            <a:pPr marL="1977571" lvl="3" indent="-326571">
              <a:defRPr sz="2400"/>
            </a:pPr>
            <a:r>
              <a:t>Early Linux versions put all runnable processes in the same list called </a:t>
            </a:r>
            <a:r>
              <a:rPr>
                <a:latin typeface="Courier New"/>
                <a:ea typeface="Courier New"/>
                <a:cs typeface="Courier New"/>
                <a:sym typeface="Courier New"/>
              </a:rPr>
              <a:t>runqueue</a:t>
            </a:r>
            <a:r>
              <a:t> </a:t>
            </a:r>
          </a:p>
          <a:p>
            <a:pPr marL="1533071" lvl="2" indent="-326571">
              <a:defRPr sz="2400"/>
            </a:pPr>
            <a:r>
              <a:t>Scheduler speedup is achieved by splitting </a:t>
            </a:r>
            <a:r>
              <a:rPr>
                <a:latin typeface="Courier New"/>
                <a:ea typeface="Courier New"/>
                <a:cs typeface="Courier New"/>
                <a:sym typeface="Courier New"/>
              </a:rPr>
              <a:t>runqueue</a:t>
            </a:r>
            <a:r>
              <a:t> into many lists of runnable processes</a:t>
            </a:r>
          </a:p>
          <a:p>
            <a:pPr marL="1977571" lvl="3" indent="-326571">
              <a:defRPr sz="2400"/>
            </a:pPr>
            <a:r>
              <a:t>One list per priority</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Linux Processes"/>
          <p:cNvSpPr txBox="1">
            <a:spLocks noGrp="1"/>
          </p:cNvSpPr>
          <p:nvPr>
            <p:ph type="title"/>
          </p:nvPr>
        </p:nvSpPr>
        <p:spPr>
          <a:prstGeom prst="rect">
            <a:avLst/>
          </a:prstGeom>
        </p:spPr>
        <p:txBody>
          <a:bodyPr/>
          <a:lstStyle>
            <a:lvl1pPr>
              <a:defRPr sz="6400"/>
            </a:lvl1pPr>
          </a:lstStyle>
          <a:p>
            <a:r>
              <a:t>Linux Processes</a:t>
            </a:r>
          </a:p>
        </p:txBody>
      </p:sp>
      <p:sp>
        <p:nvSpPr>
          <p:cNvPr id="491" name="runqueue implemented through prio_array_t…"/>
          <p:cNvSpPr txBox="1">
            <a:spLocks noGrp="1"/>
          </p:cNvSpPr>
          <p:nvPr>
            <p:ph type="body" idx="1"/>
          </p:nvPr>
        </p:nvSpPr>
        <p:spPr>
          <a:xfrm>
            <a:off x="1270000" y="2768600"/>
            <a:ext cx="10972800" cy="5842000"/>
          </a:xfrm>
          <a:prstGeom prst="rect">
            <a:avLst/>
          </a:prstGeom>
        </p:spPr>
        <p:txBody>
          <a:bodyPr/>
          <a:lstStyle/>
          <a:p>
            <a:pPr marL="1533071" lvl="2" indent="-326571">
              <a:defRPr sz="2400"/>
            </a:pPr>
            <a:r>
              <a:rPr>
                <a:latin typeface="Courier New"/>
                <a:ea typeface="Courier New"/>
                <a:cs typeface="Courier New"/>
                <a:sym typeface="Courier New"/>
              </a:rPr>
              <a:t>runqueue</a:t>
            </a:r>
            <a:r>
              <a:t> implemented through </a:t>
            </a:r>
            <a:r>
              <a:rPr>
                <a:latin typeface="Courier New"/>
                <a:ea typeface="Courier New"/>
                <a:cs typeface="Courier New"/>
                <a:sym typeface="Courier New"/>
              </a:rPr>
              <a:t>prio_array_t</a:t>
            </a:r>
            <a:r>
              <a:t> </a:t>
            </a:r>
          </a:p>
          <a:p>
            <a:pPr marL="1533071" lvl="2" indent="-326571">
              <a:defRPr sz="2400"/>
            </a:pPr>
            <a:endParaRPr/>
          </a:p>
          <a:p>
            <a:pPr marL="1533071" lvl="2" indent="-326571">
              <a:defRPr sz="2400"/>
            </a:pPr>
            <a:endParaRPr/>
          </a:p>
          <a:p>
            <a:pPr marL="1533071" lvl="2" indent="-326571">
              <a:defRPr sz="2400"/>
            </a:pPr>
            <a:endParaRPr/>
          </a:p>
          <a:p>
            <a:pPr marL="1533071" lvl="2" indent="-326571">
              <a:defRPr sz="2400"/>
            </a:pPr>
            <a:endParaRPr/>
          </a:p>
          <a:p>
            <a:pPr marL="1533071" lvl="2" indent="-326571">
              <a:defRPr sz="2400"/>
            </a:pPr>
            <a:r>
              <a:t>Inserting a process p into the runqueue:</a:t>
            </a:r>
          </a:p>
        </p:txBody>
      </p:sp>
      <p:sp>
        <p:nvSpPr>
          <p:cNvPr id="492" name="struct prio_array_t {…"/>
          <p:cNvSpPr txBox="1"/>
          <p:nvPr/>
        </p:nvSpPr>
        <p:spPr>
          <a:xfrm>
            <a:off x="1712844" y="4762500"/>
            <a:ext cx="10464801"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2400">
                <a:latin typeface="Courier New"/>
                <a:ea typeface="Courier New"/>
                <a:cs typeface="Courier New"/>
                <a:sym typeface="Courier New"/>
              </a:defRPr>
            </a:pPr>
            <a:r>
              <a:rPr sz="1800"/>
              <a:t>struct prio_array_t {</a:t>
            </a:r>
          </a:p>
          <a:p>
            <a:pPr algn="l">
              <a:defRPr sz="2400">
                <a:latin typeface="Courier New"/>
                <a:ea typeface="Courier New"/>
                <a:cs typeface="Courier New"/>
                <a:sym typeface="Courier New"/>
              </a:defRPr>
            </a:pPr>
            <a:r>
              <a:rPr sz="1800"/>
              <a:t>   int    nr_active;   // Number of active processes</a:t>
            </a:r>
          </a:p>
          <a:p>
            <a:pPr algn="l">
              <a:defRPr sz="2400">
                <a:latin typeface="Courier New"/>
                <a:ea typeface="Courier New"/>
                <a:cs typeface="Courier New"/>
                <a:sym typeface="Courier New"/>
              </a:defRPr>
            </a:pPr>
            <a:r>
              <a:rPr sz="1800"/>
              <a:t>   unsigned long bitmap[5]   // Priority bitmap; set if corresponding </a:t>
            </a:r>
          </a:p>
          <a:p>
            <a:pPr algn="l">
              <a:defRPr sz="2400">
                <a:latin typeface="Courier New"/>
                <a:ea typeface="Courier New"/>
                <a:cs typeface="Courier New"/>
                <a:sym typeface="Courier New"/>
              </a:defRPr>
            </a:pPr>
            <a:r>
              <a:rPr sz="1800"/>
              <a:t>                             // priority list is not empty</a:t>
            </a:r>
          </a:p>
          <a:p>
            <a:pPr algn="l">
              <a:defRPr sz="2400">
                <a:latin typeface="Courier New"/>
                <a:ea typeface="Courier New"/>
                <a:cs typeface="Courier New"/>
                <a:sym typeface="Courier New"/>
              </a:defRPr>
            </a:pPr>
            <a:r>
              <a:rPr sz="1800"/>
              <a:t>   struct list_head queue[140];   // head of each priority list</a:t>
            </a:r>
          </a:p>
          <a:p>
            <a:pPr algn="l">
              <a:defRPr sz="2400">
                <a:latin typeface="Courier New"/>
                <a:ea typeface="Courier New"/>
                <a:cs typeface="Courier New"/>
                <a:sym typeface="Courier New"/>
              </a:defRPr>
            </a:pPr>
            <a:r>
              <a:rPr sz="1800"/>
              <a:t>}  </a:t>
            </a:r>
            <a:r>
              <a:t>   </a:t>
            </a:r>
          </a:p>
        </p:txBody>
      </p:sp>
      <p:sp>
        <p:nvSpPr>
          <p:cNvPr id="493" name="list_add_tail ( &amp;p-&gt;run_list, &amp;array-&gt;queue[p-&gt;prio] );…"/>
          <p:cNvSpPr txBox="1"/>
          <p:nvPr/>
        </p:nvSpPr>
        <p:spPr>
          <a:xfrm>
            <a:off x="1714500" y="7886700"/>
            <a:ext cx="10464800" cy="1206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2400">
                <a:latin typeface="Courier New"/>
                <a:ea typeface="Courier New"/>
                <a:cs typeface="Courier New"/>
                <a:sym typeface="Courier New"/>
              </a:defRPr>
            </a:pPr>
            <a:r>
              <a:rPr sz="1800"/>
              <a:t>list_add_tail ( &amp;p-&gt;run_list, &amp;array-&gt;queue[p-&gt;prio] );</a:t>
            </a:r>
          </a:p>
          <a:p>
            <a:pPr algn="l">
              <a:defRPr sz="2400">
                <a:latin typeface="Courier New"/>
                <a:ea typeface="Courier New"/>
                <a:cs typeface="Courier New"/>
                <a:sym typeface="Courier New"/>
              </a:defRPr>
            </a:pPr>
            <a:r>
              <a:rPr sz="1800"/>
              <a:t>_set_bit ( p-&gt;prio, array-&gt;bitmap);</a:t>
            </a:r>
          </a:p>
          <a:p>
            <a:pPr algn="l">
              <a:defRPr sz="2400">
                <a:latin typeface="Courier New"/>
                <a:ea typeface="Courier New"/>
                <a:cs typeface="Courier New"/>
                <a:sym typeface="Courier New"/>
              </a:defRPr>
            </a:pPr>
            <a:r>
              <a:rPr sz="1800"/>
              <a:t>array-&gt;nr_active++;</a:t>
            </a:r>
          </a:p>
          <a:p>
            <a:pPr algn="l">
              <a:defRPr sz="2400">
                <a:latin typeface="Courier New"/>
                <a:ea typeface="Courier New"/>
                <a:cs typeface="Courier New"/>
                <a:sym typeface="Courier New"/>
              </a:defRPr>
            </a:pPr>
            <a:r>
              <a:rPr sz="1800"/>
              <a:t>p-&gt;array = array;</a:t>
            </a:r>
            <a:r>
              <a:t>  </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96" name="Allocating time slices to children…"/>
          <p:cNvSpPr txBox="1">
            <a:spLocks noGrp="1"/>
          </p:cNvSpPr>
          <p:nvPr>
            <p:ph type="body" idx="1"/>
          </p:nvPr>
        </p:nvSpPr>
        <p:spPr>
          <a:xfrm>
            <a:off x="1270000" y="2768600"/>
            <a:ext cx="11163300" cy="6578600"/>
          </a:xfrm>
          <a:prstGeom prst="rect">
            <a:avLst/>
          </a:prstGeom>
        </p:spPr>
        <p:txBody>
          <a:bodyPr/>
          <a:lstStyle/>
          <a:p>
            <a:pPr marL="1533071" lvl="2" indent="-326571">
              <a:defRPr sz="2400"/>
            </a:pPr>
            <a:r>
              <a:t>Allocating time slices to children</a:t>
            </a:r>
          </a:p>
          <a:p>
            <a:pPr marL="1977571" lvl="3" indent="-326571">
              <a:defRPr sz="2400"/>
            </a:pPr>
            <a:r>
              <a:t>Both parent and child get half the number of ticks left to the parent</a:t>
            </a:r>
          </a:p>
          <a:p>
            <a:pPr marL="1977571" lvl="3" indent="-326571">
              <a:defRPr sz="2400"/>
            </a:pPr>
            <a:r>
              <a:t>Done to prevent children from getting unlimited amount of CPU time</a:t>
            </a:r>
          </a:p>
          <a:p>
            <a:pPr marL="2422071" lvl="4" indent="-326571">
              <a:defRPr sz="2400"/>
            </a:pPr>
            <a:r>
              <a:t>Parent creates a child that runs the same code and kills itself</a:t>
            </a:r>
          </a:p>
          <a:p>
            <a:pPr marL="2422071" lvl="4" indent="-326571">
              <a:defRPr sz="2400"/>
            </a:pPr>
            <a:r>
              <a:t>If creation rate is adjusted properly, child can get full quantum before parent’s quantum expires</a:t>
            </a:r>
          </a:p>
          <a:p>
            <a:pPr marL="2422071" lvl="4" indent="-326571">
              <a:defRPr sz="2400"/>
            </a:pPr>
            <a:r>
              <a:t>Continuing this process allows infinite time to single process family</a:t>
            </a:r>
          </a:p>
          <a:p>
            <a:pPr marL="1977571" lvl="3" indent="-326571">
              <a:defRPr sz="2400"/>
            </a:pPr>
            <a:r>
              <a:t>Also prevents single process from using excessive time</a:t>
            </a:r>
          </a:p>
          <a:p>
            <a:pPr marL="2422071" lvl="4" indent="-326571">
              <a:defRPr sz="2400"/>
            </a:pPr>
            <a:r>
              <a:t>By starting several processes in background</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Linux Scheduling"/>
          <p:cNvSpPr txBox="1">
            <a:spLocks noGrp="1"/>
          </p:cNvSpPr>
          <p:nvPr>
            <p:ph type="title"/>
          </p:nvPr>
        </p:nvSpPr>
        <p:spPr>
          <a:prstGeom prst="rect">
            <a:avLst/>
          </a:prstGeom>
        </p:spPr>
        <p:txBody>
          <a:bodyPr/>
          <a:lstStyle>
            <a:lvl1pPr>
              <a:defRPr sz="6400"/>
            </a:lvl1pPr>
          </a:lstStyle>
          <a:p>
            <a:r>
              <a:t>Linux Scheduling</a:t>
            </a:r>
          </a:p>
        </p:txBody>
      </p:sp>
      <p:sp>
        <p:nvSpPr>
          <p:cNvPr id="499" name="Each cpu in multi-core system has its own set of queues…"/>
          <p:cNvSpPr txBox="1">
            <a:spLocks noGrp="1"/>
          </p:cNvSpPr>
          <p:nvPr>
            <p:ph type="body" idx="1"/>
          </p:nvPr>
        </p:nvSpPr>
        <p:spPr>
          <a:xfrm>
            <a:off x="1270000" y="2768600"/>
            <a:ext cx="11163300" cy="6578600"/>
          </a:xfrm>
          <a:prstGeom prst="rect">
            <a:avLst/>
          </a:prstGeom>
        </p:spPr>
        <p:txBody>
          <a:bodyPr/>
          <a:lstStyle/>
          <a:p>
            <a:pPr marL="1533071" lvl="2" indent="-326571">
              <a:defRPr sz="2400"/>
            </a:pPr>
            <a:r>
              <a:t>Each cpu in multi-core system has its own set of queues</a:t>
            </a:r>
          </a:p>
          <a:p>
            <a:pPr marL="1977571" lvl="3" indent="-326571">
              <a:defRPr sz="2400"/>
            </a:pPr>
            <a:r>
              <a:t>What happens if one queue gets long?</a:t>
            </a:r>
          </a:p>
          <a:p>
            <a:pPr marL="2422071" lvl="4" indent="-326571">
              <a:defRPr sz="2400"/>
            </a:pPr>
            <a:r>
              <a:t>Necessary to do load-balancing</a:t>
            </a:r>
          </a:p>
          <a:p>
            <a:pPr marL="1533071" lvl="2" indent="-326571">
              <a:defRPr sz="2400"/>
            </a:pPr>
            <a:r>
              <a:t>Load-balancing</a:t>
            </a:r>
          </a:p>
          <a:p>
            <a:pPr marL="1977571" lvl="3" indent="-326571">
              <a:defRPr sz="2400"/>
            </a:pPr>
            <a:r>
              <a:t>Find busiest run-queue</a:t>
            </a:r>
          </a:p>
          <a:p>
            <a:pPr marL="1977571" lvl="3" indent="-326571">
              <a:defRPr sz="2400"/>
            </a:pPr>
            <a:r>
              <a:t>Grab processes from one of the priority arrays</a:t>
            </a:r>
          </a:p>
          <a:p>
            <a:pPr marL="2422071" lvl="4" indent="-326571">
              <a:defRPr sz="2400"/>
            </a:pPr>
            <a:r>
              <a:t>Actually prefers the expired array, as has been out of system awhile</a:t>
            </a:r>
          </a:p>
          <a:p>
            <a:pPr marL="2777671" lvl="5" indent="-326571">
              <a:spcBef>
                <a:spcPts val="2400"/>
              </a:spcBef>
              <a:defRPr sz="2400"/>
            </a:pPr>
            <a:r>
              <a:t>Likely not in cache</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cheduling done!"/>
          <p:cNvSpPr txBox="1">
            <a:spLocks noGrp="1"/>
          </p:cNvSpPr>
          <p:nvPr>
            <p:ph type="title"/>
          </p:nvPr>
        </p:nvSpPr>
        <p:spPr>
          <a:prstGeom prst="rect">
            <a:avLst/>
          </a:prstGeom>
        </p:spPr>
        <p:txBody>
          <a:bodyPr/>
          <a:lstStyle>
            <a:lvl1pPr>
              <a:defRPr sz="6400"/>
            </a:lvl1pPr>
          </a:lstStyle>
          <a:p>
            <a:r>
              <a:t>Scheduling done!</a:t>
            </a:r>
          </a:p>
        </p:txBody>
      </p:sp>
      <p:sp>
        <p:nvSpPr>
          <p:cNvPr id="502" name="Any questions?"/>
          <p:cNvSpPr txBox="1">
            <a:spLocks noGrp="1"/>
          </p:cNvSpPr>
          <p:nvPr>
            <p:ph type="body" idx="1"/>
          </p:nvPr>
        </p:nvSpPr>
        <p:spPr>
          <a:prstGeom prst="rect">
            <a:avLst/>
          </a:prstGeom>
        </p:spPr>
        <p:txBody>
          <a:bodyPr/>
          <a:lstStyle>
            <a:lvl1pPr marL="644071" indent="-326571">
              <a:defRPr sz="2400"/>
            </a:lvl1pPr>
          </a:lstStyle>
          <a:p>
            <a:r>
              <a:t>Any questions?</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16</TotalTime>
  <Words>3826</Words>
  <Application>Microsoft Office PowerPoint</Application>
  <PresentationFormat>Custom</PresentationFormat>
  <Paragraphs>535</Paragraphs>
  <Slides>84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Courier New</vt:lpstr>
      <vt:lpstr>Gill Sans</vt:lpstr>
      <vt:lpstr>Helvetica Neue</vt:lpstr>
      <vt:lpstr>Lucida Grande</vt:lpstr>
      <vt:lpstr>White</vt:lpstr>
      <vt:lpstr>Operating Systems:  Scheduling</vt:lpstr>
      <vt:lpstr>Kernel</vt:lpstr>
      <vt:lpstr>Basic Operations on Processes</vt:lpstr>
      <vt:lpstr>Basic Operations on Processes</vt:lpstr>
      <vt:lpstr>Basic Operations on Processes</vt:lpstr>
      <vt:lpstr>Basic Operations on Processes</vt:lpstr>
      <vt:lpstr>Basic Operations on Processes</vt:lpstr>
      <vt:lpstr>Basic Operations on Processes</vt:lpstr>
      <vt:lpstr>Organization of Schedulers</vt:lpstr>
      <vt:lpstr>Organization of Schedulers</vt:lpstr>
      <vt:lpstr>Organization of Schedulers</vt:lpstr>
      <vt:lpstr>Organization of Schedulers</vt:lpstr>
      <vt:lpstr>Organization of Schedulers</vt:lpstr>
      <vt:lpstr>Organization of Schedulers</vt:lpstr>
      <vt:lpstr>Organization of Schedulers</vt:lpstr>
      <vt:lpstr>Process states</vt:lpstr>
      <vt:lpstr>Schedulers</vt:lpstr>
      <vt:lpstr>Schedulers</vt:lpstr>
      <vt:lpstr>Schedulers</vt:lpstr>
      <vt:lpstr>Schedulers</vt:lpstr>
      <vt:lpstr>Schedulers</vt:lpstr>
      <vt:lpstr>Schedulers</vt:lpstr>
      <vt:lpstr>Process Scheduling</vt:lpstr>
      <vt:lpstr>Process Scheduling</vt:lpstr>
      <vt:lpstr>Process Scheduling</vt:lpstr>
      <vt:lpstr>Process Scheduling</vt:lpstr>
      <vt:lpstr>Process Scheduling</vt:lpstr>
      <vt:lpstr>Process Scheduling</vt:lpstr>
      <vt:lpstr>Process Scheduling</vt:lpstr>
      <vt:lpstr>Process Scheduling</vt:lpstr>
      <vt:lpstr>Process Scheduling</vt:lpstr>
      <vt:lpstr>Process Scheduling</vt:lpstr>
      <vt:lpstr>Process Scheduling</vt:lpstr>
      <vt:lpstr>Priority Queuing</vt:lpstr>
      <vt:lpstr>First-Come-First-Served</vt:lpstr>
      <vt:lpstr>FIFO scheduling</vt:lpstr>
      <vt:lpstr>FIFO scheduling</vt:lpstr>
      <vt:lpstr>FIFO Scheduling</vt:lpstr>
      <vt:lpstr>Shortest Job Next Scheduling</vt:lpstr>
      <vt:lpstr>Shortest Job Next Scheduling</vt:lpstr>
      <vt:lpstr>Shortest Job Next Scheduling</vt:lpstr>
      <vt:lpstr>Shortest Remaining Time First</vt:lpstr>
      <vt:lpstr>Shortest Job Next Scheduling</vt:lpstr>
      <vt:lpstr>Round-Robin Scheduling</vt:lpstr>
      <vt:lpstr>Round-Robin Scheduling</vt:lpstr>
      <vt:lpstr>Round-Robin Scheduling</vt:lpstr>
      <vt:lpstr>Round-Robin Scheduling</vt:lpstr>
      <vt:lpstr>Round-Robin Scheduling</vt:lpstr>
      <vt:lpstr>Round-Robin Scheduling</vt:lpstr>
      <vt:lpstr>Round-Robin Scheduling</vt:lpstr>
      <vt:lpstr>Round-Robin Scheduling</vt:lpstr>
      <vt:lpstr>Multilevel Feedback Queue</vt:lpstr>
      <vt:lpstr>Multilevel Feedback Queue</vt:lpstr>
      <vt:lpstr>Multilevel Feedback Queue</vt:lpstr>
      <vt:lpstr>Examples</vt:lpstr>
      <vt:lpstr>PowerPoint Presentation</vt:lpstr>
      <vt:lpstr>Scheduling policy in Linux</vt:lpstr>
      <vt:lpstr>Multilevel Feedback Queue</vt:lpstr>
      <vt:lpstr>Linux Scheduling</vt:lpstr>
      <vt:lpstr>Linux Scheduling</vt:lpstr>
      <vt:lpstr>Linux Scheduling</vt:lpstr>
      <vt:lpstr>Linux Scheduling</vt:lpstr>
      <vt:lpstr>Linux Scheduling</vt:lpstr>
      <vt:lpstr>Linux Processes</vt:lpstr>
      <vt:lpstr>Linux Scheduling</vt:lpstr>
      <vt:lpstr>Linux Scheduling</vt:lpstr>
      <vt:lpstr>Linux Scheduling</vt:lpstr>
      <vt:lpstr>Linux Scheduling</vt:lpstr>
      <vt:lpstr>Linux Scheduling</vt:lpstr>
      <vt:lpstr>Linux Scheduling</vt:lpstr>
      <vt:lpstr>Average sleep time</vt:lpstr>
      <vt:lpstr>Linux Scheduling</vt:lpstr>
      <vt:lpstr>Linux Scheduling</vt:lpstr>
      <vt:lpstr>Linux Scheduling</vt:lpstr>
      <vt:lpstr>Linux Scheduling</vt:lpstr>
      <vt:lpstr>runqueue</vt:lpstr>
      <vt:lpstr>Linux Scheduling</vt:lpstr>
      <vt:lpstr>Linux Scheduling</vt:lpstr>
      <vt:lpstr>Linux Processes</vt:lpstr>
      <vt:lpstr>Linux Processes</vt:lpstr>
      <vt:lpstr>Linux Processes</vt:lpstr>
      <vt:lpstr>Linux Scheduling</vt:lpstr>
      <vt:lpstr>Linux Scheduling</vt:lpstr>
      <vt:lpstr>Scheduling done!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mark hauschild</cp:lastModifiedBy>
  <cp:revision>10</cp:revision>
  <dcterms:modified xsi:type="dcterms:W3CDTF">2025-10-08T17:09:09Z</dcterms:modified>
</cp:coreProperties>
</file>