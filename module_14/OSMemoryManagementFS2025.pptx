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/>
            </a:lvl1pPr>
            <a:lvl2pPr marL="0" indent="0" algn="ctr">
              <a:spcBef>
                <a:spcPts val="0"/>
              </a:spcBef>
              <a:buSzTx/>
              <a:buNone/>
              <a:defRPr sz="3600"/>
            </a:lvl2pPr>
            <a:lvl3pPr marL="0" indent="0" algn="ctr">
              <a:spcBef>
                <a:spcPts val="0"/>
              </a:spcBef>
              <a:buSzTx/>
              <a:buNone/>
              <a:defRPr sz="3600"/>
            </a:lvl3pPr>
            <a:lvl4pPr marL="0" indent="0" algn="ctr">
              <a:spcBef>
                <a:spcPts val="0"/>
              </a:spcBef>
              <a:buSzTx/>
              <a:buNone/>
              <a:defRPr sz="3600"/>
            </a:lvl4pPr>
            <a:lvl5pPr marL="0" indent="0" algn="ctr">
              <a:spcBef>
                <a:spcPts val="0"/>
              </a:spcBef>
              <a:buSzTx/>
              <a:buNone/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</a:lvl1pPr>
            <a:lvl2pPr>
              <a:spcBef>
                <a:spcPts val="2400"/>
              </a:spcBef>
            </a:lvl2pPr>
            <a:lvl3pPr>
              <a:spcBef>
                <a:spcPts val="2400"/>
              </a:spcBef>
            </a:lvl3pPr>
            <a:lvl4pPr>
              <a:spcBef>
                <a:spcPts val="2400"/>
              </a:spcBef>
            </a:lvl4pPr>
            <a:lvl5pPr>
              <a:spcBef>
                <a:spcPts val="24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happy_girls.jpeg"/>
          <p:cNvSpPr>
            <a:spLocks noGrp="1"/>
          </p:cNvSpPr>
          <p:nvPr>
            <p:ph type="pic" sz="half" idx="21"/>
          </p:nvPr>
        </p:nvSpPr>
        <p:spPr>
          <a:xfrm>
            <a:off x="2438400" y="1638300"/>
            <a:ext cx="8128000" cy="5042206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appy_girls.jpeg"/>
          <p:cNvSpPr>
            <a:spLocks noGrp="1"/>
          </p:cNvSpPr>
          <p:nvPr>
            <p:ph type="pic" sz="half" idx="21"/>
          </p:nvPr>
        </p:nvSpPr>
        <p:spPr>
          <a:xfrm>
            <a:off x="2438400" y="1638300"/>
            <a:ext cx="8128000" cy="5042206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irl_and_snowcone.jpeg"/>
          <p:cNvSpPr>
            <a:spLocks noGrp="1"/>
          </p:cNvSpPr>
          <p:nvPr>
            <p:ph type="pic" sz="half" idx="21"/>
          </p:nvPr>
        </p:nvSpPr>
        <p:spPr>
          <a:xfrm>
            <a:off x="7124700" y="1612900"/>
            <a:ext cx="4216400" cy="6328742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irl_and_snowcone.jpeg"/>
          <p:cNvSpPr>
            <a:spLocks noGrp="1"/>
          </p:cNvSpPr>
          <p:nvPr>
            <p:ph type="pic" sz="half" idx="21"/>
          </p:nvPr>
        </p:nvSpPr>
        <p:spPr>
          <a:xfrm>
            <a:off x="7124700" y="1612900"/>
            <a:ext cx="4216400" cy="6328742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irl_and_snowcone.jpeg"/>
          <p:cNvSpPr>
            <a:spLocks noGrp="1"/>
          </p:cNvSpPr>
          <p:nvPr>
            <p:ph type="pic" sz="quarter" idx="21"/>
          </p:nvPr>
        </p:nvSpPr>
        <p:spPr>
          <a:xfrm>
            <a:off x="7175500" y="2540000"/>
            <a:ext cx="4102100" cy="615718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Operating Systems:…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7200"/>
            </a:pPr>
            <a:r>
              <a:t>Operating Systems: </a:t>
            </a:r>
          </a:p>
          <a:p>
            <a:pPr>
              <a:defRPr sz="7200"/>
            </a:pPr>
            <a:r>
              <a:t>Memory</a:t>
            </a:r>
          </a:p>
          <a:p>
            <a:pPr>
              <a:defRPr sz="7200"/>
            </a:pPr>
            <a:r>
              <a:t>Management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Memory Manag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Management</a:t>
            </a:r>
          </a:p>
        </p:txBody>
      </p:sp>
      <p:sp>
        <p:nvSpPr>
          <p:cNvPr id="140" name="“Multitasking without memory management is like having a party in a closet”"/>
          <p:cNvSpPr txBox="1"/>
          <p:nvPr/>
        </p:nvSpPr>
        <p:spPr>
          <a:xfrm>
            <a:off x="1719268" y="4641850"/>
            <a:ext cx="9555809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“Multitasking without memory management is like having a party in a closet”</a:t>
            </a:r>
          </a:p>
        </p:txBody>
      </p:sp>
      <p:sp>
        <p:nvSpPr>
          <p:cNvPr id="141" name="“Programs expand to fill the memory that holds them.”"/>
          <p:cNvSpPr txBox="1"/>
          <p:nvPr/>
        </p:nvSpPr>
        <p:spPr>
          <a:xfrm>
            <a:off x="3040012" y="6007100"/>
            <a:ext cx="6930183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“Programs expand to fill the memory that holds them.”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Memory Manag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Management</a:t>
            </a:r>
          </a:p>
        </p:txBody>
      </p:sp>
      <p:sp>
        <p:nvSpPr>
          <p:cNvPr id="144" name="Why talk about memory management?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Why talk about memory management?</a:t>
            </a:r>
          </a:p>
          <a:p>
            <a:pPr marL="1533071" lvl="2" indent="-326571">
              <a:defRPr sz="2400"/>
            </a:pPr>
            <a:r>
              <a:t>Process isolation</a:t>
            </a:r>
          </a:p>
          <a:p>
            <a:pPr marL="1533071" lvl="2" indent="-326571">
              <a:defRPr sz="2400"/>
            </a:pPr>
            <a:r>
              <a:t>Automatic allocation and management</a:t>
            </a:r>
          </a:p>
          <a:p>
            <a:pPr marL="1533071" lvl="2" indent="-326571">
              <a:defRPr sz="2400"/>
            </a:pPr>
            <a:r>
              <a:t>Support for modular programming</a:t>
            </a:r>
          </a:p>
          <a:p>
            <a:pPr marL="1533071" lvl="2" indent="-326571">
              <a:defRPr sz="2400"/>
            </a:pPr>
            <a:r>
              <a:t>Protection and access control</a:t>
            </a:r>
          </a:p>
          <a:p>
            <a:pPr marL="1533071" lvl="2" indent="-326571">
              <a:defRPr sz="2400"/>
            </a:pPr>
            <a:r>
              <a:t>Long term storage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What is memory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What is memory?</a:t>
            </a:r>
          </a:p>
        </p:txBody>
      </p:sp>
      <p:sp>
        <p:nvSpPr>
          <p:cNvPr id="147" name="Physical viewpoint (RAM)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6078885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Physical viewpoint (RAM)</a:t>
            </a:r>
          </a:p>
          <a:p>
            <a:pPr marL="1533071" lvl="2" indent="-326571">
              <a:defRPr sz="2400"/>
            </a:pPr>
            <a:r>
              <a:t>Physical chip attached to the motherboard</a:t>
            </a:r>
          </a:p>
          <a:p>
            <a:pPr marL="1088571" lvl="1" indent="-326571">
              <a:defRPr sz="2400"/>
            </a:pPr>
            <a:r>
              <a:t>Programmer's viewpoint</a:t>
            </a:r>
          </a:p>
          <a:p>
            <a:pPr marL="1533071" lvl="2" indent="-326571">
              <a:defRPr sz="2400"/>
            </a:pPr>
            <a:r>
              <a:t>Just large array of words (or bytes)</a:t>
            </a:r>
          </a:p>
          <a:p>
            <a:pPr marL="1977571" lvl="3" indent="-326571">
              <a:defRPr sz="2400"/>
            </a:pPr>
            <a:r>
              <a:t>Unique address for each word</a:t>
            </a:r>
          </a:p>
          <a:p>
            <a:pPr marL="1533071" lvl="2" indent="-326571">
              <a:defRPr sz="2400"/>
            </a:pPr>
            <a:r>
              <a:t>Is this correct?</a:t>
            </a:r>
          </a:p>
          <a:p>
            <a:pPr marL="1977571" lvl="3" indent="-326571">
              <a:defRPr sz="2400"/>
            </a:pPr>
            <a:r>
              <a:t>What if compiler uses a register to store a variable?</a:t>
            </a:r>
          </a:p>
          <a:p>
            <a:pPr marL="1977571" lvl="3" indent="-326571">
              <a:defRPr sz="2400"/>
            </a:pPr>
            <a:r>
              <a:t>What if it does not even allocate a variable?</a:t>
            </a:r>
          </a:p>
          <a:p>
            <a:pPr marL="1088571" lvl="1" indent="-326571">
              <a:defRPr sz="2400"/>
            </a:pPr>
            <a:r>
              <a:t>OS viewpoint: Both are wrong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emory hierarchy manag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hierarchy managers</a:t>
            </a:r>
          </a:p>
        </p:txBody>
      </p:sp>
      <p:sp>
        <p:nvSpPr>
          <p:cNvPr id="150" name="OS handles a complex memory hierarchy of memory manager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OS handles a complex memory hierarchy of memory managers</a:t>
            </a:r>
          </a:p>
          <a:p>
            <a:pPr marL="1088571" lvl="1" indent="-326571">
              <a:defRPr sz="2400"/>
            </a:pPr>
            <a:r>
              <a:t>Heap manager (dynamic memory manager)</a:t>
            </a:r>
          </a:p>
          <a:p>
            <a:pPr marL="1533071" lvl="2" indent="-326571">
              <a:defRPr sz="2400"/>
            </a:pPr>
            <a:r>
              <a:t>"High" level</a:t>
            </a:r>
          </a:p>
          <a:p>
            <a:pPr marL="1533071" lvl="2" indent="-326571">
              <a:defRPr sz="2400"/>
            </a:pPr>
            <a:r>
              <a:t>Supports basic operations with memory blocks</a:t>
            </a:r>
          </a:p>
          <a:p>
            <a:pPr marL="1977571" lvl="3" indent="-326571">
              <a:defRPr sz="2400"/>
            </a:pPr>
            <a:r>
              <a:t>Block allocation, release, changing size of allocated block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Memory hierarchy manag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hierarchy managers</a:t>
            </a:r>
          </a:p>
        </p:txBody>
      </p:sp>
      <p:sp>
        <p:nvSpPr>
          <p:cNvPr id="153" name="Virtual memory manager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Virtual memory manager</a:t>
            </a:r>
          </a:p>
          <a:p>
            <a:pPr marL="1533071" lvl="2" indent="-326571">
              <a:defRPr sz="2400"/>
            </a:pPr>
            <a:r>
              <a:t>Lower level than heap manager</a:t>
            </a:r>
          </a:p>
          <a:p>
            <a:pPr marL="1533071" lvl="2" indent="-326571">
              <a:defRPr sz="2400"/>
            </a:pPr>
            <a:r>
              <a:t>Manages virtual address spaces</a:t>
            </a:r>
          </a:p>
          <a:p>
            <a:pPr marL="1977571" lvl="3" indent="-326571">
              <a:defRPr sz="2400"/>
            </a:pPr>
            <a:r>
              <a:t>Abstracts physical addresses, allowing arbitrary addresses to be assigned to memory cells</a:t>
            </a:r>
          </a:p>
          <a:p>
            <a:pPr marL="1977571" lvl="3" indent="-326571">
              <a:defRPr sz="2400"/>
            </a:pPr>
            <a:r>
              <a:t>Allows concurrent processes to be loaded into overlapping memory at different times</a:t>
            </a:r>
          </a:p>
          <a:p>
            <a:pPr marL="1977571" lvl="3" indent="-326571">
              <a:defRPr sz="2400"/>
            </a:pPr>
            <a:r>
              <a:t>Lets us separate processes completely from each other</a:t>
            </a:r>
          </a:p>
          <a:p>
            <a:pPr marL="1977571" lvl="3" indent="-326571">
              <a:defRPr sz="2400"/>
            </a:pPr>
            <a:r>
              <a:t>Requires kernel and memory manager to find location of memory unit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Memory hierarchy manag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hierarchy managers</a:t>
            </a:r>
          </a:p>
        </p:txBody>
      </p:sp>
      <p:sp>
        <p:nvSpPr>
          <p:cNvPr id="156" name="Virtual memory manager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Virtual memory manager</a:t>
            </a:r>
          </a:p>
          <a:p>
            <a:pPr marL="1533071" lvl="2" indent="-326571">
              <a:defRPr sz="2400"/>
            </a:pPr>
            <a:r>
              <a:t>Virtual memory</a:t>
            </a:r>
          </a:p>
          <a:p>
            <a:pPr marL="1977571" lvl="3" indent="-326571">
              <a:defRPr sz="2400"/>
            </a:pPr>
            <a:r>
              <a:t>Extension of idea of virtual address space</a:t>
            </a:r>
          </a:p>
          <a:p>
            <a:pPr marL="1977571" lvl="3" indent="-326571">
              <a:defRPr sz="2400"/>
            </a:pPr>
            <a:r>
              <a:t>Any memory cell can reside in both main memory and/or hard disk</a:t>
            </a:r>
          </a:p>
          <a:p>
            <a:pPr marL="1977571" lvl="3" indent="-326571">
              <a:defRPr sz="2400"/>
            </a:pPr>
            <a:r>
              <a:t>Allows for almost unlimited amounts of memory to be allocated</a:t>
            </a:r>
          </a:p>
          <a:p>
            <a:pPr marL="2422071" lvl="4" indent="-326571">
              <a:defRPr sz="2400"/>
            </a:pPr>
            <a:r>
              <a:t>Process allowed 2GB address space on some versions of Windows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Though you might never see it taking up 2GB of RAM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hysical 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Physical view</a:t>
            </a:r>
          </a:p>
        </p:txBody>
      </p:sp>
      <p:sp>
        <p:nvSpPr>
          <p:cNvPr id="159" name="Processor does not interact directly with memory or hard disk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6052245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Processor does not interact directly with memory or hard disk</a:t>
            </a:r>
          </a:p>
          <a:p>
            <a:pPr marL="1533071" lvl="2" indent="-326571">
              <a:defRPr sz="2400"/>
            </a:pPr>
            <a:r>
              <a:t>Works through memory controller and disk controller</a:t>
            </a:r>
          </a:p>
          <a:p>
            <a:pPr marL="1088571" lvl="1" indent="-326571">
              <a:defRPr sz="2400"/>
            </a:pPr>
            <a:r>
              <a:t>System memory</a:t>
            </a:r>
          </a:p>
          <a:p>
            <a:pPr marL="1533071" lvl="2" indent="-326571">
              <a:defRPr sz="2400"/>
            </a:pPr>
            <a:r>
              <a:t>Based on Dynamic RAM, relatively slow, requires periodic refresh</a:t>
            </a:r>
          </a:p>
          <a:p>
            <a:pPr marL="1977571" lvl="3" indent="-326571">
              <a:defRPr sz="2400"/>
            </a:pPr>
            <a:r>
              <a:t>30 to 80, or even 250 cycles of CPU time</a:t>
            </a:r>
          </a:p>
          <a:p>
            <a:pPr marL="1088571" lvl="1" indent="-326571">
              <a:defRPr sz="2400"/>
            </a:pPr>
            <a:r>
              <a:t>Cache memory</a:t>
            </a:r>
          </a:p>
          <a:p>
            <a:pPr marL="1533071" lvl="2" indent="-326571">
              <a:defRPr sz="2400"/>
            </a:pPr>
            <a:r>
              <a:t>Higher speed memory closer to the CPU</a:t>
            </a:r>
          </a:p>
          <a:p>
            <a:pPr marL="1533071" lvl="2" indent="-326571">
              <a:defRPr sz="2400"/>
            </a:pPr>
            <a:r>
              <a:t>Usually implemented as static RAM (more expensive, faster)</a:t>
            </a:r>
          </a:p>
          <a:p>
            <a:pPr marL="1533071" lvl="2" indent="-326571">
              <a:defRPr sz="2400"/>
            </a:pPr>
            <a:r>
              <a:t>Invisible to programmer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hysical 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Physical view</a:t>
            </a:r>
          </a:p>
        </p:txBody>
      </p:sp>
      <p:sp>
        <p:nvSpPr>
          <p:cNvPr id="162" name="Cache memory…"/>
          <p:cNvSpPr txBox="1">
            <a:spLocks noGrp="1"/>
          </p:cNvSpPr>
          <p:nvPr>
            <p:ph type="body" idx="1"/>
          </p:nvPr>
        </p:nvSpPr>
        <p:spPr>
          <a:xfrm>
            <a:off x="1270000" y="2565400"/>
            <a:ext cx="10972800" cy="61214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Cache memory</a:t>
            </a:r>
          </a:p>
          <a:p>
            <a:pPr marL="1533071" lvl="2" indent="-326571">
              <a:defRPr sz="2400"/>
            </a:pPr>
            <a:r>
              <a:t>Contents cannot be directly read/modified</a:t>
            </a:r>
          </a:p>
          <a:p>
            <a:pPr marL="1533071" lvl="2" indent="-326571">
              <a:defRPr sz="2400"/>
            </a:pPr>
            <a:r>
              <a:t>Cache controller</a:t>
            </a:r>
          </a:p>
          <a:p>
            <a:pPr marL="1977571" lvl="3" indent="-326571">
              <a:defRPr sz="2400"/>
            </a:pPr>
            <a:r>
              <a:t>Manages cache memory instead of CPU</a:t>
            </a:r>
          </a:p>
          <a:p>
            <a:pPr marL="1977571" lvl="3" indent="-326571">
              <a:defRPr sz="2400"/>
            </a:pPr>
            <a:r>
              <a:t>Responsible to accumulate important data and clear out old data</a:t>
            </a:r>
          </a:p>
          <a:p>
            <a:pPr marL="1977571" lvl="3" indent="-326571">
              <a:defRPr sz="2400"/>
            </a:pPr>
            <a:r>
              <a:t>Often integrated into CPU</a:t>
            </a:r>
          </a:p>
          <a:p>
            <a:pPr marL="1533071" lvl="2" indent="-326571">
              <a:defRPr sz="2400"/>
            </a:pPr>
            <a:r>
              <a:t>L1 cache: Near cpu speed, often read in 2-3 cycles</a:t>
            </a:r>
          </a:p>
          <a:p>
            <a:pPr marL="1533071" lvl="2" indent="-326571">
              <a:defRPr sz="2400"/>
            </a:pPr>
            <a:r>
              <a:t>L2 cache: Access times in range of 9-15 cycles</a:t>
            </a:r>
          </a:p>
          <a:p>
            <a:pPr marL="1977571" lvl="3" indent="-326571">
              <a:defRPr sz="2400"/>
            </a:pPr>
            <a:r>
              <a:t>Contains data flushed out of L1 cache (victim cache)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Addr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Addresses</a:t>
            </a:r>
          </a:p>
        </p:txBody>
      </p:sp>
      <p:sp>
        <p:nvSpPr>
          <p:cNvPr id="165" name="Address binding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Address binding</a:t>
            </a:r>
          </a:p>
          <a:p>
            <a:pPr marL="1977571" lvl="3" indent="-326571">
              <a:defRPr sz="2400"/>
            </a:pPr>
            <a:r>
              <a:t>Binding: Mapping from one address space to another</a:t>
            </a:r>
          </a:p>
          <a:p>
            <a:pPr marL="1977571" lvl="3" indent="-326571">
              <a:defRPr sz="2400"/>
            </a:pPr>
            <a:r>
              <a:t>Program must be loaded into memory before execution</a:t>
            </a:r>
          </a:p>
          <a:p>
            <a:pPr marL="2422071" lvl="4" indent="-326571">
              <a:defRPr sz="2400"/>
            </a:pPr>
            <a:r>
              <a:t>Loading of processes may result in relocation of addresses</a:t>
            </a:r>
          </a:p>
          <a:p>
            <a:pPr marL="2422071" lvl="4" indent="-326571">
              <a:defRPr sz="2400"/>
            </a:pPr>
            <a:r>
              <a:t>Link external references to entry points as needed</a:t>
            </a:r>
          </a:p>
          <a:p>
            <a:pPr marL="1977571" lvl="3" indent="-326571">
              <a:defRPr sz="2400"/>
            </a:pPr>
            <a:r>
              <a:t>User process may reside in any part in memory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Addr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Addresses</a:t>
            </a:r>
          </a:p>
        </p:txBody>
      </p:sp>
      <p:sp>
        <p:nvSpPr>
          <p:cNvPr id="168" name="Programs have symbolic addresses in the source program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Programs have symbolic addresses in the source programs </a:t>
            </a:r>
          </a:p>
          <a:p>
            <a:pPr marL="1977571" lvl="3" indent="-326571">
              <a:defRPr sz="2400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int i = 0;</a:t>
            </a:r>
          </a:p>
          <a:p>
            <a:pPr marL="1533071" lvl="2" indent="-326571">
              <a:defRPr sz="2400"/>
            </a:pPr>
            <a:r>
              <a:t>Compiler binds symbolic addresses to relocatable addresses</a:t>
            </a:r>
          </a:p>
          <a:p>
            <a:pPr marL="1977571" lvl="3" indent="-326571">
              <a:defRPr sz="2400"/>
            </a:pPr>
            <a:r>
              <a:t>Usually assumed to start at 0</a:t>
            </a:r>
          </a:p>
          <a:p>
            <a:pPr marL="1533071" lvl="2" indent="-326571">
              <a:defRPr sz="2400"/>
            </a:pPr>
            <a:r>
              <a:t>Linkage editor (loader) binds relocatable addresses to absolute addresses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Bin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Binding</a:t>
            </a:r>
          </a:p>
        </p:txBody>
      </p:sp>
      <p:sp>
        <p:nvSpPr>
          <p:cNvPr id="171" name="Type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Types</a:t>
            </a:r>
          </a:p>
          <a:p>
            <a:pPr marL="1977571" lvl="3" indent="-326571">
              <a:defRPr sz="2400"/>
            </a:pPr>
            <a:r>
              <a:t>Compile time binding</a:t>
            </a:r>
          </a:p>
          <a:p>
            <a:pPr marL="2422071" lvl="4" indent="-326571">
              <a:defRPr sz="2400"/>
            </a:pPr>
            <a:r>
              <a:t>Binding of absolute addresses by compiler</a:t>
            </a:r>
          </a:p>
          <a:p>
            <a:pPr marL="2422071" lvl="4" indent="-326571">
              <a:defRPr sz="2400"/>
            </a:pPr>
            <a:r>
              <a:t>Possible only if compiler knows where program will be in memory</a:t>
            </a:r>
          </a:p>
          <a:p>
            <a:pPr marL="1977571" lvl="3" indent="-326571">
              <a:defRPr sz="2400"/>
            </a:pPr>
            <a:r>
              <a:t>Load time binding</a:t>
            </a:r>
          </a:p>
          <a:p>
            <a:pPr marL="2422071" lvl="4" indent="-326571">
              <a:defRPr sz="2400"/>
            </a:pPr>
            <a:r>
              <a:t>Needs relocatable code generated by compiler</a:t>
            </a:r>
          </a:p>
          <a:p>
            <a:pPr marL="2422071" lvl="4" indent="-326571">
              <a:defRPr sz="2400"/>
            </a:pPr>
            <a:r>
              <a:t>Final binding delayed until code is loaded</a:t>
            </a:r>
          </a:p>
          <a:p>
            <a:pPr marL="2422071" lvl="4" indent="-326571">
              <a:defRPr sz="2400"/>
            </a:pPr>
            <a:r>
              <a:t>If change of starting address, have to reload code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Bin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Binding</a:t>
            </a:r>
          </a:p>
        </p:txBody>
      </p:sp>
      <p:sp>
        <p:nvSpPr>
          <p:cNvPr id="174" name="Type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Types</a:t>
            </a:r>
          </a:p>
          <a:p>
            <a:pPr marL="1977571" lvl="3" indent="-326571">
              <a:defRPr sz="2400"/>
            </a:pPr>
            <a:r>
              <a:t>Execution time binding</a:t>
            </a:r>
          </a:p>
          <a:p>
            <a:pPr marL="2422071" lvl="4" indent="-326571">
              <a:defRPr sz="2400"/>
            </a:pPr>
            <a:r>
              <a:t>Process may be moved to different addresses during execution</a:t>
            </a:r>
          </a:p>
          <a:p>
            <a:pPr marL="2422071" lvl="4" indent="-326571">
              <a:defRPr sz="2400"/>
            </a:pPr>
            <a:r>
              <a:t>Need to delay binding until code is actually being run</a:t>
            </a:r>
          </a:p>
          <a:p>
            <a:pPr marL="2422071" lvl="4" indent="-326571">
              <a:defRPr sz="2400"/>
            </a:pPr>
            <a:r>
              <a:t>Requires special hardware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Relocation</a:t>
            </a:r>
          </a:p>
        </p:txBody>
      </p:sp>
      <p:sp>
        <p:nvSpPr>
          <p:cNvPr id="177" name="Compiler works with assumed logical address space when creating object modul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Compiler works with assumed logical address space when creating object module</a:t>
            </a:r>
          </a:p>
          <a:p>
            <a:pPr marL="1533071" lvl="2" indent="-326571">
              <a:defRPr sz="2400"/>
            </a:pPr>
            <a:r>
              <a:t>Relocation: Adjustment of operand and branch addresses within program to reflect actual address space</a:t>
            </a:r>
          </a:p>
          <a:p>
            <a:pPr marL="1533071" lvl="2" indent="-326571">
              <a:defRPr sz="2400"/>
            </a:pPr>
            <a:r>
              <a:t>Types:</a:t>
            </a:r>
          </a:p>
          <a:p>
            <a:pPr marL="1977571" lvl="3" indent="-326571">
              <a:defRPr sz="2400"/>
            </a:pPr>
            <a:r>
              <a:t>Static relocation</a:t>
            </a:r>
          </a:p>
          <a:p>
            <a:pPr marL="1977571" lvl="3" indent="-326571">
              <a:defRPr sz="2400"/>
            </a:pPr>
            <a:r>
              <a:t>Dynamic relocation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tatic Re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Static Relocation</a:t>
            </a:r>
          </a:p>
        </p:txBody>
      </p:sp>
      <p:sp>
        <p:nvSpPr>
          <p:cNvPr id="180" name="Static relocation often done through separate linkage editor and loader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Static relocation often done through separate linkage editor and loader</a:t>
            </a:r>
          </a:p>
          <a:p>
            <a:pPr marL="1977571" lvl="3" indent="-326571">
              <a:defRPr sz="2400"/>
            </a:pPr>
            <a:r>
              <a:t>Starting address not required to be known</a:t>
            </a:r>
          </a:p>
          <a:p>
            <a:pPr marL="1977571" lvl="3" indent="-326571">
              <a:defRPr sz="2400"/>
            </a:pPr>
            <a:r>
              <a:t>Absolute physical addresses bound only at time of loading</a:t>
            </a:r>
          </a:p>
          <a:p>
            <a:pPr marL="1977571" lvl="3" indent="-326571">
              <a:defRPr sz="2400"/>
            </a:pPr>
            <a:r>
              <a:t>Relocatable physical addresses bound by relocating complete module</a:t>
            </a:r>
          </a:p>
          <a:p>
            <a:pPr marL="1977571" lvl="3" indent="-326571">
              <a:defRPr sz="2400"/>
            </a:pPr>
            <a:r>
              <a:t>Program gets relocated twice</a:t>
            </a:r>
          </a:p>
          <a:p>
            <a:pPr marL="2422071" lvl="4" indent="-326571">
              <a:defRPr sz="2400"/>
            </a:pPr>
            <a:r>
              <a:t>Once for linking and another for loading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ynamic Re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Relocation</a:t>
            </a:r>
          </a:p>
        </p:txBody>
      </p:sp>
      <p:sp>
        <p:nvSpPr>
          <p:cNvPr id="183" name="Dynamic relocation: Modules kept on disk in relocatable load format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Dynamic relocation: Modules kept on disk in relocatable load format</a:t>
            </a:r>
          </a:p>
          <a:p>
            <a:pPr marL="1977571" lvl="3" indent="-326571">
              <a:defRPr sz="2400"/>
            </a:pPr>
            <a:r>
              <a:t>Binding of physical addresses delayed to the very last possible moment</a:t>
            </a:r>
          </a:p>
          <a:p>
            <a:pPr marL="2422071" lvl="4" indent="-326571">
              <a:defRPr sz="2400"/>
            </a:pPr>
            <a:r>
              <a:t>Every time a storage reference is made</a:t>
            </a:r>
          </a:p>
          <a:p>
            <a:pPr marL="1977571" lvl="3" indent="-326571">
              <a:defRPr sz="2400"/>
            </a:pPr>
            <a:r>
              <a:t>Invisible to all but system programmers</a:t>
            </a:r>
          </a:p>
          <a:p>
            <a:pPr marL="1977571" lvl="3" indent="-326571">
              <a:defRPr sz="2400"/>
            </a:pPr>
            <a:r>
              <a:t>Forms the basis for virtual memory</a:t>
            </a:r>
          </a:p>
          <a:p>
            <a:pPr marL="1977571" lvl="3" indent="-326571">
              <a:defRPr sz="2400"/>
            </a:pPr>
            <a:r>
              <a:t>Permits efficient use of main storage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Dynamic Re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Relocation</a:t>
            </a:r>
          </a:p>
        </p:txBody>
      </p:sp>
      <p:sp>
        <p:nvSpPr>
          <p:cNvPr id="186" name="What about when a routine needs to call another routine?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rPr dirty="0"/>
              <a:t>What about when a routine needs to call another routine?</a:t>
            </a:r>
          </a:p>
          <a:p>
            <a:pPr marL="1977571" lvl="3" indent="-326571">
              <a:defRPr sz="2400"/>
            </a:pPr>
            <a:r>
              <a:rPr dirty="0"/>
              <a:t>Could be out of main memory, have to check</a:t>
            </a:r>
          </a:p>
          <a:p>
            <a:pPr marL="1977571" lvl="3" indent="-326571">
              <a:defRPr sz="2400"/>
            </a:pPr>
            <a:r>
              <a:rPr dirty="0"/>
              <a:t>If out of memory, load it</a:t>
            </a:r>
          </a:p>
          <a:p>
            <a:pPr marL="2422071" lvl="4" indent="-326571">
              <a:defRPr sz="2400"/>
            </a:pPr>
            <a:r>
              <a:rPr dirty="0"/>
              <a:t>Unused routine is never actually loaded</a:t>
            </a:r>
          </a:p>
          <a:p>
            <a:pPr marL="1977571" lvl="3" indent="-326571">
              <a:defRPr sz="2400"/>
            </a:pPr>
            <a:r>
              <a:rPr dirty="0"/>
              <a:t>Can save us on memory requirements for infrequently used code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Memory align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alignment</a:t>
            </a:r>
          </a:p>
        </p:txBody>
      </p:sp>
      <p:sp>
        <p:nvSpPr>
          <p:cNvPr id="189" name="When reading from memory, getting the whole block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When reading from memory, getting the whole block</a:t>
            </a:r>
          </a:p>
          <a:p>
            <a:pPr marL="1977571" lvl="3" indent="-326571">
              <a:defRPr sz="2400"/>
            </a:pPr>
            <a:r>
              <a:t>Not just one (or set of) bytes</a:t>
            </a:r>
          </a:p>
          <a:p>
            <a:pPr marL="1533071" lvl="2" indent="-326571">
              <a:defRPr sz="2400"/>
            </a:pPr>
            <a:r>
              <a:t>Systems can have unaligned loads and unaligned stores</a:t>
            </a:r>
          </a:p>
          <a:p>
            <a:pPr marL="1533071" lvl="2" indent="-326571">
              <a:defRPr sz="2400"/>
            </a:pPr>
            <a:r>
              <a:t>Unaligned stores could overwrite data adjacent to target</a:t>
            </a:r>
          </a:p>
          <a:p>
            <a:pPr marL="1977571" lvl="3" indent="-326571">
              <a:defRPr sz="2400"/>
            </a:pPr>
            <a:r>
              <a:t>Problem can be avoided by extra overhead</a:t>
            </a:r>
          </a:p>
          <a:p>
            <a:pPr marL="1533071" lvl="2" indent="-326571">
              <a:defRPr sz="2400"/>
            </a:pPr>
            <a:r>
              <a:t>Bus error vs segmentation fault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quir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Requirements</a:t>
            </a:r>
          </a:p>
        </p:txBody>
      </p:sp>
      <p:sp>
        <p:nvSpPr>
          <p:cNvPr id="192" name="Process address spac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Process address space</a:t>
            </a:r>
          </a:p>
          <a:p>
            <a:pPr marL="1977571" lvl="3" indent="-326571">
              <a:defRPr sz="2400"/>
            </a:pPr>
            <a:r>
              <a:t>Processes need to run in a private address space</a:t>
            </a:r>
          </a:p>
          <a:p>
            <a:pPr marL="1977571" lvl="3" indent="-326571">
              <a:defRPr sz="2400"/>
            </a:pPr>
            <a:r>
              <a:t>User mode</a:t>
            </a:r>
          </a:p>
          <a:p>
            <a:pPr marL="2422071" lvl="4" indent="-326571">
              <a:defRPr sz="2400"/>
            </a:pPr>
            <a:r>
              <a:t>Process refers to private stack, data, code areas</a:t>
            </a:r>
          </a:p>
          <a:p>
            <a:pPr marL="1977571" lvl="3" indent="-326571">
              <a:defRPr sz="2400"/>
            </a:pPr>
            <a:r>
              <a:t>Kernel mode</a:t>
            </a:r>
          </a:p>
          <a:p>
            <a:pPr marL="2422071" lvl="4" indent="-326571">
              <a:defRPr sz="2400"/>
            </a:pPr>
            <a:r>
              <a:t>Kernel data and code areas, uses different private stack</a:t>
            </a:r>
          </a:p>
          <a:p>
            <a:pPr marL="1977571" lvl="3" indent="-326571">
              <a:defRPr sz="2400"/>
            </a:pPr>
            <a:r>
              <a:t>Processes may need access to shared address space</a:t>
            </a:r>
          </a:p>
          <a:p>
            <a:pPr marL="2422071" lvl="4" indent="-326571">
              <a:defRPr sz="2400"/>
            </a:pPr>
            <a:r>
              <a:t>Explicit requests like shared memory</a:t>
            </a:r>
          </a:p>
          <a:p>
            <a:pPr marL="2422071" lvl="4" indent="-326571">
              <a:defRPr sz="2400"/>
            </a:pPr>
            <a:r>
              <a:t>Could be done automatically by kernel to reduce memory usage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quir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Requirements</a:t>
            </a:r>
          </a:p>
        </p:txBody>
      </p:sp>
      <p:sp>
        <p:nvSpPr>
          <p:cNvPr id="195" name="Reloc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Relocation</a:t>
            </a:r>
          </a:p>
          <a:p>
            <a:pPr marL="1977571" lvl="3" indent="-326571">
              <a:defRPr sz="2400"/>
            </a:pPr>
            <a:r>
              <a:t>Available main memory must be shared amongst processes</a:t>
            </a:r>
          </a:p>
          <a:p>
            <a:pPr marL="1977571" lvl="3" indent="-326571">
              <a:defRPr sz="2400"/>
            </a:pPr>
            <a:r>
              <a:t>Programmer may not know what other programs are resident in memory while their code is executing</a:t>
            </a:r>
          </a:p>
          <a:p>
            <a:pPr marL="1977571" lvl="3" indent="-326571">
              <a:defRPr sz="2400"/>
            </a:pPr>
            <a:r>
              <a:t>Processes get swapped in and out to maximize cpu utilization</a:t>
            </a:r>
          </a:p>
          <a:p>
            <a:pPr marL="2422071" lvl="4" indent="-326571">
              <a:defRPr sz="2400"/>
            </a:pPr>
            <a:r>
              <a:t>These processes may not be swapped back to the same spot in memory (process got </a:t>
            </a:r>
            <a:r>
              <a:rPr i="1"/>
              <a:t>relocated</a:t>
            </a:r>
            <a:r>
              <a:t> to a new part)</a:t>
            </a:r>
          </a:p>
          <a:p>
            <a:pPr marL="1977571" lvl="3" indent="-326571">
              <a:defRPr sz="2400"/>
            </a:pPr>
            <a:r>
              <a:t>Of course all memory references need to be resolved to correct addresses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quir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Requirements</a:t>
            </a:r>
          </a:p>
        </p:txBody>
      </p:sp>
      <p:sp>
        <p:nvSpPr>
          <p:cNvPr id="198" name="Protec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Protection</a:t>
            </a:r>
          </a:p>
          <a:p>
            <a:pPr marL="1977571" lvl="3" indent="-326571">
              <a:defRPr sz="2400"/>
            </a:pPr>
            <a:r>
              <a:t>Processes need to be protected against unwanted interference</a:t>
            </a:r>
          </a:p>
          <a:p>
            <a:pPr marL="1977571" lvl="3" indent="-326571">
              <a:defRPr sz="2400"/>
            </a:pPr>
            <a:r>
              <a:t>Made harder as relocation because a process’s location in memory is unpredictable</a:t>
            </a:r>
          </a:p>
          <a:p>
            <a:pPr marL="1977571" lvl="3" indent="-326571">
              <a:defRPr sz="2400"/>
            </a:pPr>
            <a:r>
              <a:t>Impossible to check absolute addresses at compile time</a:t>
            </a:r>
          </a:p>
          <a:p>
            <a:pPr marL="1977571" lvl="3" indent="-326571">
              <a:defRPr sz="2400"/>
            </a:pPr>
            <a:r>
              <a:t>Have to deal with dynamic memory allocation through pointers</a:t>
            </a:r>
          </a:p>
          <a:p>
            <a:pPr marL="1977571" lvl="3" indent="-326571">
              <a:defRPr sz="2400"/>
            </a:pPr>
            <a:r>
              <a:t>Need to make sure cannot access data or code of OS</a:t>
            </a:r>
          </a:p>
          <a:p>
            <a:pPr marL="1977571" lvl="3" indent="-326571">
              <a:defRPr sz="2400"/>
            </a:pPr>
            <a:r>
              <a:t>Need hardware support to protect processes from interfering with one another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quir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Requirements</a:t>
            </a:r>
          </a:p>
        </p:txBody>
      </p:sp>
      <p:sp>
        <p:nvSpPr>
          <p:cNvPr id="201" name="Logical organiz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Logical organization</a:t>
            </a:r>
          </a:p>
          <a:p>
            <a:pPr marL="1977571" lvl="3" indent="-326571">
              <a:defRPr sz="2400"/>
            </a:pPr>
            <a:r>
              <a:t>Memory needs to have some logical organization (usually linearly)</a:t>
            </a:r>
          </a:p>
          <a:p>
            <a:pPr marL="1977571" lvl="3" indent="-326571">
              <a:defRPr sz="2400"/>
            </a:pPr>
            <a:r>
              <a:t>Programs written as modules that can be written and compiled independently</a:t>
            </a:r>
          </a:p>
          <a:p>
            <a:pPr marL="1533071" lvl="2" indent="-326571">
              <a:defRPr sz="2400"/>
            </a:pPr>
            <a:r>
              <a:t>Sharing</a:t>
            </a:r>
          </a:p>
          <a:p>
            <a:pPr marL="1977571" lvl="3" indent="-326571">
              <a:defRPr sz="2400"/>
            </a:pPr>
            <a:r>
              <a:t>Need the capability for processes and the OS to share memory as needed/required</a:t>
            </a:r>
          </a:p>
          <a:p>
            <a:pPr marL="1977571" lvl="3" indent="-326571">
              <a:defRPr sz="2400"/>
            </a:pPr>
            <a:r>
              <a:t>Could allow each process to access same copy of a program</a:t>
            </a:r>
          </a:p>
          <a:p>
            <a:pPr marL="2422071" lvl="4" indent="-326571">
              <a:defRPr sz="2400"/>
            </a:pPr>
            <a:r>
              <a:t>Rather than needing separate copies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quir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Requirements</a:t>
            </a:r>
          </a:p>
        </p:txBody>
      </p:sp>
      <p:sp>
        <p:nvSpPr>
          <p:cNvPr id="204" name="Physical Organiz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Physical Organization</a:t>
            </a:r>
          </a:p>
          <a:p>
            <a:pPr marL="1977571" lvl="3" indent="-326571">
              <a:defRPr sz="2400"/>
            </a:pPr>
            <a:r>
              <a:t>Cannot leave programmer with responsibility to manage memory</a:t>
            </a:r>
          </a:p>
          <a:p>
            <a:pPr marL="1977571" lvl="3" indent="-326571">
              <a:defRPr sz="2400"/>
            </a:pPr>
            <a:r>
              <a:t>Might not have enough memory for program plus data</a:t>
            </a:r>
          </a:p>
          <a:p>
            <a:pPr marL="1977571" lvl="3" indent="-326571">
              <a:defRPr sz="2400"/>
            </a:pPr>
            <a:r>
              <a:t>Programmer does not know how much total space is available.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emory Management Schem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Management Schemes</a:t>
            </a:r>
          </a:p>
        </p:txBody>
      </p:sp>
      <p:sp>
        <p:nvSpPr>
          <p:cNvPr id="207" name="Always have a shortage of main memory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Always have a shortage of main memory</a:t>
            </a:r>
          </a:p>
          <a:p>
            <a:pPr marL="1977571" lvl="3" indent="-326571">
              <a:defRPr sz="2400"/>
            </a:pPr>
            <a:r>
              <a:t>Applications grow to fill the memory allocated to them</a:t>
            </a:r>
          </a:p>
          <a:p>
            <a:pPr marL="1977571" lvl="3" indent="-326571">
              <a:defRPr sz="2400"/>
            </a:pPr>
            <a:r>
              <a:t>Might need several active process at once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Memory Management Schem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Management Schemes</a:t>
            </a:r>
          </a:p>
        </p:txBody>
      </p:sp>
      <p:sp>
        <p:nvSpPr>
          <p:cNvPr id="210" name="Fixed Partitioning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977571" lvl="3" indent="-326571">
              <a:defRPr sz="2400"/>
            </a:pPr>
            <a:r>
              <a:t>Fixed Partitioning</a:t>
            </a:r>
          </a:p>
          <a:p>
            <a:pPr marL="1977571" lvl="3" indent="-326571">
              <a:defRPr sz="2400"/>
            </a:pPr>
            <a:r>
              <a:t>Dynamic Partitioning</a:t>
            </a:r>
          </a:p>
          <a:p>
            <a:pPr marL="1977571" lvl="3" indent="-326571">
              <a:defRPr sz="2400"/>
            </a:pPr>
            <a:r>
              <a:t>Simple Paging</a:t>
            </a:r>
          </a:p>
          <a:p>
            <a:pPr marL="1977571" lvl="3" indent="-326571">
              <a:defRPr sz="2400"/>
            </a:pPr>
            <a:r>
              <a:t>Simple Segmentation</a:t>
            </a:r>
          </a:p>
          <a:p>
            <a:pPr marL="1977571" lvl="3" indent="-326571">
              <a:defRPr sz="2400"/>
            </a:pPr>
            <a:r>
              <a:t>Virtual Memory Paging</a:t>
            </a:r>
          </a:p>
          <a:p>
            <a:pPr marL="1977571" lvl="3" indent="-326571">
              <a:defRPr sz="2400"/>
            </a:pPr>
            <a:r>
              <a:t>Virtual Memory Segmentation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Fixed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Fixed Partitioning</a:t>
            </a:r>
          </a:p>
        </p:txBody>
      </p:sp>
      <p:sp>
        <p:nvSpPr>
          <p:cNvPr id="213" name="Simplest memory management scheme for multiprogrammed system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Simplest memory management scheme for multiprogrammed systems</a:t>
            </a:r>
          </a:p>
          <a:p>
            <a:pPr marL="1533071" lvl="2" indent="-326571">
              <a:defRPr sz="2400"/>
            </a:pPr>
            <a:r>
              <a:t>Divide memory into fixed size </a:t>
            </a:r>
            <a:r>
              <a:rPr i="1"/>
              <a:t>partitions</a:t>
            </a:r>
            <a:r>
              <a:t>, possibly of different size</a:t>
            </a:r>
          </a:p>
          <a:p>
            <a:pPr marL="1977571" lvl="3" indent="-326571">
              <a:defRPr sz="2400"/>
            </a:pPr>
            <a:r>
              <a:t>Fixed at system initialization, cannot be changed during operation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Fixed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Fixed Partitioning</a:t>
            </a:r>
          </a:p>
        </p:txBody>
      </p:sp>
      <p:sp>
        <p:nvSpPr>
          <p:cNvPr id="216" name="Single-Partition Alloc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977571" lvl="3" indent="-326571">
              <a:defRPr sz="2400"/>
            </a:pPr>
            <a:r>
              <a:t>Single-Partition Allocation</a:t>
            </a:r>
          </a:p>
          <a:p>
            <a:pPr marL="2422071" lvl="4" indent="-326571">
              <a:defRPr sz="2400"/>
            </a:pPr>
            <a:r>
              <a:t>User is provided with a bare machine</a:t>
            </a:r>
          </a:p>
          <a:p>
            <a:pPr marL="2422071" lvl="4" indent="-326571">
              <a:defRPr sz="2400"/>
            </a:pPr>
            <a:r>
              <a:t>User has full control of entire memory space</a:t>
            </a:r>
          </a:p>
          <a:p>
            <a:pPr marL="2422071" lvl="4" indent="-326571">
              <a:defRPr sz="2400"/>
            </a:pPr>
            <a:r>
              <a:t>Clearly not practical, but has many advantages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Fixed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Fixed Partitioning</a:t>
            </a:r>
          </a:p>
        </p:txBody>
      </p:sp>
      <p:sp>
        <p:nvSpPr>
          <p:cNvPr id="219" name="Single-Partition Alloc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977571" lvl="3" indent="-326571">
              <a:defRPr sz="2400"/>
            </a:pPr>
            <a:r>
              <a:t>Single-Partition Allocation</a:t>
            </a:r>
          </a:p>
          <a:p>
            <a:pPr marL="2422071" lvl="4" indent="-326571">
              <a:defRPr sz="2400"/>
            </a:pPr>
            <a:r>
              <a:t>Advantages: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Maximum flexibility, use memory as you want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Maximum simplicity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Minimum cost, no special hardware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Fixed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Fixed Partitioning</a:t>
            </a:r>
          </a:p>
        </p:txBody>
      </p:sp>
      <p:sp>
        <p:nvSpPr>
          <p:cNvPr id="222" name="Single-Partition Alloc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977571" lvl="3" indent="-326571">
              <a:defRPr sz="2400"/>
            </a:pPr>
            <a:r>
              <a:t>Single-Partition Allocation</a:t>
            </a:r>
          </a:p>
          <a:p>
            <a:pPr marL="2422071" lvl="4" indent="-326571">
              <a:defRPr sz="2400"/>
            </a:pPr>
            <a:r>
              <a:t>Disadvantages: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No services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OS has no control over interrupts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No mechanism to process system calls or errors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No space to provide multiprogramming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Fixed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Fixed Partitioning</a:t>
            </a:r>
          </a:p>
        </p:txBody>
      </p:sp>
      <p:sp>
        <p:nvSpPr>
          <p:cNvPr id="225" name="Two-Partition Alloc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Two-Partition Allocation</a:t>
            </a:r>
          </a:p>
          <a:p>
            <a:pPr marL="1977571" lvl="3" indent="-326571">
              <a:defRPr sz="2400"/>
            </a:pPr>
            <a:r>
              <a:t>Memory divided into two partitions</a:t>
            </a:r>
          </a:p>
          <a:p>
            <a:pPr marL="2422071" lvl="4" indent="-326571">
              <a:defRPr sz="2400"/>
            </a:pPr>
            <a:r>
              <a:t>Resident operating system</a:t>
            </a:r>
          </a:p>
          <a:p>
            <a:pPr marL="2422071" lvl="4" indent="-326571">
              <a:defRPr sz="2400"/>
            </a:pPr>
            <a:r>
              <a:t>User memory area</a:t>
            </a:r>
          </a:p>
          <a:p>
            <a:pPr marL="1977571" lvl="3" indent="-326571">
              <a:defRPr sz="2400"/>
            </a:pPr>
            <a:r>
              <a:t>OS placed in low memory or high memory depending on location of interrupt vector</a:t>
            </a:r>
          </a:p>
          <a:p>
            <a:pPr marL="1977571" lvl="3" indent="-326571">
              <a:defRPr sz="2400"/>
            </a:pPr>
            <a:r>
              <a:t>OS code and data can be protected by hardware</a:t>
            </a:r>
          </a:p>
          <a:p>
            <a:pPr marL="2422071" lvl="4" indent="-326571">
              <a:defRPr sz="2400"/>
            </a:pPr>
            <a:r>
              <a:t>base-register, limit register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Multiple-Partition Al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Multiple-Partition Allocation</a:t>
            </a:r>
          </a:p>
        </p:txBody>
      </p:sp>
      <p:sp>
        <p:nvSpPr>
          <p:cNvPr id="228" name="Multiple-Partition Alloc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Multiple-Partition Allocation</a:t>
            </a:r>
          </a:p>
          <a:p>
            <a:pPr marL="1977571" lvl="3" indent="-326571">
              <a:defRPr sz="2400"/>
            </a:pPr>
            <a:r>
              <a:t>Necessary for multiprogrammed systems</a:t>
            </a:r>
          </a:p>
          <a:p>
            <a:pPr marL="1977571" lvl="3" indent="-326571">
              <a:defRPr sz="2400"/>
            </a:pPr>
            <a:r>
              <a:t>Allocates memory to various processes in wait queue to be brought into memory</a:t>
            </a:r>
          </a:p>
          <a:p>
            <a:pPr marL="1533071" lvl="2" indent="-326571">
              <a:defRPr sz="2400"/>
            </a:pPr>
            <a:r>
              <a:t>Simplest scheme:</a:t>
            </a:r>
          </a:p>
          <a:p>
            <a:pPr marL="1977571" lvl="3" indent="-326571">
              <a:defRPr sz="2400"/>
            </a:pPr>
            <a:r>
              <a:t>Divide memory into a large number of fixed-size partitions</a:t>
            </a:r>
          </a:p>
          <a:p>
            <a:pPr marL="1977571" lvl="3" indent="-326571">
              <a:defRPr sz="2400"/>
            </a:pPr>
            <a:r>
              <a:t>One process to each partition</a:t>
            </a:r>
          </a:p>
          <a:p>
            <a:pPr marL="1977571" lvl="3" indent="-326571">
              <a:defRPr sz="2400"/>
            </a:pPr>
            <a:r>
              <a:t>Degree of multiprogramming bounded by number of partitions</a:t>
            </a:r>
          </a:p>
          <a:p>
            <a:pPr marL="1977571" lvl="3" indent="-326571">
              <a:defRPr sz="2400"/>
            </a:pPr>
            <a:r>
              <a:t>Partitions allocated to processes and released upon termination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Multiple-Partition Al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Multiple-Partition Allocation</a:t>
            </a:r>
          </a:p>
        </p:txBody>
      </p:sp>
      <p:sp>
        <p:nvSpPr>
          <p:cNvPr id="231" name="Problems: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Problems:</a:t>
            </a:r>
          </a:p>
          <a:p>
            <a:pPr marL="1977571" lvl="3" indent="-326571">
              <a:defRPr sz="2400"/>
            </a:pPr>
            <a:r>
              <a:t>Program may not fit in a partition</a:t>
            </a:r>
          </a:p>
          <a:p>
            <a:pPr marL="1977571" lvl="3" indent="-326571">
              <a:defRPr sz="2400"/>
            </a:pPr>
            <a:r>
              <a:t>Main memory use is inefficient</a:t>
            </a:r>
          </a:p>
          <a:p>
            <a:pPr marL="2422071" lvl="4" indent="-326571">
              <a:defRPr sz="2400"/>
            </a:pPr>
            <a:r>
              <a:t>Any program, no matter how small, occupies entire partition</a:t>
            </a:r>
          </a:p>
          <a:p>
            <a:pPr marL="2422071" lvl="4" indent="-326571">
              <a:defRPr sz="2400"/>
            </a:pPr>
            <a:r>
              <a:t>Called </a:t>
            </a:r>
            <a:r>
              <a:rPr i="1"/>
              <a:t>internal fragmentation</a:t>
            </a:r>
            <a:r>
              <a:t> 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Multiple-Partition Al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Multiple-Partition Allocation</a:t>
            </a:r>
          </a:p>
        </p:txBody>
      </p:sp>
      <p:sp>
        <p:nvSpPr>
          <p:cNvPr id="234" name="Can try and solve it with unequal sized partition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Can try and solve it with unequal sized partitions</a:t>
            </a:r>
          </a:p>
          <a:p>
            <a:pPr marL="1977571" lvl="3" indent="-326571">
              <a:defRPr sz="2400"/>
            </a:pPr>
            <a:r>
              <a:t>Can fit at least a limited number of larger programs</a:t>
            </a:r>
          </a:p>
          <a:p>
            <a:pPr marL="1977571" lvl="3" indent="-326571">
              <a:defRPr sz="2400"/>
            </a:pPr>
            <a:r>
              <a:t>Smaller programs can be placed in smaller partitions</a:t>
            </a:r>
          </a:p>
          <a:p>
            <a:pPr marL="2422071" lvl="4" indent="-326571">
              <a:defRPr sz="2400"/>
            </a:pPr>
            <a:r>
              <a:t>Less internal fragmentation</a:t>
            </a:r>
          </a:p>
        </p:txBody>
      </p:sp>
      <p:pic>
        <p:nvPicPr>
          <p:cNvPr id="235" name="image7.gif" descr="image7.gif"/>
          <p:cNvPicPr>
            <a:picLocks/>
          </p:cNvPicPr>
          <p:nvPr/>
        </p:nvPicPr>
        <p:blipFill>
          <a:blip r:embed="rId2"/>
          <a:srcRect l="56660" b="7026"/>
          <a:stretch>
            <a:fillRect/>
          </a:stretch>
        </p:blipFill>
        <p:spPr>
          <a:xfrm>
            <a:off x="10334418" y="2628899"/>
            <a:ext cx="2044701" cy="599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ment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Placement Algorithm</a:t>
            </a:r>
          </a:p>
        </p:txBody>
      </p:sp>
      <p:sp>
        <p:nvSpPr>
          <p:cNvPr id="238" name="How do we determine where processes go?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How do we determine where processes go?</a:t>
            </a:r>
          </a:p>
          <a:p>
            <a:pPr marL="1533071" lvl="2" indent="-326571">
              <a:defRPr sz="2400"/>
            </a:pPr>
            <a:r>
              <a:t>For equal-sized, no options so trivial</a:t>
            </a:r>
          </a:p>
          <a:p>
            <a:pPr marL="1533071" lvl="2" indent="-326571">
              <a:defRPr sz="2400"/>
            </a:pPr>
            <a:r>
              <a:t>For unequal size</a:t>
            </a:r>
          </a:p>
          <a:p>
            <a:pPr marL="1977571" lvl="3" indent="-326571">
              <a:defRPr sz="2400"/>
            </a:pPr>
            <a:r>
              <a:t>Want to assign them in such a way as to minimize internal fragmentation</a:t>
            </a:r>
          </a:p>
          <a:p>
            <a:pPr marL="1977571" lvl="3" indent="-326571">
              <a:defRPr sz="2400"/>
            </a:pPr>
            <a:r>
              <a:t>Can assign each process to smallest partition within which it can fit</a:t>
            </a:r>
          </a:p>
          <a:p>
            <a:pPr marL="1977571" lvl="3" indent="-326571">
              <a:defRPr sz="2400"/>
            </a:pPr>
            <a:r>
              <a:t>Can even have queues for each partition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ment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Placement Algorithm</a:t>
            </a:r>
          </a:p>
        </p:txBody>
      </p:sp>
      <p:pic>
        <p:nvPicPr>
          <p:cNvPr id="241" name="image8.gif" descr="image8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03" y="2921000"/>
            <a:ext cx="7464603" cy="54102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Multiple-Fixed Parti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Multiple-Fixed Partition</a:t>
            </a:r>
          </a:p>
        </p:txBody>
      </p:sp>
      <p:sp>
        <p:nvSpPr>
          <p:cNvPr id="244" name="Still left with some problem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Still left with some problems</a:t>
            </a:r>
          </a:p>
          <a:p>
            <a:pPr marL="1977571" lvl="3" indent="-326571">
              <a:defRPr sz="2400"/>
            </a:pPr>
            <a:r>
              <a:t>Number of active processes limited by system</a:t>
            </a:r>
          </a:p>
          <a:p>
            <a:pPr marL="2422071" lvl="4" indent="-326571">
              <a:defRPr sz="2400"/>
            </a:pPr>
            <a:r>
              <a:t>Limited by pre-determined number of partitions</a:t>
            </a:r>
          </a:p>
          <a:p>
            <a:pPr marL="1977571" lvl="3" indent="-326571">
              <a:defRPr sz="2400"/>
            </a:pPr>
            <a:r>
              <a:t>Large number of small processes use the space inefficiently</a:t>
            </a:r>
          </a:p>
          <a:p>
            <a:pPr marL="2422071" lvl="4" indent="-326571">
              <a:defRPr sz="2400"/>
            </a:pPr>
            <a:r>
              <a:t>In either fixed or variable length partition methods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47" name="Variable size partitions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Variable size partitions</a:t>
            </a:r>
          </a:p>
          <a:p>
            <a:pPr marL="1533071" lvl="2" indent="-326571">
              <a:defRPr sz="2400"/>
            </a:pPr>
            <a:r>
              <a:t>Basic implementation</a:t>
            </a:r>
          </a:p>
          <a:p>
            <a:pPr marL="1977571" lvl="3" indent="-326571">
              <a:defRPr sz="2400"/>
            </a:pPr>
            <a:r>
              <a:t>Keep a table indicating availability of various memory partitions</a:t>
            </a:r>
          </a:p>
          <a:p>
            <a:pPr marL="1977571" lvl="3" indent="-326571">
              <a:defRPr sz="2400"/>
            </a:pPr>
            <a:r>
              <a:t>Any large block of available memory is called a </a:t>
            </a:r>
            <a:r>
              <a:rPr i="1"/>
              <a:t>hole</a:t>
            </a:r>
            <a:r>
              <a:t> </a:t>
            </a:r>
          </a:p>
          <a:p>
            <a:pPr marL="1977571" lvl="3" indent="-326571">
              <a:defRPr sz="2400"/>
            </a:pPr>
            <a:r>
              <a:t>Initially entire memory is identified as one large </a:t>
            </a:r>
            <a:r>
              <a:rPr i="1"/>
              <a:t>hole</a:t>
            </a:r>
            <a:r>
              <a:t> </a:t>
            </a:r>
          </a:p>
          <a:p>
            <a:pPr marL="1977571" lvl="3" indent="-326571">
              <a:defRPr sz="2400"/>
            </a:pPr>
            <a:r>
              <a:t>When a process arrives, allocation table is searched for a large enough hold</a:t>
            </a:r>
          </a:p>
          <a:p>
            <a:pPr marL="2422071" lvl="4" indent="-326571">
              <a:defRPr sz="2400"/>
            </a:pPr>
            <a:r>
              <a:t>If available, that hole is allocated to process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50" name="Lets look at an example:"/>
          <p:cNvSpPr txBox="1">
            <a:spLocks noGrp="1"/>
          </p:cNvSpPr>
          <p:nvPr>
            <p:ph type="body" sz="quarter" idx="1"/>
          </p:nvPr>
        </p:nvSpPr>
        <p:spPr>
          <a:xfrm>
            <a:off x="1270000" y="2768600"/>
            <a:ext cx="10972800" cy="13335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Lets look at an example:</a:t>
            </a:r>
          </a:p>
        </p:txBody>
      </p:sp>
      <p:pic>
        <p:nvPicPr>
          <p:cNvPr id="251" name="dynamicpartitioning.png" descr="dynamicpart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4178300"/>
            <a:ext cx="6127556" cy="4483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54" name="Will have holes of various sizes scattered throughout the memory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977571" lvl="3" indent="-326571">
              <a:defRPr sz="2400"/>
            </a:pPr>
            <a:r>
              <a:t>Will have holes of various sizes scattered throughout the memory</a:t>
            </a:r>
          </a:p>
          <a:p>
            <a:pPr marL="1977571" lvl="3" indent="-326571">
              <a:defRPr sz="2400"/>
            </a:pPr>
            <a:r>
              <a:t>Holes can grow when jobs in adjacent holes are terminated</a:t>
            </a:r>
          </a:p>
          <a:p>
            <a:pPr marL="1977571" lvl="3" indent="-326571">
              <a:defRPr sz="2400"/>
            </a:pPr>
            <a:r>
              <a:t>Holes can also diminish in size if many small jobs are present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External Fra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External Fragmentation</a:t>
            </a:r>
          </a:p>
        </p:txBody>
      </p:sp>
      <p:sp>
        <p:nvSpPr>
          <p:cNvPr id="257" name="Dynamic partitioning often results in fragmentation (External)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Dynamic partitioning often results in fragmentation (External)</a:t>
            </a:r>
          </a:p>
          <a:p>
            <a:pPr marL="1977571" lvl="3" indent="-326571">
              <a:defRPr sz="2400"/>
            </a:pPr>
            <a:r>
              <a:t>Division of main memory into small holes not usable by any process</a:t>
            </a:r>
          </a:p>
          <a:p>
            <a:pPr marL="1977571" lvl="3" indent="-326571">
              <a:defRPr sz="2400"/>
            </a:pPr>
            <a:r>
              <a:t>Enough total memory exists to satisfy request, but is fragmented across many small holes</a:t>
            </a:r>
          </a:p>
          <a:p>
            <a:pPr marL="1977571" lvl="3" indent="-326571">
              <a:defRPr sz="2400"/>
            </a:pPr>
            <a:r>
              <a:t>Caused by mismatch between size of memory request and size of the memory area allocated to satisfy that request</a:t>
            </a:r>
          </a:p>
          <a:p>
            <a:pPr marL="1977571" lvl="3" indent="-326571">
              <a:defRPr sz="2400"/>
            </a:pPr>
            <a:r>
              <a:t>Can cause large jobs to starve</a:t>
            </a:r>
          </a:p>
        </p:txBody>
      </p:sp>
      <p:pic>
        <p:nvPicPr>
          <p:cNvPr id="258" name="externfrag.jpeg" descr="externfra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0" y="7112000"/>
            <a:ext cx="3543300" cy="2298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ompa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Compaction</a:t>
            </a:r>
          </a:p>
        </p:txBody>
      </p:sp>
      <p:sp>
        <p:nvSpPr>
          <p:cNvPr id="261" name="One way to handle external fragmentation is with compac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One way to handle external fragmentation is with </a:t>
            </a:r>
            <a:r>
              <a:rPr i="1"/>
              <a:t>compaction</a:t>
            </a:r>
            <a:r>
              <a:t> </a:t>
            </a:r>
          </a:p>
          <a:p>
            <a:pPr marL="1977571" lvl="3" indent="-326571">
              <a:defRPr sz="2400"/>
            </a:pPr>
            <a:r>
              <a:t>Move processes so they are contiguous</a:t>
            </a:r>
          </a:p>
          <a:p>
            <a:pPr marL="1977571" lvl="3" indent="-326571">
              <a:defRPr sz="2400"/>
            </a:pPr>
            <a:r>
              <a:t>Shuffle memory contents to place all free memory into one large hole</a:t>
            </a:r>
          </a:p>
          <a:p>
            <a:pPr marL="1977571" lvl="3" indent="-326571">
              <a:defRPr sz="2400"/>
            </a:pPr>
            <a:r>
              <a:t>Only possible if system supports dynamic relocation at exec time</a:t>
            </a:r>
          </a:p>
          <a:p>
            <a:pPr marL="1977571" lvl="3" indent="-326571">
              <a:defRPr sz="2400"/>
            </a:pPr>
            <a:r>
              <a:t>Very CPU-intensive, can break code that works with pointers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64" name="How does OS decide which free block to allocate to a process?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How does OS decide which free block to allocate to a process?</a:t>
            </a:r>
          </a:p>
          <a:p>
            <a:pPr marL="1533071" lvl="2" indent="-326571">
              <a:defRPr sz="2400"/>
            </a:pPr>
            <a:r>
              <a:t>Many schemes for doing this:</a:t>
            </a:r>
          </a:p>
          <a:p>
            <a:pPr marL="1977571" lvl="3" indent="-326571">
              <a:defRPr sz="2400"/>
            </a:pPr>
            <a:r>
              <a:t>Best-fit</a:t>
            </a:r>
          </a:p>
          <a:p>
            <a:pPr marL="1977571" lvl="3" indent="-326571">
              <a:defRPr sz="2400"/>
            </a:pPr>
            <a:r>
              <a:t>First-fit</a:t>
            </a:r>
          </a:p>
          <a:p>
            <a:pPr marL="1977571" lvl="3" indent="-326571">
              <a:defRPr sz="2400"/>
            </a:pPr>
            <a:r>
              <a:t>Worst-fit</a:t>
            </a:r>
          </a:p>
          <a:p>
            <a:pPr marL="1977571" lvl="3" indent="-326571">
              <a:defRPr sz="2400"/>
            </a:pPr>
            <a:r>
              <a:t>Next-fit</a:t>
            </a:r>
          </a:p>
          <a:p>
            <a:pPr marL="1977571" lvl="3" indent="-326571">
              <a:defRPr sz="2400"/>
            </a:pPr>
            <a:r>
              <a:t>Buddy’s System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67" name="Best-fit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Best-fit</a:t>
            </a:r>
          </a:p>
          <a:p>
            <a:pPr marL="1977571" lvl="3" indent="-326571">
              <a:defRPr sz="2400"/>
            </a:pPr>
            <a:r>
              <a:t>Allocate the smallest hole that is big enough</a:t>
            </a:r>
          </a:p>
          <a:p>
            <a:pPr marL="1977571" lvl="3" indent="-326571">
              <a:defRPr sz="2400"/>
            </a:pPr>
            <a:r>
              <a:t>Entire list of holes needs to be searched</a:t>
            </a:r>
          </a:p>
          <a:p>
            <a:pPr marL="2422071" lvl="4" indent="-326571">
              <a:defRPr sz="2400"/>
            </a:pPr>
            <a:r>
              <a:t>Or at least keep list of holes sorted by size</a:t>
            </a:r>
          </a:p>
          <a:p>
            <a:pPr marL="1977571" lvl="3" indent="-326571">
              <a:defRPr sz="2400"/>
            </a:pPr>
            <a:r>
              <a:t>Since smallest block is found for process, smallest amount of fragmentation is left</a:t>
            </a:r>
          </a:p>
          <a:p>
            <a:pPr marL="2422071" lvl="4" indent="-326571">
              <a:defRPr sz="2400"/>
            </a:pPr>
            <a:r>
              <a:t>Sounds good, actually worst performer overall!</a:t>
            </a:r>
          </a:p>
          <a:p>
            <a:pPr marL="2422071" lvl="4" indent="-326571">
              <a:defRPr sz="2400"/>
            </a:pPr>
            <a:r>
              <a:t>Not many people will be able to actually use that small hole</a:t>
            </a:r>
          </a:p>
          <a:p>
            <a:pPr marL="1977571" lvl="3" indent="-326571">
              <a:defRPr sz="2400"/>
            </a:pPr>
            <a:r>
              <a:t>Need to do memory compaction more often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70" name="First-fit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First-fit</a:t>
            </a:r>
          </a:p>
          <a:p>
            <a:pPr marL="1977571" lvl="3" indent="-326571">
              <a:defRPr sz="2400"/>
            </a:pPr>
            <a:r>
              <a:t>Allocate first hole that is big enough</a:t>
            </a:r>
          </a:p>
          <a:p>
            <a:pPr marL="2422071" lvl="4" indent="-326571">
              <a:defRPr sz="2400"/>
            </a:pPr>
            <a:r>
              <a:t>Scan memory from beginning and choose first available block large enough</a:t>
            </a:r>
          </a:p>
          <a:p>
            <a:pPr marL="1977571" lvl="3" indent="-326571">
              <a:defRPr sz="2400"/>
            </a:pPr>
            <a:r>
              <a:t>Fastest strategy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73" name="Worst-fit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Worst-fit</a:t>
            </a:r>
          </a:p>
          <a:p>
            <a:pPr marL="1977571" lvl="3" indent="-326571">
              <a:defRPr sz="2400"/>
            </a:pPr>
            <a:r>
              <a:t>Allocate largest available hole</a:t>
            </a:r>
          </a:p>
          <a:p>
            <a:pPr marL="1977571" lvl="3" indent="-326571">
              <a:defRPr sz="2400"/>
            </a:pPr>
            <a:r>
              <a:t>Requires sorted order of largest hole to smallest</a:t>
            </a:r>
          </a:p>
          <a:p>
            <a:pPr marL="1977571" lvl="3" indent="-326571">
              <a:defRPr sz="2400"/>
            </a:pPr>
            <a:r>
              <a:t>Creates largest fragment possible</a:t>
            </a:r>
          </a:p>
          <a:p>
            <a:pPr marL="1977571" lvl="3" indent="-326571">
              <a:defRPr sz="2400"/>
            </a:pPr>
            <a:r>
              <a:t>If a process requiring larger memory arrives later, it cannot be put anywhere</a:t>
            </a:r>
          </a:p>
          <a:p>
            <a:pPr marL="2422071" lvl="4" indent="-326571">
              <a:defRPr sz="2400"/>
            </a:pPr>
            <a:r>
              <a:t>Largest hole was already split up and occupied</a:t>
            </a:r>
          </a:p>
          <a:p>
            <a:pPr marL="1977571" lvl="3" indent="-326571">
              <a:defRPr sz="2400"/>
            </a:pPr>
            <a:r>
              <a:t>Poor performer overall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Dynamic Parti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Dynamic Partitioning</a:t>
            </a:r>
          </a:p>
        </p:txBody>
      </p:sp>
      <p:sp>
        <p:nvSpPr>
          <p:cNvPr id="276" name="Next-fit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Next-fit</a:t>
            </a:r>
          </a:p>
          <a:p>
            <a:pPr marL="1977571" lvl="3" indent="-326571">
              <a:defRPr sz="2400"/>
            </a:pPr>
            <a:r>
              <a:t>Modified version of first fit</a:t>
            </a:r>
          </a:p>
          <a:p>
            <a:pPr marL="1977571" lvl="3" indent="-326571">
              <a:defRPr sz="2400"/>
            </a:pPr>
            <a:r>
              <a:t>Scans memory from location of the last placement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Allo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Allocation</a:t>
            </a:r>
          </a:p>
        </p:txBody>
      </p:sp>
      <p:pic>
        <p:nvPicPr>
          <p:cNvPr id="279" name="image9.gif" descr="image9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699" y="2171700"/>
            <a:ext cx="5295901" cy="69094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Buddy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Buddy System</a:t>
            </a:r>
          </a:p>
        </p:txBody>
      </p:sp>
      <p:sp>
        <p:nvSpPr>
          <p:cNvPr id="282" name="Used to resolve external fragmentation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Used to resolve external fragmentation</a:t>
            </a:r>
          </a:p>
          <a:p>
            <a:pPr marL="1533071" lvl="2" indent="-326571">
              <a:defRPr sz="2400"/>
            </a:pPr>
            <a:r>
              <a:t>Entire space available treated as single block of 2</a:t>
            </a:r>
            <a:r>
              <a:rPr baseline="31999"/>
              <a:t>U</a:t>
            </a:r>
          </a:p>
          <a:p>
            <a:pPr marL="1533071" lvl="2" indent="-326571">
              <a:defRPr sz="2400"/>
            </a:pPr>
            <a:r>
              <a:t>If a request of size s where 2</a:t>
            </a:r>
            <a:r>
              <a:rPr baseline="31999"/>
              <a:t>U-1</a:t>
            </a:r>
            <a:r>
              <a:t> &lt; s &lt;= 2</a:t>
            </a:r>
            <a:r>
              <a:rPr baseline="31999"/>
              <a:t>U</a:t>
            </a:r>
          </a:p>
          <a:p>
            <a:pPr marL="1977571" lvl="3" indent="-326571">
              <a:defRPr sz="2400"/>
            </a:pPr>
            <a:r>
              <a:t>Then allocate entire block</a:t>
            </a:r>
          </a:p>
          <a:p>
            <a:pPr marL="1533071" lvl="2" indent="-326571">
              <a:defRPr sz="2400"/>
            </a:pPr>
            <a:r>
              <a:t>Otherwise block is split into two equal buddies</a:t>
            </a:r>
          </a:p>
          <a:p>
            <a:pPr marL="1977571" lvl="3" indent="-326571">
              <a:defRPr sz="2400"/>
            </a:pPr>
            <a:r>
              <a:t>Process continues until smallest block greater than or equal to </a:t>
            </a:r>
            <a:r>
              <a:rPr i="1"/>
              <a:t>s</a:t>
            </a:r>
            <a:r>
              <a:t> is generated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Buddy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Buddy System</a:t>
            </a:r>
          </a:p>
        </p:txBody>
      </p:sp>
      <p:pic>
        <p:nvPicPr>
          <p:cNvPr id="285" name="image10.gif" descr="image1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1" y="2400300"/>
            <a:ext cx="9690101" cy="644421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Buddy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Buddy System</a:t>
            </a:r>
          </a:p>
        </p:txBody>
      </p:sp>
      <p:pic>
        <p:nvPicPr>
          <p:cNvPr id="288" name="image11.gif" descr="image1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561" y="2578100"/>
            <a:ext cx="8216901" cy="65187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a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</a:t>
            </a:r>
          </a:p>
        </p:txBody>
      </p:sp>
      <p:sp>
        <p:nvSpPr>
          <p:cNvPr id="291" name="So far processes have been contiguous in memor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So far processes have been contiguous in memory</a:t>
            </a:r>
          </a:p>
          <a:p>
            <a:pPr marL="1533071" lvl="2" indent="-326571">
              <a:defRPr sz="2400"/>
            </a:pPr>
            <a:r>
              <a:t>Lets let processes memory be noncontiguous</a:t>
            </a:r>
          </a:p>
          <a:p>
            <a:pPr marL="1533071" lvl="2" indent="-326571">
              <a:defRPr sz="2400"/>
            </a:pPr>
            <a:r>
              <a:t>Paging is one way to do this</a:t>
            </a:r>
          </a:p>
          <a:p>
            <a:pPr marL="1977571" lvl="3" indent="-326571">
              <a:defRPr sz="2400"/>
            </a:pPr>
            <a:r>
              <a:t>Partition memory into small and equal fixed-size chunks</a:t>
            </a:r>
          </a:p>
          <a:p>
            <a:pPr marL="1977571" lvl="3" indent="-326571">
              <a:defRPr sz="2400"/>
            </a:pPr>
            <a:r>
              <a:t>Divide each process into the same size chunks</a:t>
            </a:r>
          </a:p>
          <a:p>
            <a:pPr marL="1977571" lvl="3" indent="-326571">
              <a:defRPr sz="2400"/>
            </a:pPr>
            <a:r>
              <a:t>The chunks of a process are called </a:t>
            </a:r>
            <a:r>
              <a:rPr i="1"/>
              <a:t>pages</a:t>
            </a:r>
          </a:p>
          <a:p>
            <a:pPr marL="1977571" lvl="3" indent="-326571">
              <a:defRPr sz="2400"/>
            </a:pPr>
            <a:r>
              <a:t>The chunks of memory are called </a:t>
            </a:r>
            <a:r>
              <a:rPr i="1"/>
              <a:t>frames</a:t>
            </a:r>
            <a:r>
              <a:t> 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aging detai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 details</a:t>
            </a:r>
          </a:p>
        </p:txBody>
      </p:sp>
      <p:sp>
        <p:nvSpPr>
          <p:cNvPr id="294" name="Physical memory divides into page frame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Physical memory divides into </a:t>
            </a:r>
            <a:r>
              <a:rPr i="1"/>
              <a:t>page frames</a:t>
            </a:r>
          </a:p>
          <a:p>
            <a:pPr marL="1977571" lvl="3" indent="-326571">
              <a:defRPr sz="2400"/>
            </a:pPr>
            <a:r>
              <a:t>Frames that can hold pages (size of frames 1k or even 8k bytes)</a:t>
            </a:r>
          </a:p>
          <a:p>
            <a:pPr marL="1977571" lvl="3" indent="-326571">
              <a:defRPr sz="2400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getpagesize(3C)</a:t>
            </a:r>
            <a:r>
              <a:t> can get it on unix system</a:t>
            </a:r>
          </a:p>
          <a:p>
            <a:pPr marL="1533071" lvl="2" indent="-326571">
              <a:defRPr sz="2400"/>
            </a:pPr>
            <a:r>
              <a:t>Logical memory broken into blocks of same size as </a:t>
            </a:r>
            <a:r>
              <a:rPr i="1"/>
              <a:t>page frame</a:t>
            </a:r>
            <a:r>
              <a:t> size</a:t>
            </a:r>
          </a:p>
          <a:p>
            <a:pPr marL="1977571" lvl="3" indent="-326571">
              <a:defRPr sz="2400"/>
            </a:pPr>
            <a:r>
              <a:t>Called </a:t>
            </a:r>
            <a:r>
              <a:rPr i="1"/>
              <a:t>pages</a:t>
            </a:r>
          </a:p>
          <a:p>
            <a:pPr marL="1533071" lvl="2" indent="-326571">
              <a:defRPr sz="2400"/>
            </a:pPr>
            <a:r>
              <a:t>To execute a process, its pages are loaded into frames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aging detai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 details</a:t>
            </a:r>
          </a:p>
        </p:txBody>
      </p:sp>
      <p:sp>
        <p:nvSpPr>
          <p:cNvPr id="297" name="Every address generated by CPU now divided into two part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Every address generated by CPU now divided into two parts</a:t>
            </a:r>
          </a:p>
          <a:p>
            <a:pPr marL="1977571" lvl="3" indent="-326571">
              <a:defRPr sz="2400"/>
            </a:pPr>
            <a:r>
              <a:t>Page number p</a:t>
            </a:r>
          </a:p>
          <a:p>
            <a:pPr marL="1977571" lvl="3" indent="-326571">
              <a:defRPr sz="2400"/>
            </a:pPr>
            <a:r>
              <a:t>Page offset </a:t>
            </a:r>
            <a:r>
              <a:rPr i="1"/>
              <a:t>d</a:t>
            </a:r>
          </a:p>
          <a:p>
            <a:pPr marL="1533071" lvl="2" indent="-326571">
              <a:defRPr sz="2400"/>
            </a:pPr>
            <a:r>
              <a:t>Page number used as index into a </a:t>
            </a:r>
            <a:r>
              <a:rPr i="1"/>
              <a:t>page table</a:t>
            </a:r>
            <a:r>
              <a:t> </a:t>
            </a:r>
          </a:p>
          <a:p>
            <a:pPr marL="1977571" lvl="3" indent="-326571">
              <a:defRPr sz="2400"/>
            </a:pPr>
            <a:r>
              <a:t>This table contains base address of where each page is in memory</a:t>
            </a:r>
          </a:p>
          <a:p>
            <a:pPr marL="1977571" lvl="3" indent="-326571">
              <a:defRPr sz="2400"/>
            </a:pPr>
            <a:r>
              <a:t>Page offset defines address of the location within a particular page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a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</a:t>
            </a:r>
          </a:p>
        </p:txBody>
      </p:sp>
      <p:pic>
        <p:nvPicPr>
          <p:cNvPr id="300" name="image13.png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0" y="2476500"/>
            <a:ext cx="4419600" cy="5410200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A.0"/>
          <p:cNvSpPr/>
          <p:nvPr/>
        </p:nvSpPr>
        <p:spPr>
          <a:xfrm>
            <a:off x="5194300" y="2971800"/>
            <a:ext cx="2298700" cy="304800"/>
          </a:xfrm>
          <a:prstGeom prst="rect">
            <a:avLst/>
          </a:prstGeom>
          <a:solidFill>
            <a:srgbClr val="A5C1DF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A.0</a:t>
            </a:r>
          </a:p>
        </p:txBody>
      </p:sp>
      <p:sp>
        <p:nvSpPr>
          <p:cNvPr id="302" name="A.1"/>
          <p:cNvSpPr/>
          <p:nvPr/>
        </p:nvSpPr>
        <p:spPr>
          <a:xfrm>
            <a:off x="5194300" y="3289300"/>
            <a:ext cx="2298700" cy="304800"/>
          </a:xfrm>
          <a:prstGeom prst="rect">
            <a:avLst/>
          </a:prstGeom>
          <a:solidFill>
            <a:srgbClr val="A5C1DF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A.1</a:t>
            </a:r>
          </a:p>
        </p:txBody>
      </p:sp>
      <p:sp>
        <p:nvSpPr>
          <p:cNvPr id="303" name="A.2"/>
          <p:cNvSpPr/>
          <p:nvPr/>
        </p:nvSpPr>
        <p:spPr>
          <a:xfrm>
            <a:off x="5194300" y="3568700"/>
            <a:ext cx="2298700" cy="304800"/>
          </a:xfrm>
          <a:prstGeom prst="rect">
            <a:avLst/>
          </a:prstGeom>
          <a:solidFill>
            <a:srgbClr val="A5C1DF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A.2</a:t>
            </a:r>
          </a:p>
        </p:txBody>
      </p:sp>
      <p:sp>
        <p:nvSpPr>
          <p:cNvPr id="304" name="A.3"/>
          <p:cNvSpPr/>
          <p:nvPr/>
        </p:nvSpPr>
        <p:spPr>
          <a:xfrm>
            <a:off x="5194300" y="3886200"/>
            <a:ext cx="2298700" cy="304800"/>
          </a:xfrm>
          <a:prstGeom prst="rect">
            <a:avLst/>
          </a:prstGeom>
          <a:solidFill>
            <a:srgbClr val="A5C1DF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A.3</a:t>
            </a:r>
          </a:p>
        </p:txBody>
      </p:sp>
      <p:sp>
        <p:nvSpPr>
          <p:cNvPr id="305" name="D.0"/>
          <p:cNvSpPr/>
          <p:nvPr/>
        </p:nvSpPr>
        <p:spPr>
          <a:xfrm>
            <a:off x="5194300" y="4203700"/>
            <a:ext cx="2298700" cy="304800"/>
          </a:xfrm>
          <a:prstGeom prst="rect">
            <a:avLst/>
          </a:prstGeom>
          <a:solidFill>
            <a:srgbClr val="C1B3D2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D.0</a:t>
            </a:r>
          </a:p>
        </p:txBody>
      </p:sp>
      <p:sp>
        <p:nvSpPr>
          <p:cNvPr id="306" name="D.1"/>
          <p:cNvSpPr/>
          <p:nvPr/>
        </p:nvSpPr>
        <p:spPr>
          <a:xfrm>
            <a:off x="5194300" y="4521200"/>
            <a:ext cx="2298700" cy="304800"/>
          </a:xfrm>
          <a:prstGeom prst="rect">
            <a:avLst/>
          </a:prstGeom>
          <a:solidFill>
            <a:srgbClr val="C1B3D2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D.1</a:t>
            </a:r>
          </a:p>
        </p:txBody>
      </p:sp>
      <p:sp>
        <p:nvSpPr>
          <p:cNvPr id="307" name="D.2"/>
          <p:cNvSpPr/>
          <p:nvPr/>
        </p:nvSpPr>
        <p:spPr>
          <a:xfrm>
            <a:off x="5194300" y="4838700"/>
            <a:ext cx="2298700" cy="304800"/>
          </a:xfrm>
          <a:prstGeom prst="rect">
            <a:avLst/>
          </a:prstGeom>
          <a:solidFill>
            <a:srgbClr val="C1B3D2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D.2</a:t>
            </a:r>
          </a:p>
        </p:txBody>
      </p:sp>
      <p:sp>
        <p:nvSpPr>
          <p:cNvPr id="308" name="C.0"/>
          <p:cNvSpPr/>
          <p:nvPr/>
        </p:nvSpPr>
        <p:spPr>
          <a:xfrm>
            <a:off x="5194300" y="5157856"/>
            <a:ext cx="2298700" cy="304801"/>
          </a:xfrm>
          <a:prstGeom prst="rect">
            <a:avLst/>
          </a:prstGeom>
          <a:solidFill>
            <a:srgbClr val="CDDCAB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C.0</a:t>
            </a:r>
          </a:p>
        </p:txBody>
      </p:sp>
      <p:sp>
        <p:nvSpPr>
          <p:cNvPr id="309" name="C.1"/>
          <p:cNvSpPr/>
          <p:nvPr/>
        </p:nvSpPr>
        <p:spPr>
          <a:xfrm>
            <a:off x="5194300" y="5475356"/>
            <a:ext cx="2298700" cy="304801"/>
          </a:xfrm>
          <a:prstGeom prst="rect">
            <a:avLst/>
          </a:prstGeom>
          <a:solidFill>
            <a:srgbClr val="CDDCAB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C.1</a:t>
            </a:r>
          </a:p>
        </p:txBody>
      </p:sp>
      <p:sp>
        <p:nvSpPr>
          <p:cNvPr id="310" name="C.2"/>
          <p:cNvSpPr/>
          <p:nvPr/>
        </p:nvSpPr>
        <p:spPr>
          <a:xfrm>
            <a:off x="5194300" y="5792856"/>
            <a:ext cx="2298700" cy="304801"/>
          </a:xfrm>
          <a:prstGeom prst="rect">
            <a:avLst/>
          </a:prstGeom>
          <a:solidFill>
            <a:srgbClr val="CDDCAB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C.2</a:t>
            </a:r>
          </a:p>
        </p:txBody>
      </p:sp>
      <p:sp>
        <p:nvSpPr>
          <p:cNvPr id="311" name="C.3"/>
          <p:cNvSpPr/>
          <p:nvPr/>
        </p:nvSpPr>
        <p:spPr>
          <a:xfrm>
            <a:off x="5194300" y="6110356"/>
            <a:ext cx="2298700" cy="304801"/>
          </a:xfrm>
          <a:prstGeom prst="rect">
            <a:avLst/>
          </a:prstGeom>
          <a:solidFill>
            <a:srgbClr val="CDDCAB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C.3</a:t>
            </a:r>
          </a:p>
        </p:txBody>
      </p:sp>
      <p:sp>
        <p:nvSpPr>
          <p:cNvPr id="312" name="D.3"/>
          <p:cNvSpPr/>
          <p:nvPr/>
        </p:nvSpPr>
        <p:spPr>
          <a:xfrm>
            <a:off x="5194300" y="6426200"/>
            <a:ext cx="2298700" cy="304800"/>
          </a:xfrm>
          <a:prstGeom prst="rect">
            <a:avLst/>
          </a:prstGeom>
          <a:solidFill>
            <a:srgbClr val="C1B3D2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D.3</a:t>
            </a:r>
          </a:p>
        </p:txBody>
      </p:sp>
      <p:sp>
        <p:nvSpPr>
          <p:cNvPr id="313" name="D.4"/>
          <p:cNvSpPr/>
          <p:nvPr/>
        </p:nvSpPr>
        <p:spPr>
          <a:xfrm>
            <a:off x="5194300" y="6743700"/>
            <a:ext cx="2298700" cy="304800"/>
          </a:xfrm>
          <a:prstGeom prst="rect">
            <a:avLst/>
          </a:prstGeom>
          <a:solidFill>
            <a:srgbClr val="C1B3D2"/>
          </a:solidFill>
          <a:ln w="25400">
            <a:solidFill>
              <a:srgbClr val="49729C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>
            <a:lvl1pPr defTabSz="914400">
              <a:buClr>
                <a:srgbClr val="000000"/>
              </a:buClr>
              <a:defRPr sz="18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D.4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" presetClass="entr" presetSubtype="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" presetClass="entr" presetSubtype="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" presetClass="entr" presetSubtype="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" presetClass="entr" presetSubtype="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" presetClass="entr" presetSubtype="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1" animBg="1" advAuto="0"/>
      <p:bldP spid="302" grpId="2" animBg="1" advAuto="0"/>
      <p:bldP spid="303" grpId="3" animBg="1" advAuto="0"/>
      <p:bldP spid="304" grpId="4" animBg="1" advAuto="0"/>
      <p:bldP spid="305" grpId="5" animBg="1" advAuto="0"/>
      <p:bldP spid="306" grpId="6" animBg="1" advAuto="0"/>
      <p:bldP spid="307" grpId="7" animBg="1" advAuto="0"/>
      <p:bldP spid="308" grpId="8" animBg="1" advAuto="0"/>
      <p:bldP spid="309" grpId="9" animBg="1" advAuto="0"/>
      <p:bldP spid="310" grpId="10" animBg="1" advAuto="0"/>
      <p:bldP spid="311" grpId="11" animBg="1" advAuto="0"/>
      <p:bldP spid="312" grpId="12" animBg="1" advAuto="0"/>
      <p:bldP spid="313" grpId="13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a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</a:t>
            </a:r>
          </a:p>
        </p:txBody>
      </p:sp>
      <p:pic>
        <p:nvPicPr>
          <p:cNvPr id="316" name="image14.gif" descr="image1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3124200"/>
            <a:ext cx="8749546" cy="34954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a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</a:t>
            </a:r>
          </a:p>
        </p:txBody>
      </p:sp>
      <p:sp>
        <p:nvSpPr>
          <p:cNvPr id="319" name="No external fragmentation possible!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12649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No external fragmentation possible!</a:t>
            </a:r>
          </a:p>
          <a:p>
            <a:pPr marL="1533071" lvl="2" indent="-326571">
              <a:defRPr sz="2400"/>
            </a:pPr>
            <a:r>
              <a:t>Internal fragmentation is possible</a:t>
            </a:r>
          </a:p>
          <a:p>
            <a:pPr marL="1977571" lvl="3" indent="-326571">
              <a:defRPr sz="2400"/>
            </a:pPr>
            <a:r>
              <a:t>Average of half a page per process</a:t>
            </a:r>
          </a:p>
          <a:p>
            <a:pPr marL="1533071" lvl="2" indent="-326571">
              <a:defRPr sz="2400"/>
            </a:pPr>
            <a:r>
              <a:t>Paging can allow programs larger than main memory to be executed</a:t>
            </a:r>
          </a:p>
          <a:p>
            <a:pPr marL="1977571" lvl="3" indent="-326571">
              <a:defRPr sz="2400"/>
            </a:pPr>
            <a:r>
              <a:t>Only bring pages into memory when they are needed (</a:t>
            </a:r>
            <a:r>
              <a:rPr i="1"/>
              <a:t>demand paging</a:t>
            </a:r>
            <a:r>
              <a:t>)</a:t>
            </a:r>
          </a:p>
          <a:p>
            <a:pPr marL="1533071" lvl="2" indent="-326571">
              <a:defRPr sz="2400"/>
            </a:pPr>
            <a:r>
              <a:t>Size of a page has tradeoffs</a:t>
            </a:r>
          </a:p>
          <a:p>
            <a:pPr marL="1977571" lvl="3" indent="-326571">
              <a:defRPr sz="2400"/>
            </a:pPr>
            <a:r>
              <a:t>Small page size means more overhead in page table plus more swapping</a:t>
            </a:r>
          </a:p>
          <a:p>
            <a:pPr marL="1977571" lvl="3" indent="-326571">
              <a:defRPr sz="2400"/>
            </a:pPr>
            <a:r>
              <a:t>Large page size has more internal fragmentation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red p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Shared pages</a:t>
            </a:r>
          </a:p>
        </p:txBody>
      </p:sp>
      <p:sp>
        <p:nvSpPr>
          <p:cNvPr id="322" name="Possible to share common code with paging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1264900" cy="63246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Possible to share common code with paging</a:t>
            </a:r>
          </a:p>
          <a:p>
            <a:pPr marL="1977571" lvl="3" indent="-326571">
              <a:defRPr sz="2400"/>
            </a:pPr>
            <a:r>
              <a:t>Easy way would be to simply have same page in two process’s tables</a:t>
            </a:r>
          </a:p>
          <a:p>
            <a:pPr marL="1533071" lvl="2" indent="-326571">
              <a:defRPr sz="2400"/>
            </a:pPr>
            <a:r>
              <a:t>Must be reentrant (pure code)</a:t>
            </a:r>
          </a:p>
          <a:p>
            <a:pPr marL="1977571" lvl="3" indent="-326571">
              <a:defRPr sz="2400"/>
            </a:pPr>
            <a:r>
              <a:t>Code cannot modify itself and local data of each user must be kept in separate space (separate data pages for each process)</a:t>
            </a:r>
          </a:p>
          <a:p>
            <a:pPr marL="1977571" lvl="3" indent="-326571">
              <a:defRPr sz="2400"/>
            </a:pPr>
            <a:r>
              <a:t>Would have two parts:</a:t>
            </a:r>
          </a:p>
          <a:p>
            <a:pPr marL="2422071" lvl="4" indent="-326571">
              <a:defRPr sz="2400"/>
            </a:pPr>
            <a:r>
              <a:t>Permanent part is the instructions that make up the code</a:t>
            </a:r>
          </a:p>
          <a:p>
            <a:pPr marL="2422071" lvl="4" indent="-326571">
              <a:defRPr sz="2400"/>
            </a:pPr>
            <a:r>
              <a:t>Temporary part contains memory for local variables for use by code</a:t>
            </a:r>
          </a:p>
          <a:p>
            <a:pPr marL="1977571" lvl="3" indent="-326571">
              <a:defRPr sz="2400"/>
            </a:pPr>
            <a:r>
              <a:t>Each execution of permanent part creates a temporary part</a:t>
            </a:r>
          </a:p>
          <a:p>
            <a:pPr marL="2422071" lvl="4" indent="-326571">
              <a:defRPr sz="2400"/>
            </a:pPr>
            <a:r>
              <a:rPr i="1"/>
              <a:t>activation record</a:t>
            </a:r>
            <a:r>
              <a:t> for the code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red p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Shared pages</a:t>
            </a:r>
          </a:p>
        </p:txBody>
      </p:sp>
      <p:sp>
        <p:nvSpPr>
          <p:cNvPr id="325" name="For a function to be classed as reentrant: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1264900" cy="6324600"/>
          </a:xfrm>
          <a:prstGeom prst="rect">
            <a:avLst/>
          </a:prstGeom>
        </p:spPr>
        <p:txBody>
          <a:bodyPr/>
          <a:lstStyle/>
          <a:p>
            <a:pPr marL="1977571" lvl="3" indent="-326571">
              <a:defRPr sz="2400"/>
            </a:pPr>
            <a:r>
              <a:t>For a function to be classed as reentrant:</a:t>
            </a:r>
          </a:p>
          <a:p>
            <a:pPr marL="2422071" lvl="4" indent="-326571">
              <a:defRPr sz="2400"/>
            </a:pPr>
            <a:r>
              <a:t>All data is allocated on the stack (no global variables)</a:t>
            </a:r>
          </a:p>
          <a:p>
            <a:pPr marL="2422071" lvl="4" indent="-326571">
              <a:defRPr sz="2400"/>
            </a:pPr>
            <a:r>
              <a:t>May not modify its own code</a:t>
            </a:r>
          </a:p>
          <a:p>
            <a:pPr marL="2422071" lvl="4" indent="-326571">
              <a:defRPr sz="2400"/>
            </a:pPr>
            <a:r>
              <a:t>Functions don’t call any other function that is not reentrant</a:t>
            </a:r>
          </a:p>
          <a:p>
            <a:pPr marL="1977571" lvl="3" indent="-326571">
              <a:defRPr sz="2400"/>
            </a:pPr>
            <a:r>
              <a:t>Compilers, text editors, windowing systems, unix kernels all use reentrant code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e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Segmentation</a:t>
            </a:r>
          </a:p>
        </p:txBody>
      </p:sp>
      <p:sp>
        <p:nvSpPr>
          <p:cNvPr id="328" name="User often views memory as collection of variable-sized segment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User often views memory as collection of variable-sized segments</a:t>
            </a:r>
          </a:p>
          <a:p>
            <a:pPr marL="1977571" lvl="3" indent="-326571">
              <a:defRPr sz="2400"/>
            </a:pPr>
            <a:r>
              <a:t>Arrays, functions, procedures, main program</a:t>
            </a:r>
          </a:p>
          <a:p>
            <a:pPr marL="1533071" lvl="2" indent="-326571">
              <a:defRPr sz="2400"/>
            </a:pPr>
            <a:r>
              <a:t>Note no necessary order to these</a:t>
            </a:r>
          </a:p>
          <a:p>
            <a:pPr marL="1533071" lvl="2" indent="-326571">
              <a:defRPr sz="2400"/>
            </a:pPr>
            <a:r>
              <a:t>Length of each segment could also be different</a:t>
            </a:r>
          </a:p>
          <a:p>
            <a:pPr marL="1977571" lvl="3" indent="-326571">
              <a:defRPr sz="2400"/>
            </a:pPr>
            <a:r>
              <a:t>Depending on purpose for each program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e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Segmentation</a:t>
            </a:r>
          </a:p>
        </p:txBody>
      </p:sp>
      <p:sp>
        <p:nvSpPr>
          <p:cNvPr id="331" name="Lets divide our programs into segment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Lets divide our programs into segments</a:t>
            </a:r>
          </a:p>
          <a:p>
            <a:pPr marL="1977571" lvl="3" indent="-326571">
              <a:defRPr sz="2400"/>
            </a:pPr>
            <a:r>
              <a:t>Each segment can vary in length</a:t>
            </a:r>
          </a:p>
          <a:p>
            <a:pPr marL="1977571" lvl="3" indent="-326571">
              <a:defRPr sz="2400"/>
            </a:pPr>
            <a:r>
              <a:t>Do have maximum segment length</a:t>
            </a:r>
          </a:p>
          <a:p>
            <a:pPr marL="1533071" lvl="2" indent="-326571">
              <a:defRPr sz="2400"/>
            </a:pPr>
            <a:r>
              <a:t>Address would consider of</a:t>
            </a:r>
          </a:p>
          <a:p>
            <a:pPr marL="1977571" lvl="3" indent="-326571">
              <a:defRPr sz="2400"/>
            </a:pPr>
            <a:r>
              <a:t>A segment number (</a:t>
            </a:r>
            <a:r>
              <a:rPr i="1"/>
              <a:t>name</a:t>
            </a:r>
            <a:r>
              <a:t>)</a:t>
            </a:r>
          </a:p>
          <a:p>
            <a:pPr marL="1977571" lvl="3" indent="-326571">
              <a:defRPr sz="2400"/>
            </a:pPr>
            <a:r>
              <a:t>Segment </a:t>
            </a:r>
            <a:r>
              <a:rPr i="1"/>
              <a:t>offset</a:t>
            </a:r>
            <a:r>
              <a:t> </a:t>
            </a:r>
          </a:p>
          <a:p>
            <a:pPr marL="1533071" lvl="2" indent="-326571">
              <a:defRPr sz="2400"/>
            </a:pPr>
            <a:r>
              <a:t>In some ways similar to dynamic partitioning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e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Segmentation</a:t>
            </a:r>
          </a:p>
        </p:txBody>
      </p:sp>
      <p:sp>
        <p:nvSpPr>
          <p:cNvPr id="334" name="Logical address space is considered to be collection of segment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Logical address space is considered to be collection of segments</a:t>
            </a:r>
          </a:p>
          <a:p>
            <a:pPr marL="1977571" lvl="3" indent="-326571">
              <a:defRPr sz="2400"/>
            </a:pPr>
            <a:r>
              <a:t>Each with a name and length</a:t>
            </a:r>
          </a:p>
          <a:p>
            <a:pPr marL="1533071" lvl="2" indent="-326571">
              <a:defRPr sz="2400"/>
            </a:pPr>
            <a:r>
              <a:t>Mapping between logical and physical addresses use a </a:t>
            </a:r>
            <a:r>
              <a:rPr i="1"/>
              <a:t>segment table</a:t>
            </a:r>
            <a:r>
              <a:t> </a:t>
            </a:r>
          </a:p>
          <a:p>
            <a:pPr marL="1533071" lvl="2" indent="-326571">
              <a:defRPr sz="2400"/>
            </a:pPr>
            <a:r>
              <a:t>Each entry in segment table is made up of</a:t>
            </a:r>
          </a:p>
          <a:p>
            <a:pPr marL="1977571" lvl="3" indent="-326571">
              <a:defRPr sz="2400"/>
            </a:pPr>
            <a:r>
              <a:t>Segment </a:t>
            </a:r>
            <a:r>
              <a:rPr i="1"/>
              <a:t>base</a:t>
            </a:r>
          </a:p>
          <a:p>
            <a:pPr marL="1977571" lvl="3" indent="-326571">
              <a:defRPr sz="2400"/>
            </a:pPr>
            <a:r>
              <a:t>Segment </a:t>
            </a:r>
            <a:r>
              <a:rPr i="1"/>
              <a:t>limit</a:t>
            </a:r>
          </a:p>
          <a:p>
            <a:pPr marL="1533071" lvl="2" indent="-326571">
              <a:defRPr sz="2400"/>
            </a:pPr>
            <a:r>
              <a:t>Segment table can be abstracted as array of </a:t>
            </a:r>
            <a:r>
              <a:rPr i="1"/>
              <a:t>base-limit register pairs</a:t>
            </a:r>
            <a:r>
              <a:t> 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e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Segmentation</a:t>
            </a:r>
          </a:p>
        </p:txBody>
      </p:sp>
      <p:sp>
        <p:nvSpPr>
          <p:cNvPr id="337" name="Segment name/number s: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Segment name/number s:</a:t>
            </a:r>
          </a:p>
          <a:p>
            <a:pPr marL="1977571" lvl="3" indent="-326571">
              <a:defRPr sz="2400"/>
            </a:pPr>
            <a:r>
              <a:t>Used as a index into the segmentation table</a:t>
            </a:r>
          </a:p>
          <a:p>
            <a:pPr marL="1533071" lvl="2" indent="-326571">
              <a:defRPr sz="2400"/>
            </a:pPr>
            <a:r>
              <a:t>Segment offset d:</a:t>
            </a:r>
          </a:p>
          <a:p>
            <a:pPr marL="1977571" lvl="3" indent="-326571">
              <a:defRPr sz="2400"/>
            </a:pPr>
            <a:r>
              <a:t>Added to segment base to produce physical address</a:t>
            </a:r>
          </a:p>
          <a:p>
            <a:pPr marL="1977571" lvl="3" indent="-326571">
              <a:defRPr sz="2400"/>
            </a:pPr>
            <a:r>
              <a:t>Must be between 0 and the segment limit</a:t>
            </a:r>
          </a:p>
          <a:p>
            <a:pPr marL="1977571" lvl="3" indent="-326571">
              <a:defRPr sz="2400"/>
            </a:pPr>
            <a:r>
              <a:t>Attempting to go past this limit results in trap to OS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Sharing</a:t>
            </a:r>
          </a:p>
        </p:txBody>
      </p:sp>
      <p:sp>
        <p:nvSpPr>
          <p:cNvPr id="340" name="Segments represent a semantically defined portion of a program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Segments represent a semantically defined portion of a program</a:t>
            </a:r>
          </a:p>
          <a:p>
            <a:pPr marL="1533071" lvl="2" indent="-326571">
              <a:defRPr sz="2400"/>
            </a:pPr>
            <a:r>
              <a:t>Can share these parts, and in fact a bit easier than paging</a:t>
            </a:r>
          </a:p>
          <a:p>
            <a:pPr marL="1977571" lvl="3" indent="-326571">
              <a:defRPr sz="2400"/>
            </a:pPr>
            <a:r>
              <a:t>Why?</a:t>
            </a:r>
          </a:p>
          <a:p>
            <a:pPr marL="1533071" lvl="2" indent="-326571">
              <a:defRPr sz="2400"/>
            </a:pPr>
            <a:r>
              <a:t>Share a particular function between two programs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Fra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Fragmentation</a:t>
            </a:r>
          </a:p>
        </p:txBody>
      </p:sp>
      <p:sp>
        <p:nvSpPr>
          <p:cNvPr id="343" name="Memory allocation becomes a dynamic storage allocation problem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Memory allocation becomes a dynamic storage allocation problem</a:t>
            </a:r>
          </a:p>
          <a:p>
            <a:pPr marL="1533071" lvl="2" indent="-326571">
              <a:defRPr sz="2400"/>
            </a:pPr>
            <a:r>
              <a:t>Possibility of external fragmentation</a:t>
            </a:r>
          </a:p>
          <a:p>
            <a:pPr marL="1977571" lvl="3" indent="-326571">
              <a:defRPr sz="2400"/>
            </a:pPr>
            <a:r>
              <a:t>All blocks of memory left are too small to accommodate a segment</a:t>
            </a:r>
          </a:p>
          <a:p>
            <a:pPr marL="1533071" lvl="2" indent="-326571">
              <a:defRPr sz="2400"/>
            </a:pPr>
            <a:r>
              <a:t>Compaction can be used whenever needed</a:t>
            </a:r>
          </a:p>
          <a:p>
            <a:pPr marL="1977571" lvl="3" indent="-326571">
              <a:defRPr sz="2400"/>
            </a:pPr>
            <a:r>
              <a:t>Segmentation relies on relocatable code</a:t>
            </a:r>
          </a:p>
          <a:p>
            <a:pPr marL="1533071" lvl="2" indent="-326571">
              <a:defRPr sz="2400"/>
            </a:pPr>
            <a:r>
              <a:t>External fragmentation is dependent on average size of segments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Logical to physical addr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Logical to physical addresses</a:t>
            </a:r>
          </a:p>
        </p:txBody>
      </p:sp>
      <p:sp>
        <p:nvSpPr>
          <p:cNvPr id="346" name="Processes see their logical addresse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Processes see their logical addresses</a:t>
            </a:r>
          </a:p>
          <a:p>
            <a:pPr marL="1088571" lvl="1" indent="-326571">
              <a:defRPr sz="2400"/>
            </a:pPr>
            <a:r>
              <a:t>Must map logical addresses to physical addresses</a:t>
            </a:r>
          </a:p>
          <a:p>
            <a:pPr marL="1088571" lvl="1" indent="-326571">
              <a:defRPr sz="2400"/>
            </a:pPr>
            <a:r>
              <a:t>Trivial for partitioning</a:t>
            </a:r>
          </a:p>
          <a:p>
            <a:pPr marL="1088571" lvl="1" indent="-326571">
              <a:defRPr sz="2400"/>
            </a:pPr>
            <a:r>
              <a:t>For paging or segmentation, must use appropriate table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Logical Addr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Logical Addresses</a:t>
            </a:r>
          </a:p>
        </p:txBody>
      </p:sp>
      <p:pic>
        <p:nvPicPr>
          <p:cNvPr id="349" name="image15.gif" descr="image1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2666998"/>
            <a:ext cx="6842760" cy="54829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Logical Addr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Logical Addresses</a:t>
            </a:r>
          </a:p>
        </p:txBody>
      </p:sp>
      <p:pic>
        <p:nvPicPr>
          <p:cNvPr id="352" name="image16.gif" descr="image1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1" y="2590800"/>
            <a:ext cx="8623525" cy="541104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Logical Addr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Logical Addresses</a:t>
            </a:r>
          </a:p>
        </p:txBody>
      </p:sp>
      <p:pic>
        <p:nvPicPr>
          <p:cNvPr id="355" name="image17.gif" descr="image17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090" y="2730499"/>
            <a:ext cx="8080910" cy="549234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Memory Management Forma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Memory Management Formats</a:t>
            </a:r>
          </a:p>
        </p:txBody>
      </p:sp>
      <p:pic>
        <p:nvPicPr>
          <p:cNvPr id="358" name="Fig08_02a.png" descr="Fig08_02a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2590800"/>
            <a:ext cx="3484563" cy="1925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9" name="Fig08_02b.png" descr="Fig08_02b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4762500"/>
            <a:ext cx="5257800" cy="1731963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Fig08_02c.png" descr="Fig08_02c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6731000"/>
            <a:ext cx="5213350" cy="19700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Virtual mem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Virtual memory</a:t>
            </a:r>
          </a:p>
        </p:txBody>
      </p:sp>
      <p:sp>
        <p:nvSpPr>
          <p:cNvPr id="363" name="Memory management has some key point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Memory management has some key points</a:t>
            </a:r>
          </a:p>
          <a:p>
            <a:pPr marL="1533071" lvl="2" indent="-326571">
              <a:defRPr sz="2400"/>
            </a:pPr>
            <a:r>
              <a:t>Memory references are logical addresses dynamically translated into physical addresses at run time</a:t>
            </a:r>
          </a:p>
          <a:p>
            <a:pPr marL="1533071" lvl="2" indent="-326571">
              <a:defRPr sz="2400"/>
            </a:pPr>
            <a:r>
              <a:t>A process can be swapped in and out of main memory, occupying different regions at different times during execution</a:t>
            </a:r>
          </a:p>
          <a:p>
            <a:pPr marL="1533071" lvl="2" indent="-326571">
              <a:defRPr sz="2400"/>
            </a:pPr>
            <a:r>
              <a:t>A process does not need to be contiguous 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Virtual mem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Virtual memory</a:t>
            </a:r>
          </a:p>
        </p:txBody>
      </p:sp>
      <p:sp>
        <p:nvSpPr>
          <p:cNvPr id="366" name="If all those conditions are present, then it is not necessary that all pages or all segments of a process be in main memor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If all those conditions are present, then it is not necessary that all pages or all segments of a process be in main memory</a:t>
            </a:r>
          </a:p>
          <a:p>
            <a:pPr marL="1533071" lvl="2" indent="-326571">
              <a:defRPr sz="2400"/>
            </a:pPr>
            <a:r>
              <a:t>As long as next instruction or next data are in memory, execution can proceed</a:t>
            </a:r>
          </a:p>
          <a:p>
            <a:pPr marL="1977571" lvl="3" indent="-326571">
              <a:defRPr sz="2400"/>
            </a:pPr>
            <a:r>
              <a:t>At least for a time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Address Transl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Address Translation</a:t>
            </a:r>
          </a:p>
        </p:txBody>
      </p:sp>
      <p:pic>
        <p:nvPicPr>
          <p:cNvPr id="369" name="Fig08_03.png" descr="Fig08_03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72592" y="2857500"/>
            <a:ext cx="7291319" cy="5118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Virtual mem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Virtual memory</a:t>
            </a:r>
          </a:p>
        </p:txBody>
      </p:sp>
      <p:sp>
        <p:nvSpPr>
          <p:cNvPr id="372" name="Process execution in virtual memory: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Process execution in virtual memory:</a:t>
            </a:r>
          </a:p>
          <a:p>
            <a:pPr marL="1977571" lvl="3" indent="-326571">
              <a:defRPr sz="2400"/>
            </a:pPr>
            <a:r>
              <a:t>Operating system brings into main memory a few pieces of a program</a:t>
            </a:r>
          </a:p>
          <a:p>
            <a:pPr marL="1977571" lvl="3" indent="-326571">
              <a:defRPr sz="2400"/>
            </a:pPr>
            <a:r>
              <a:rPr i="1"/>
              <a:t>Resident set</a:t>
            </a:r>
            <a:r>
              <a:t>: portion of a process that is in main memory</a:t>
            </a:r>
          </a:p>
          <a:p>
            <a:pPr marL="1977571" lvl="3" indent="-326571">
              <a:defRPr sz="2400"/>
            </a:pPr>
            <a:r>
              <a:t>An interrupt is generated when addresses is needed that is not in main memory</a:t>
            </a:r>
          </a:p>
          <a:p>
            <a:pPr marL="2422071" lvl="4" indent="-326571">
              <a:defRPr sz="2400"/>
            </a:pPr>
            <a:r>
              <a:t>Operating system places that process in a blocked state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Virtual mem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Virtual memory</a:t>
            </a:r>
          </a:p>
        </p:txBody>
      </p:sp>
      <p:sp>
        <p:nvSpPr>
          <p:cNvPr id="375" name="Piece of process that contains the logical address is brought into main memor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Piece of process that contains the logical address is brought into main memory</a:t>
            </a:r>
          </a:p>
          <a:p>
            <a:pPr marL="1977571" lvl="3" indent="-326571">
              <a:defRPr sz="2400"/>
            </a:pPr>
            <a:r>
              <a:t>Operating system issues a disk I/O read request</a:t>
            </a:r>
          </a:p>
          <a:p>
            <a:pPr marL="1977571" lvl="3" indent="-326571">
              <a:defRPr sz="2400"/>
            </a:pPr>
            <a:r>
              <a:t>Another process is dispatched to run while this I/O takes place</a:t>
            </a:r>
          </a:p>
          <a:p>
            <a:pPr marL="1977571" lvl="3" indent="-326571">
              <a:defRPr sz="2400"/>
            </a:pPr>
            <a:r>
              <a:t>An interrupt is issued when disk I/O completes</a:t>
            </a:r>
          </a:p>
          <a:p>
            <a:pPr marL="1977571" lvl="3" indent="-326571">
              <a:defRPr sz="2400"/>
            </a:pPr>
            <a:r>
              <a:t>System then places the process back into Ready state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Implication of virtual mem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Implication of virtual memory</a:t>
            </a:r>
          </a:p>
        </p:txBody>
      </p:sp>
      <p:sp>
        <p:nvSpPr>
          <p:cNvPr id="378" name="More processes can be maintained in main memor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More processes can be maintained in main memory</a:t>
            </a:r>
          </a:p>
          <a:p>
            <a:pPr marL="1977571" lvl="3" indent="-326571">
              <a:defRPr sz="2400"/>
            </a:pPr>
            <a:r>
              <a:t>We only load some of the pieces of each</a:t>
            </a:r>
          </a:p>
          <a:p>
            <a:pPr marL="1977571" lvl="3" indent="-326571">
              <a:defRPr sz="2400"/>
            </a:pPr>
            <a:r>
              <a:t>With so many processes in main memory, it is likely at least one process will always be in Ready state</a:t>
            </a:r>
          </a:p>
          <a:p>
            <a:pPr marL="1533071" lvl="2" indent="-326571">
              <a:defRPr sz="2400"/>
            </a:pPr>
            <a:r>
              <a:t>A process may be larger than main memory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al and Virtual Mem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Real and Virtual Memory</a:t>
            </a:r>
          </a:p>
        </p:txBody>
      </p:sp>
      <p:sp>
        <p:nvSpPr>
          <p:cNvPr id="381" name="Real memor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Real memory</a:t>
            </a:r>
          </a:p>
          <a:p>
            <a:pPr marL="1977571" lvl="3" indent="-326571">
              <a:defRPr sz="2400"/>
            </a:pPr>
            <a:r>
              <a:t>Main memory, the actual RAM</a:t>
            </a:r>
          </a:p>
          <a:p>
            <a:pPr marL="1533071" lvl="2" indent="-326571">
              <a:defRPr sz="2400"/>
            </a:pPr>
            <a:r>
              <a:t>Virtual memory</a:t>
            </a:r>
          </a:p>
          <a:p>
            <a:pPr marL="1977571" lvl="3" indent="-326571">
              <a:defRPr sz="2400"/>
            </a:pPr>
            <a:r>
              <a:t>Memory on disk</a:t>
            </a:r>
          </a:p>
          <a:p>
            <a:pPr marL="1977571" lvl="3" indent="-326571">
              <a:defRPr sz="2400"/>
            </a:pPr>
            <a:r>
              <a:t>Allows for effective multiprogramming and relieves the user of tight constraints of main memory</a:t>
            </a: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hrash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Thrashing</a:t>
            </a:r>
          </a:p>
        </p:txBody>
      </p:sp>
      <p:sp>
        <p:nvSpPr>
          <p:cNvPr id="384" name="A state in which the system spends most of its time swapping pieces rather than executing instruction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A state in which the system spends most of its time swapping pieces rather than executing instructions</a:t>
            </a:r>
          </a:p>
          <a:p>
            <a:pPr marL="1533071" lvl="2" indent="-326571">
              <a:defRPr sz="2400"/>
            </a:pPr>
            <a:r>
              <a:t>To avoid this, operating system needs to try and guess which pieces are least likely to be used in the future</a:t>
            </a:r>
          </a:p>
          <a:p>
            <a:pPr marL="1977571" lvl="3" indent="-326571">
              <a:defRPr sz="2400"/>
            </a:pPr>
            <a:r>
              <a:t>Guess should probably be based on recent history</a:t>
            </a:r>
          </a:p>
          <a:p>
            <a:pPr marL="1977571" lvl="3" indent="-326571">
              <a:defRPr sz="2400"/>
            </a:pPr>
            <a:r>
              <a:t>Why?</a:t>
            </a: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placement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Replacement Policy</a:t>
            </a:r>
          </a:p>
        </p:txBody>
      </p:sp>
      <p:sp>
        <p:nvSpPr>
          <p:cNvPr id="387" name="Need to reduce thrashing by using a replacement polic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Need to reduce thrashing by using a replacement policy</a:t>
            </a:r>
          </a:p>
          <a:p>
            <a:pPr marL="1533071" lvl="2" indent="-326571">
              <a:defRPr sz="2400"/>
            </a:pPr>
            <a:r>
              <a:t>When all frames in main memory are occupied, need to bring in new page</a:t>
            </a:r>
          </a:p>
          <a:p>
            <a:pPr marL="1533071" lvl="2" indent="-326571">
              <a:defRPr sz="2400"/>
            </a:pPr>
            <a:r>
              <a:t>Replacement policy determines which page is replaced</a:t>
            </a: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placement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Replacement Policy</a:t>
            </a:r>
          </a:p>
        </p:txBody>
      </p:sp>
      <p:sp>
        <p:nvSpPr>
          <p:cNvPr id="390" name="Which page is replaced?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Which page is replaced?</a:t>
            </a:r>
          </a:p>
          <a:p>
            <a:pPr marL="1977571" lvl="3" indent="-326571">
              <a:defRPr sz="2400"/>
            </a:pPr>
            <a:r>
              <a:t>Page removed should be page least likely to be referenced in future</a:t>
            </a:r>
          </a:p>
          <a:p>
            <a:pPr marL="1977571" lvl="3" indent="-326571">
              <a:defRPr sz="2400"/>
            </a:pPr>
            <a:r>
              <a:t>Principle of locality</a:t>
            </a:r>
          </a:p>
          <a:p>
            <a:pPr marL="1533071" lvl="2" indent="-326571">
              <a:defRPr sz="2400"/>
            </a:pPr>
            <a:r>
              <a:t>Most replacement policies predict future behavior based on past behavior</a:t>
            </a:r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placement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Replacement Policy</a:t>
            </a:r>
          </a:p>
        </p:txBody>
      </p:sp>
      <p:sp>
        <p:nvSpPr>
          <p:cNvPr id="393" name="Frame locking : Additional complication we must allow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Frame locking : Additional complication we must allow</a:t>
            </a:r>
          </a:p>
          <a:p>
            <a:pPr marL="1533071" lvl="2" indent="-326571">
              <a:defRPr sz="2400"/>
            </a:pPr>
            <a:r>
              <a:t>If frame is locked, it may not be replaced</a:t>
            </a:r>
          </a:p>
          <a:p>
            <a:pPr marL="1977571" lvl="3" indent="-326571">
              <a:defRPr sz="2400"/>
            </a:pPr>
            <a:r>
              <a:t>Kernel of operating system</a:t>
            </a:r>
          </a:p>
          <a:p>
            <a:pPr marL="1977571" lvl="3" indent="-326571">
              <a:defRPr sz="2400"/>
            </a:pPr>
            <a:r>
              <a:t>Key control structures</a:t>
            </a:r>
          </a:p>
          <a:p>
            <a:pPr marL="1977571" lvl="3" indent="-326571">
              <a:defRPr sz="2400"/>
            </a:pPr>
            <a:r>
              <a:t>I/O buffers</a:t>
            </a:r>
          </a:p>
          <a:p>
            <a:pPr marL="1977571" lvl="3" indent="-326571">
              <a:defRPr sz="2400"/>
            </a:pPr>
            <a:r>
              <a:t>Would need a lock bit with each frame</a:t>
            </a: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eplacement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Replacement Policy</a:t>
            </a:r>
          </a:p>
        </p:txBody>
      </p:sp>
      <p:sp>
        <p:nvSpPr>
          <p:cNvPr id="396" name="Some basic algorithms used to handle page replacement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Some basic algorithms used to handle page replacement</a:t>
            </a:r>
          </a:p>
          <a:p>
            <a:pPr marL="1533071" lvl="2" indent="-326571">
              <a:defRPr sz="2400"/>
            </a:pPr>
            <a:r>
              <a:t>Optimal</a:t>
            </a:r>
          </a:p>
          <a:p>
            <a:pPr marL="1533071" lvl="2" indent="-326571">
              <a:defRPr sz="2400"/>
            </a:pPr>
            <a:r>
              <a:t>Least recently used (LRU)</a:t>
            </a:r>
          </a:p>
          <a:p>
            <a:pPr marL="1533071" lvl="2" indent="-326571">
              <a:defRPr sz="2400"/>
            </a:pPr>
            <a:r>
              <a:t>First-in-first-out (FIFO)</a:t>
            </a:r>
          </a:p>
          <a:p>
            <a:pPr marL="1533071" lvl="2" indent="-326571">
              <a:defRPr sz="2400"/>
            </a:pPr>
            <a:r>
              <a:t>Clock</a:t>
            </a:r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Examples</a:t>
            </a:r>
          </a:p>
        </p:txBody>
      </p:sp>
      <p:sp>
        <p:nvSpPr>
          <p:cNvPr id="399" name="To go over examples, consider a page address stream formed by executing the program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To go over examples, consider a page address stream formed by executing the program</a:t>
            </a:r>
          </a:p>
          <a:p>
            <a:pPr marL="1533071" lvl="2" indent="-326571">
              <a:defRPr sz="2400"/>
            </a:pPr>
            <a:r>
              <a:t>2 3 2 1 5 2 4 5 3 2 5 2</a:t>
            </a:r>
          </a:p>
          <a:p>
            <a:pPr marL="1533071" lvl="2" indent="-326571">
              <a:defRPr sz="2400"/>
            </a:pPr>
            <a:r>
              <a:t>First page reference is 2, second page referenced is 3, and so on</a:t>
            </a:r>
          </a:p>
          <a:p>
            <a:pPr marL="1088571" lvl="1" indent="-326571">
              <a:defRPr sz="2400"/>
            </a:pPr>
            <a:r>
              <a:t>Optimal policy</a:t>
            </a:r>
          </a:p>
          <a:p>
            <a:pPr marL="1533071" lvl="2" indent="-326571">
              <a:defRPr sz="2400"/>
            </a:pPr>
            <a:r>
              <a:t>Selects for replacement page for which time to next reference is the longest</a:t>
            </a:r>
          </a:p>
          <a:p>
            <a:pPr marL="1533071" lvl="2" indent="-326571">
              <a:defRPr sz="2400"/>
            </a:pPr>
            <a:r>
              <a:t>Requires perfect knowledge of future events</a:t>
            </a: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Optimal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Optimal Policy</a:t>
            </a:r>
          </a:p>
        </p:txBody>
      </p:sp>
      <p:sp>
        <p:nvSpPr>
          <p:cNvPr id="402" name="3 page faults after frame allocation has been filled"/>
          <p:cNvSpPr txBox="1">
            <a:spLocks noGrp="1"/>
          </p:cNvSpPr>
          <p:nvPr>
            <p:ph type="body" sz="quarter" idx="1"/>
          </p:nvPr>
        </p:nvSpPr>
        <p:spPr>
          <a:xfrm>
            <a:off x="1282700" y="7391400"/>
            <a:ext cx="10972800" cy="10922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3 page faults after frame allocation has been filled</a:t>
            </a:r>
          </a:p>
        </p:txBody>
      </p:sp>
      <p:pic>
        <p:nvPicPr>
          <p:cNvPr id="403" name="image24.png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467100"/>
            <a:ext cx="10971874" cy="3136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Least Recently Used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Least Recently Used Policy</a:t>
            </a:r>
          </a:p>
        </p:txBody>
      </p:sp>
      <p:sp>
        <p:nvSpPr>
          <p:cNvPr id="406" name="LRU replaces page that has not been referenced for longest time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LRU replaces page that has not been referenced for longest time</a:t>
            </a:r>
          </a:p>
          <a:p>
            <a:pPr marL="1088571" lvl="1" indent="-326571">
              <a:defRPr sz="2400"/>
            </a:pPr>
            <a:r>
              <a:t>By principle of locality, should be page least likely to be referenced</a:t>
            </a:r>
          </a:p>
          <a:p>
            <a:pPr marL="1088571" lvl="1" indent="-326571">
              <a:defRPr sz="2400"/>
            </a:pPr>
            <a:r>
              <a:t>Expensive to implement</a:t>
            </a:r>
          </a:p>
          <a:p>
            <a:pPr marL="1533071" lvl="2" indent="-326571">
              <a:defRPr sz="2400"/>
            </a:pPr>
            <a:r>
              <a:t>One approach is to tag each page with time of last reference</a:t>
            </a:r>
          </a:p>
          <a:p>
            <a:pPr marL="1533071" lvl="2" indent="-326571">
              <a:defRPr sz="2400"/>
            </a:pPr>
            <a:r>
              <a:t>Requires expensive overhead each time a page is accessed</a:t>
            </a: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LRU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LRU Policy</a:t>
            </a:r>
          </a:p>
        </p:txBody>
      </p:sp>
      <p:sp>
        <p:nvSpPr>
          <p:cNvPr id="409" name="4 page faults after frame allocation has been filled"/>
          <p:cNvSpPr txBox="1">
            <a:spLocks noGrp="1"/>
          </p:cNvSpPr>
          <p:nvPr>
            <p:ph type="body" sz="quarter" idx="1"/>
          </p:nvPr>
        </p:nvSpPr>
        <p:spPr>
          <a:xfrm>
            <a:off x="1282700" y="7391400"/>
            <a:ext cx="10972800" cy="10922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4 page faults after frame allocation has been filled</a:t>
            </a:r>
          </a:p>
        </p:txBody>
      </p:sp>
      <p:pic>
        <p:nvPicPr>
          <p:cNvPr id="410" name="image25.png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3136900"/>
            <a:ext cx="8877300" cy="29340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First in, First o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First in, First out</a:t>
            </a:r>
          </a:p>
        </p:txBody>
      </p:sp>
      <p:sp>
        <p:nvSpPr>
          <p:cNvPr id="413" name="FIFO treats page frames allocated to a process as a circular buffer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FIFO treats page frames allocated to a process as a circular buffer</a:t>
            </a:r>
          </a:p>
          <a:p>
            <a:pPr marL="1088571" lvl="1" indent="-326571">
              <a:defRPr sz="2400"/>
            </a:pPr>
            <a:r>
              <a:t>Pages are removed in round-robin style</a:t>
            </a:r>
          </a:p>
          <a:p>
            <a:pPr marL="1533071" lvl="2" indent="-326571">
              <a:defRPr sz="2400"/>
            </a:pPr>
            <a:r>
              <a:t>Very simple to implement</a:t>
            </a:r>
          </a:p>
          <a:p>
            <a:pPr marL="1088571" lvl="1" indent="-326571">
              <a:defRPr sz="2400"/>
            </a:pPr>
            <a:r>
              <a:t>Page that has been in memory the longest is replaced</a:t>
            </a:r>
          </a:p>
          <a:p>
            <a:pPr marL="1533071" lvl="2" indent="-326571">
              <a:defRPr sz="2400"/>
            </a:pPr>
            <a:r>
              <a:t>These pages may be needed again very soon though</a:t>
            </a:r>
          </a:p>
          <a:p>
            <a:pPr marL="1533071" lvl="2" indent="-326571">
              <a:defRPr sz="2400"/>
            </a:pPr>
            <a:r>
              <a:t>For example, if used over and over for a long time</a:t>
            </a:r>
          </a:p>
          <a:p>
            <a:pPr marL="1977571" lvl="3" indent="-326571">
              <a:defRPr sz="2400"/>
            </a:pPr>
            <a:r>
              <a:t>Which can be quite likely under some situations</a:t>
            </a: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FIFO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FIFO Policy</a:t>
            </a:r>
          </a:p>
        </p:txBody>
      </p:sp>
      <p:sp>
        <p:nvSpPr>
          <p:cNvPr id="416" name="6 page faults after frame allocation has been filled…"/>
          <p:cNvSpPr txBox="1">
            <a:spLocks noGrp="1"/>
          </p:cNvSpPr>
          <p:nvPr>
            <p:ph type="body" sz="quarter" idx="1"/>
          </p:nvPr>
        </p:nvSpPr>
        <p:spPr>
          <a:xfrm>
            <a:off x="1282700" y="7391400"/>
            <a:ext cx="10972800" cy="10922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6 page faults after frame allocation has been filled</a:t>
            </a:r>
          </a:p>
          <a:p>
            <a:pPr marL="1533071" lvl="2" indent="-326571">
              <a:defRPr sz="2400"/>
            </a:pPr>
            <a:r>
              <a:t>LRU recognized that pages 2 and 5 are referenced more frequently</a:t>
            </a:r>
          </a:p>
        </p:txBody>
      </p:sp>
      <p:pic>
        <p:nvPicPr>
          <p:cNvPr id="417" name="image26.png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00" y="3124200"/>
            <a:ext cx="9745441" cy="3086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econd-Ch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Second-Chance</a:t>
            </a:r>
          </a:p>
        </p:txBody>
      </p:sp>
      <p:sp>
        <p:nvSpPr>
          <p:cNvPr id="420" name="Main problem with LRU is that it is expensive to implement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 anchor="t"/>
          <a:lstStyle/>
          <a:p>
            <a:pPr marL="1088571" lvl="1" indent="-326571">
              <a:defRPr sz="2400"/>
            </a:pPr>
            <a:r>
              <a:t>Main problem with LRU is that it is expensive to implement</a:t>
            </a:r>
          </a:p>
          <a:p>
            <a:pPr marL="1088571" lvl="1" indent="-326571">
              <a:defRPr sz="2400"/>
            </a:pPr>
            <a:r>
              <a:t>Lets try and “approximate” LRU</a:t>
            </a:r>
          </a:p>
          <a:p>
            <a:pPr marL="1533071" lvl="2" indent="-326571">
              <a:defRPr sz="2400"/>
            </a:pPr>
            <a:r>
              <a:t>Use additional bit called a “use bit”</a:t>
            </a:r>
          </a:p>
          <a:p>
            <a:pPr marL="1533071" lvl="2" indent="-326571">
              <a:defRPr sz="2400"/>
            </a:pPr>
            <a:r>
              <a:t>When page is first loaded in memory or referenced, use bit is set to 1</a:t>
            </a:r>
          </a:p>
          <a:p>
            <a:pPr marL="1533071" lvl="2" indent="-326571">
              <a:defRPr sz="2400"/>
            </a:pPr>
            <a:r>
              <a:t>When it is time to replace a page, OS scans set flipping all 1’s to 0’s</a:t>
            </a:r>
          </a:p>
          <a:p>
            <a:pPr marL="1533071" lvl="2" indent="-326571">
              <a:defRPr sz="2400"/>
            </a:pPr>
            <a:r>
              <a:t>First frame encountered with use bit already set to 0 is replaced</a:t>
            </a:r>
          </a:p>
          <a:p>
            <a:pPr marL="1088571" lvl="1" indent="-326571">
              <a:defRPr sz="2400"/>
            </a:pPr>
            <a:r>
              <a:t>Also called Clock policy</a:t>
            </a:r>
          </a:p>
        </p:txBody>
      </p: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lock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Clock Policy</a:t>
            </a:r>
          </a:p>
        </p:txBody>
      </p:sp>
      <p:sp>
        <p:nvSpPr>
          <p:cNvPr id="423" name="5 page faults after frame allocation has been filled…"/>
          <p:cNvSpPr txBox="1">
            <a:spLocks noGrp="1"/>
          </p:cNvSpPr>
          <p:nvPr>
            <p:ph type="body" sz="quarter" idx="1"/>
          </p:nvPr>
        </p:nvSpPr>
        <p:spPr>
          <a:xfrm>
            <a:off x="1282700" y="7391400"/>
            <a:ext cx="10972800" cy="10922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5 page faults after frame allocation has been filled</a:t>
            </a:r>
          </a:p>
          <a:p>
            <a:pPr marL="1533071" lvl="2" indent="-326571">
              <a:defRPr sz="2400"/>
            </a:pPr>
            <a:r>
              <a:t>Clock policy protected 2 and 5</a:t>
            </a:r>
          </a:p>
        </p:txBody>
      </p:sp>
      <p:pic>
        <p:nvPicPr>
          <p:cNvPr id="424" name="image27.png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3136900"/>
            <a:ext cx="9770332" cy="2921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Clock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Clock Policy</a:t>
            </a:r>
          </a:p>
        </p:txBody>
      </p:sp>
      <p:pic>
        <p:nvPicPr>
          <p:cNvPr id="427" name="image28.gif" descr="image28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098" y="2552699"/>
            <a:ext cx="6713902" cy="546035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lock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Clock Policy</a:t>
            </a:r>
          </a:p>
        </p:txBody>
      </p:sp>
      <p:pic>
        <p:nvPicPr>
          <p:cNvPr id="430" name="image29.gif" descr="image29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879103"/>
            <a:ext cx="6515169" cy="54901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lock Poli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Clock Policy</a:t>
            </a:r>
          </a:p>
        </p:txBody>
      </p:sp>
      <p:pic>
        <p:nvPicPr>
          <p:cNvPr id="433" name="image30.gif" descr="image3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0" y="2705099"/>
            <a:ext cx="5066240" cy="550900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Additional-Reference-B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Additional-Reference-Bits</a:t>
            </a:r>
          </a:p>
        </p:txBody>
      </p:sp>
      <p:sp>
        <p:nvSpPr>
          <p:cNvPr id="436" name="Can try to do something with a bit more accurac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 anchor="t"/>
          <a:lstStyle/>
          <a:p>
            <a:pPr marL="1088571" lvl="1" indent="-326571">
              <a:defRPr sz="2400"/>
            </a:pPr>
            <a:r>
              <a:t>Can try to do something with a bit more accuracy</a:t>
            </a:r>
          </a:p>
          <a:p>
            <a:pPr marL="1533071" lvl="2" indent="-326571">
              <a:defRPr sz="2400"/>
            </a:pPr>
            <a:r>
              <a:t>Keep 8-bit byte for each page in page table</a:t>
            </a:r>
          </a:p>
          <a:p>
            <a:pPr marL="1088571" lvl="1" indent="-326571">
              <a:defRPr sz="2400"/>
            </a:pPr>
            <a:r>
              <a:t>At regular intervals, shift the reference bits by one</a:t>
            </a:r>
          </a:p>
          <a:p>
            <a:pPr marL="1088571" lvl="1" indent="-326571">
              <a:defRPr sz="2400"/>
            </a:pPr>
            <a:r>
              <a:t>This register contains history of page references for last 8 time periods</a:t>
            </a:r>
          </a:p>
          <a:p>
            <a:pPr marL="1088571" lvl="1" indent="-326571">
              <a:defRPr sz="2400"/>
            </a:pPr>
            <a:r>
              <a:t>Page with lowest number is the LRU page</a:t>
            </a:r>
          </a:p>
          <a:p>
            <a:pPr marL="1088571" lvl="1" indent="-326571">
              <a:defRPr sz="2400"/>
            </a:pPr>
            <a:r>
              <a:t>11000100 used more recently than 01110111</a:t>
            </a:r>
          </a:p>
          <a:p>
            <a:pPr marL="1088571" lvl="1" indent="-326571">
              <a:defRPr sz="2400"/>
            </a:pPr>
            <a:r>
              <a:t>Numbers not guaranteed to be unique</a:t>
            </a:r>
          </a:p>
          <a:p>
            <a:pPr marL="1533071" lvl="2" indent="-326571">
              <a:defRPr sz="2400"/>
            </a:pPr>
            <a:r>
              <a:t>Is this a problem?</a:t>
            </a:r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omparis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Comparison</a:t>
            </a:r>
          </a:p>
        </p:txBody>
      </p:sp>
      <p:pic>
        <p:nvPicPr>
          <p:cNvPr id="439" name="image32.gif" descr="image3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005" y="3200400"/>
            <a:ext cx="8989338" cy="42859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pace Concer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Space Concerns</a:t>
            </a:r>
          </a:p>
        </p:txBody>
      </p:sp>
      <p:sp>
        <p:nvSpPr>
          <p:cNvPr id="442" name="Often think of simple page table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Often think of simple page table</a:t>
            </a:r>
          </a:p>
          <a:p>
            <a:pPr marL="1977571" lvl="3" indent="-326571">
              <a:defRPr sz="2400"/>
            </a:pPr>
            <a:r>
              <a:t>One page table per process</a:t>
            </a:r>
          </a:p>
          <a:p>
            <a:pPr marL="1533071" lvl="2" indent="-326571">
              <a:defRPr sz="2400"/>
            </a:pPr>
            <a:r>
              <a:t>Is this really practical?</a:t>
            </a:r>
          </a:p>
          <a:p>
            <a:pPr marL="1977571" lvl="3" indent="-326571">
              <a:defRPr sz="2400"/>
            </a:pPr>
            <a:r>
              <a:t>Suppose using 32-bit addresses, half for OS, half for user space</a:t>
            </a:r>
          </a:p>
          <a:p>
            <a:pPr marL="1977571" lvl="3" indent="-326571">
              <a:defRPr sz="2400"/>
            </a:pPr>
            <a:r>
              <a:t>Number of pages in a user process is 2^32 / pagesize</a:t>
            </a:r>
          </a:p>
          <a:p>
            <a:pPr marL="1977571" lvl="3" indent="-326571">
              <a:defRPr sz="2400"/>
            </a:pPr>
            <a:r>
              <a:t>If pagesize is 2^10, 2^22 page table entries per process</a:t>
            </a: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Hierarchical Page T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Hierarchical Page Tables</a:t>
            </a:r>
          </a:p>
        </p:txBody>
      </p:sp>
      <p:sp>
        <p:nvSpPr>
          <p:cNvPr id="445" name="Still only one page table per process, just only load parts being used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Still only one page table per process, just only load parts being used</a:t>
            </a:r>
          </a:p>
          <a:p>
            <a:pPr marL="1533071" lvl="2" indent="-326571">
              <a:defRPr sz="2400"/>
            </a:pPr>
            <a:r>
              <a:t>Two-level page table consisting of:</a:t>
            </a:r>
          </a:p>
          <a:p>
            <a:pPr marL="1977571" lvl="3" indent="-326571">
              <a:defRPr sz="2400"/>
            </a:pPr>
            <a:r>
              <a:t>Root page table (essentially page directory)</a:t>
            </a:r>
          </a:p>
          <a:p>
            <a:pPr marL="2422071" lvl="4" indent="-326571">
              <a:defRPr sz="2400"/>
            </a:pPr>
            <a:r>
              <a:t>Each entry points to a small page table</a:t>
            </a:r>
          </a:p>
          <a:p>
            <a:pPr marL="1977571" lvl="3" indent="-326571">
              <a:defRPr sz="2400"/>
            </a:pPr>
            <a:r>
              <a:t>Individual page tßables, each of which points to a portion of total virtual address space</a:t>
            </a: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Hierarchical Page T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Hierarchical Page Tables</a:t>
            </a:r>
          </a:p>
        </p:txBody>
      </p:sp>
      <p:pic>
        <p:nvPicPr>
          <p:cNvPr id="448" name="Fig08_04.png" descr="Fig08_04.pn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84159" y="3136900"/>
            <a:ext cx="7855576" cy="4610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Hierarchical Page T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Hierarchical Page Tables</a:t>
            </a:r>
          </a:p>
        </p:txBody>
      </p:sp>
      <p:pic>
        <p:nvPicPr>
          <p:cNvPr id="451" name="Fig08_05.png" descr="Fig08_05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51" y="2755900"/>
            <a:ext cx="7722001" cy="5346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ranslation Lookaside Buffer (TLB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Translation Lookaside Buffer (TLB)</a:t>
            </a:r>
          </a:p>
        </p:txBody>
      </p:sp>
      <p:sp>
        <p:nvSpPr>
          <p:cNvPr id="454" name="Each virtual memory reference can cause two physical memory accesse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Each virtual memory reference can cause two physical memory accesses</a:t>
            </a:r>
          </a:p>
          <a:p>
            <a:pPr marL="1977571" lvl="3" indent="-326571">
              <a:defRPr sz="2400"/>
            </a:pPr>
            <a:r>
              <a:t>One to fetch page table entry</a:t>
            </a:r>
          </a:p>
          <a:p>
            <a:pPr marL="1977571" lvl="3" indent="-326571">
              <a:defRPr sz="2400"/>
            </a:pPr>
            <a:r>
              <a:t>Another to fetch the data</a:t>
            </a:r>
          </a:p>
          <a:p>
            <a:pPr marL="1533071" lvl="2" indent="-326571">
              <a:defRPr sz="2400"/>
            </a:pPr>
            <a:r>
              <a:t>Naive implementation would cause this to double execution time</a:t>
            </a:r>
          </a:p>
          <a:p>
            <a:pPr marL="1977571" lvl="3" indent="-326571">
              <a:defRPr sz="2400"/>
            </a:pPr>
            <a:r>
              <a:t>To deal with this, special high-speed cache</a:t>
            </a:r>
          </a:p>
          <a:p>
            <a:pPr marL="1977571" lvl="3" indent="-326571">
              <a:defRPr sz="2400"/>
            </a:pPr>
            <a:r>
              <a:t>Translation lookaside buffer</a:t>
            </a:r>
          </a:p>
          <a:p>
            <a:pPr marL="1533071" lvl="2" indent="-326571">
              <a:defRPr sz="2400"/>
            </a:pPr>
            <a:r>
              <a:t>TLB is a cache, so can be implemented with direct or associative caching</a:t>
            </a: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Using the TL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Using the TLB</a:t>
            </a:r>
          </a:p>
        </p:txBody>
      </p:sp>
      <p:pic>
        <p:nvPicPr>
          <p:cNvPr id="457" name="Fig08_07.png" descr="Fig08_07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2804881"/>
            <a:ext cx="7848598" cy="44359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LB Ope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TLB Operation</a:t>
            </a:r>
          </a:p>
        </p:txBody>
      </p:sp>
      <p:pic>
        <p:nvPicPr>
          <p:cNvPr id="460" name="Fig08_08.png" descr="Fig08_08.pn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63706" y="2565400"/>
            <a:ext cx="5737592" cy="6400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sident set manag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Resident set management</a:t>
            </a:r>
          </a:p>
        </p:txBody>
      </p:sp>
      <p:sp>
        <p:nvSpPr>
          <p:cNvPr id="463" name="When new process comes into system, OS must decide how many pages to bring into main memor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When new process comes into system, OS must decide how many pages to bring into main memory</a:t>
            </a:r>
          </a:p>
          <a:p>
            <a:pPr marL="1977571" lvl="3" indent="-326571">
              <a:defRPr sz="2400"/>
            </a:pPr>
            <a:r>
              <a:t>Smaller this is, more processes can reside in memory</a:t>
            </a:r>
          </a:p>
          <a:p>
            <a:pPr marL="1977571" lvl="3" indent="-326571">
              <a:defRPr sz="2400"/>
            </a:pPr>
            <a:r>
              <a:t>Larger it is, less page faults (with upper limit at some point)</a:t>
            </a:r>
          </a:p>
          <a:p>
            <a:pPr marL="1533071" lvl="2" indent="-326571">
              <a:defRPr sz="2400"/>
            </a:pPr>
            <a:r>
              <a:t>This size can be fixed</a:t>
            </a:r>
          </a:p>
          <a:p>
            <a:pPr marL="1977571" lvl="3" indent="-326571">
              <a:defRPr sz="2400"/>
            </a:pPr>
            <a:r>
              <a:t>Processes always have the same number of frames allocated to it</a:t>
            </a:r>
          </a:p>
          <a:p>
            <a:pPr marL="1977571" lvl="3" indent="-326571">
              <a:defRPr sz="2400"/>
            </a:pPr>
            <a:r>
              <a:t>Page to be replaced is chosen from its resident set</a:t>
            </a:r>
          </a:p>
          <a:p>
            <a:pPr marL="1533071" lvl="2" indent="-326571">
              <a:defRPr sz="2400"/>
            </a:pPr>
            <a:r>
              <a:t>Varied</a:t>
            </a:r>
          </a:p>
          <a:p>
            <a:pPr marL="1977571" lvl="3" indent="-326571">
              <a:defRPr sz="2400"/>
            </a:pPr>
            <a:r>
              <a:t>Allow the max number of frames to a process to vary over time</a:t>
            </a:r>
          </a:p>
        </p:txBody>
      </p:sp>
    </p:spTree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egmentation Faul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Segmentation Fault</a:t>
            </a:r>
          </a:p>
        </p:txBody>
      </p:sp>
      <p:sp>
        <p:nvSpPr>
          <p:cNvPr id="466" name="When a program tries to access memory it should not have access to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When a program tries to access memory it should not have access to</a:t>
            </a:r>
          </a:p>
          <a:p>
            <a:pPr marL="1533071" lvl="2" indent="-326571">
              <a:defRPr sz="2400"/>
            </a:pPr>
            <a:r>
              <a:t>Generated in two ways:</a:t>
            </a:r>
          </a:p>
          <a:p>
            <a:pPr marL="1977571" lvl="3" indent="-326571">
              <a:defRPr sz="2400"/>
            </a:pPr>
            <a:r>
              <a:t>When program tries to read or write memory not allocated to it</a:t>
            </a:r>
          </a:p>
          <a:p>
            <a:pPr marL="1977571" lvl="3" indent="-326571">
              <a:defRPr sz="2400"/>
            </a:pPr>
            <a:r>
              <a:t>When writing memory that can only be read</a:t>
            </a:r>
          </a:p>
          <a:p>
            <a:pPr marL="1533071" lvl="2" indent="-326571">
              <a:defRPr sz="2400"/>
            </a:pPr>
            <a:r>
              <a:t>Generates SIGSEGV signal (usually 11)</a:t>
            </a:r>
          </a:p>
        </p:txBody>
      </p:sp>
    </p:spTree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egmentation Faul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Segmentation Fault</a:t>
            </a:r>
          </a:p>
        </p:txBody>
      </p:sp>
      <p:sp>
        <p:nvSpPr>
          <p:cNvPr id="469" name="Things that could throw a SIGSEGV: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Things that could throw a SIGSEGV:</a:t>
            </a:r>
          </a:p>
          <a:p>
            <a:pPr marL="1977571" lvl="3" indent="-326571">
              <a:defRPr sz="2400"/>
            </a:pPr>
            <a:r>
              <a:t>Using uninitialized pointer</a:t>
            </a:r>
          </a:p>
          <a:p>
            <a:pPr marL="1977571" lvl="3" indent="-326571">
              <a:defRPr sz="2400"/>
            </a:pPr>
            <a:r>
              <a:t>De-referencing a NULL pointer</a:t>
            </a:r>
          </a:p>
          <a:p>
            <a:pPr marL="1977571" lvl="3" indent="-326571">
              <a:defRPr sz="2400"/>
            </a:pPr>
            <a:r>
              <a:t>Trying to access memory program does not have privileges for</a:t>
            </a:r>
          </a:p>
          <a:p>
            <a:pPr marL="2422071" lvl="4" indent="-326571">
              <a:defRPr sz="2400"/>
            </a:pPr>
            <a:r>
              <a:t>Accessing array out of bounds</a:t>
            </a:r>
          </a:p>
          <a:p>
            <a:pPr marL="1977571" lvl="3" indent="-326571">
              <a:defRPr sz="2400"/>
            </a:pPr>
            <a:r>
              <a:t>Trying to access memory which has already been freed</a:t>
            </a:r>
          </a:p>
        </p:txBody>
      </p:sp>
    </p:spTree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Bus Err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Bus Error</a:t>
            </a:r>
          </a:p>
        </p:txBody>
      </p:sp>
      <p:sp>
        <p:nvSpPr>
          <p:cNvPr id="472" name="When a process tries to access memory that CPU cannot physically address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1136115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When a process tries to access memory that CPU cannot physically address</a:t>
            </a:r>
          </a:p>
          <a:p>
            <a:pPr marL="1533071" lvl="2" indent="-326571">
              <a:defRPr sz="2400"/>
            </a:pPr>
            <a:r>
              <a:t>Generated when program attempts to use an invalid address</a:t>
            </a:r>
          </a:p>
          <a:p>
            <a:pPr marL="1977571" lvl="3" indent="-326571">
              <a:defRPr sz="2400"/>
            </a:pPr>
            <a:r>
              <a:t>Usually caused by alignment issues</a:t>
            </a:r>
          </a:p>
          <a:p>
            <a:pPr marL="1533071" lvl="2" indent="-326571">
              <a:defRPr sz="2400"/>
            </a:pPr>
            <a:r>
              <a:t>Generates SIGBUS signal (usually 10)</a:t>
            </a:r>
          </a:p>
        </p:txBody>
      </p:sp>
    </p:spTree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Bus Err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Bus Error</a:t>
            </a:r>
          </a:p>
        </p:txBody>
      </p:sp>
      <p:sp>
        <p:nvSpPr>
          <p:cNvPr id="475" name="Things that could throw a SIGBUS: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602913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Things that could throw a SIGBUS:</a:t>
            </a:r>
          </a:p>
          <a:p>
            <a:pPr marL="1977571" lvl="3" indent="-326571">
              <a:defRPr sz="2400"/>
            </a:pPr>
            <a:r>
              <a:t>Process tries to access specific physical memory address which is not valid</a:t>
            </a:r>
          </a:p>
          <a:p>
            <a:pPr marL="2422071" lvl="4" indent="-326571">
              <a:defRPr sz="2400"/>
            </a:pPr>
            <a:r>
              <a:t>Invalid pointer is dereferenced</a:t>
            </a:r>
          </a:p>
          <a:p>
            <a:pPr marL="1977571" lvl="3" indent="-326571">
              <a:defRPr sz="2400"/>
            </a:pPr>
            <a:r>
              <a:t>Unaligned multi-byte access</a:t>
            </a:r>
          </a:p>
          <a:p>
            <a:pPr marL="2422071" lvl="4" indent="-326571">
              <a:defRPr sz="2400"/>
            </a:pPr>
            <a:r>
              <a:t>Often multi-byte access must be aligned by bytes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Require that longs be accessed at byte 0,4,8,12,16, so on</a:t>
            </a:r>
          </a:p>
          <a:p>
            <a:pPr marL="2777671" lvl="5" indent="-326571">
              <a:spcBef>
                <a:spcPts val="2400"/>
              </a:spcBef>
              <a:defRPr sz="2400"/>
            </a:pPr>
            <a:r>
              <a:t>Trying to read byte 3 or 5 would generate a SIGBUS</a:t>
            </a:r>
          </a:p>
        </p:txBody>
      </p:sp>
    </p:spTree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aged Se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Paged Segmentation</a:t>
            </a:r>
          </a:p>
        </p:txBody>
      </p:sp>
      <p:sp>
        <p:nvSpPr>
          <p:cNvPr id="478" name="Can we combine paging and segmentation?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Can we combine paging and segmentation?</a:t>
            </a:r>
          </a:p>
          <a:p>
            <a:pPr marL="1533071" lvl="2" indent="-326571">
              <a:defRPr sz="2400"/>
            </a:pPr>
            <a:r>
              <a:t>User address space broken up into segments</a:t>
            </a:r>
          </a:p>
          <a:p>
            <a:pPr marL="1533071" lvl="2" indent="-326571">
              <a:defRPr sz="2400"/>
            </a:pPr>
            <a:r>
              <a:t>Each segment broken up into number of fixed-size pages</a:t>
            </a:r>
          </a:p>
          <a:p>
            <a:pPr marL="1977571" lvl="3" indent="-326571">
              <a:defRPr sz="2400"/>
            </a:pPr>
            <a:r>
              <a:t>Each size of a main memory frame</a:t>
            </a:r>
          </a:p>
        </p:txBody>
      </p:sp>
    </p:spTree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aging and Se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 and Segmentation</a:t>
            </a:r>
          </a:p>
        </p:txBody>
      </p:sp>
      <p:sp>
        <p:nvSpPr>
          <p:cNvPr id="481" name="Under paged segmentation, different visibilit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Under paged segmentation, different visibility</a:t>
            </a:r>
          </a:p>
          <a:p>
            <a:pPr marL="1977571" lvl="3" indent="-326571">
              <a:defRPr sz="2400"/>
            </a:pPr>
            <a:r>
              <a:t>Segmentation visible to programmer</a:t>
            </a:r>
          </a:p>
          <a:p>
            <a:pPr marL="1977571" lvl="3" indent="-326571">
              <a:defRPr sz="2400"/>
            </a:pPr>
            <a:r>
              <a:t>Paging is only visible to OS</a:t>
            </a:r>
          </a:p>
        </p:txBody>
      </p:sp>
    </p:spTree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aging and Seg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Paging and Segmentation</a:t>
            </a:r>
          </a:p>
        </p:txBody>
      </p:sp>
      <p:pic>
        <p:nvPicPr>
          <p:cNvPr id="484" name="Fig08_13.png" descr="Fig08_13.pn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56706" y="2616200"/>
            <a:ext cx="8786585" cy="6007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Inverted Page T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Inverted Page Tables</a:t>
            </a:r>
          </a:p>
        </p:txBody>
      </p:sp>
      <p:sp>
        <p:nvSpPr>
          <p:cNvPr id="487" name="Lets solve the size of our page tables in another way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088571" lvl="1" indent="-326571">
              <a:defRPr sz="2400"/>
            </a:pPr>
            <a:r>
              <a:t>Lets solve the size of our page tables in another way</a:t>
            </a:r>
          </a:p>
          <a:p>
            <a:pPr marL="1533071" lvl="2" indent="-326571">
              <a:defRPr sz="2400"/>
            </a:pPr>
            <a:r>
              <a:t>With just one entry for each frame of physical memory</a:t>
            </a:r>
          </a:p>
          <a:p>
            <a:pPr marL="1088571" lvl="1" indent="-326571">
              <a:defRPr sz="2400"/>
            </a:pPr>
            <a:r>
              <a:t>A problem!</a:t>
            </a:r>
          </a:p>
          <a:p>
            <a:pPr marL="1533071" lvl="2" indent="-326571">
              <a:defRPr sz="2400"/>
            </a:pPr>
            <a:r>
              <a:t>More than one virtual address could map to that location</a:t>
            </a:r>
          </a:p>
          <a:p>
            <a:pPr marL="1088571" lvl="1" indent="-326571">
              <a:defRPr sz="2400"/>
            </a:pPr>
            <a:r>
              <a:t>Called Inverted Page Table</a:t>
            </a:r>
          </a:p>
          <a:p>
            <a:pPr marL="1533071" lvl="2" indent="-326571">
              <a:defRPr sz="2400"/>
            </a:pPr>
            <a:r>
              <a:t>Indexes page table entries by frame number, not by virtual page number</a:t>
            </a:r>
          </a:p>
        </p:txBody>
      </p:sp>
    </p:spTree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Inverted Page Tab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Inverted Page Table</a:t>
            </a:r>
          </a:p>
        </p:txBody>
      </p:sp>
      <p:pic>
        <p:nvPicPr>
          <p:cNvPr id="490" name="f05.pdf" descr="f0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560" y="2367632"/>
            <a:ext cx="8433680" cy="65169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Demand Pa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Demand Paging</a:t>
            </a:r>
          </a:p>
        </p:txBody>
      </p:sp>
      <p:sp>
        <p:nvSpPr>
          <p:cNvPr id="493" name="Demand paging only brings pages into main memory when a reference is made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Demand paging only brings pages into main memory when a reference is made</a:t>
            </a:r>
          </a:p>
          <a:p>
            <a:pPr marL="1977571" lvl="3" indent="-326571">
              <a:defRPr sz="2400"/>
            </a:pPr>
            <a:r>
              <a:t>What happens at the start of processes?</a:t>
            </a:r>
          </a:p>
          <a:p>
            <a:pPr marL="1977571" lvl="3" indent="-326571">
              <a:defRPr sz="2400"/>
            </a:pPr>
            <a:r>
              <a:t>Can we possibly change this exploiting principle of locality?</a:t>
            </a:r>
          </a:p>
        </p:txBody>
      </p:sp>
    </p:spTree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repa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Prepaging</a:t>
            </a:r>
          </a:p>
        </p:txBody>
      </p:sp>
      <p:sp>
        <p:nvSpPr>
          <p:cNvPr id="496" name="Lets bring in pages other than the one demanded by page fault…"/>
          <p:cNvSpPr txBox="1">
            <a:spLocks noGrp="1"/>
          </p:cNvSpPr>
          <p:nvPr>
            <p:ph type="body" idx="1"/>
          </p:nvPr>
        </p:nvSpPr>
        <p:spPr>
          <a:xfrm>
            <a:off x="1282700" y="2768600"/>
            <a:ext cx="10972800" cy="5715000"/>
          </a:xfrm>
          <a:prstGeom prst="rect">
            <a:avLst/>
          </a:prstGeom>
        </p:spPr>
        <p:txBody>
          <a:bodyPr/>
          <a:lstStyle/>
          <a:p>
            <a:pPr marL="1533071" lvl="2" indent="-326571">
              <a:defRPr sz="2400"/>
            </a:pPr>
            <a:r>
              <a:t>Lets bring in pages other than the one demanded by page fault</a:t>
            </a:r>
          </a:p>
          <a:p>
            <a:pPr marL="1533071" lvl="2" indent="-326571">
              <a:defRPr sz="2400"/>
            </a:pPr>
            <a:r>
              <a:t>How does this help us? How can we be sure pages will be used?</a:t>
            </a:r>
          </a:p>
          <a:p>
            <a:pPr marL="1977571" lvl="3" indent="-326571">
              <a:defRPr sz="2400"/>
            </a:pPr>
            <a:r>
              <a:t>Exploit the characteristics of secondary storage devices</a:t>
            </a:r>
          </a:p>
          <a:p>
            <a:pPr marL="1977571" lvl="3" indent="-326571">
              <a:defRPr sz="2400"/>
            </a:pPr>
            <a:r>
              <a:t>If pages of a process are stored contiguously in secondary memory, efficient to bring in a number of pages at one time</a:t>
            </a:r>
          </a:p>
          <a:p>
            <a:pPr marL="1977571" lvl="3" indent="-326571">
              <a:defRPr sz="2400"/>
            </a:pPr>
            <a:r>
              <a:t>Ineffective if extra pages are not referenced</a:t>
            </a:r>
          </a:p>
        </p:txBody>
      </p:sp>
    </p:spTree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End on memory management!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End on memory management!</a:t>
            </a:r>
          </a:p>
        </p:txBody>
      </p:sp>
      <p:sp>
        <p:nvSpPr>
          <p:cNvPr id="499" name="Any questions?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44071" indent="-326571">
              <a:defRPr sz="2400"/>
            </a:lvl1pPr>
          </a:lstStyle>
          <a:p>
            <a:r>
              <a:t>Any questions?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4142</Words>
  <Application>Microsoft Office PowerPoint</Application>
  <PresentationFormat>Custom</PresentationFormat>
  <Paragraphs>623</Paragraphs>
  <Slides>114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8" baseType="lpstr">
      <vt:lpstr>Courier New</vt:lpstr>
      <vt:lpstr>Gill Sans</vt:lpstr>
      <vt:lpstr>Lucida Grande</vt:lpstr>
      <vt:lpstr>White</vt:lpstr>
      <vt:lpstr>Operating Systems:  Memory Management</vt:lpstr>
      <vt:lpstr>Memory Management</vt:lpstr>
      <vt:lpstr>Memory Management</vt:lpstr>
      <vt:lpstr>What is memory?</vt:lpstr>
      <vt:lpstr>Memory hierarchy managers</vt:lpstr>
      <vt:lpstr>Memory hierarchy managers</vt:lpstr>
      <vt:lpstr>Memory hierarchy managers</vt:lpstr>
      <vt:lpstr>Physical view</vt:lpstr>
      <vt:lpstr>Physical view</vt:lpstr>
      <vt:lpstr>Addresses</vt:lpstr>
      <vt:lpstr>Addresses</vt:lpstr>
      <vt:lpstr>Binding</vt:lpstr>
      <vt:lpstr>Binding</vt:lpstr>
      <vt:lpstr>Relocation</vt:lpstr>
      <vt:lpstr>Static Relocation</vt:lpstr>
      <vt:lpstr>Dynamic Relocation</vt:lpstr>
      <vt:lpstr>Dynamic Relocation</vt:lpstr>
      <vt:lpstr>Memory alignment</vt:lpstr>
      <vt:lpstr>Requirements</vt:lpstr>
      <vt:lpstr>Requirements</vt:lpstr>
      <vt:lpstr>Requirements</vt:lpstr>
      <vt:lpstr>Requirements</vt:lpstr>
      <vt:lpstr>Requirements</vt:lpstr>
      <vt:lpstr>Memory Management Schemes</vt:lpstr>
      <vt:lpstr>Memory Management Schemes</vt:lpstr>
      <vt:lpstr>Fixed Partitioning</vt:lpstr>
      <vt:lpstr>Fixed Partitioning</vt:lpstr>
      <vt:lpstr>Fixed Partitioning</vt:lpstr>
      <vt:lpstr>Fixed Partitioning</vt:lpstr>
      <vt:lpstr>Fixed Partitioning</vt:lpstr>
      <vt:lpstr>Multiple-Partition Allocation</vt:lpstr>
      <vt:lpstr>Multiple-Partition Allocation</vt:lpstr>
      <vt:lpstr>Multiple-Partition Allocation</vt:lpstr>
      <vt:lpstr>Placement Algorithm</vt:lpstr>
      <vt:lpstr>Placement Algorithm</vt:lpstr>
      <vt:lpstr>Multiple-Fixed Partition</vt:lpstr>
      <vt:lpstr>Dynamic Partitioning</vt:lpstr>
      <vt:lpstr>Dynamic Partitioning</vt:lpstr>
      <vt:lpstr>Dynamic Partitioning</vt:lpstr>
      <vt:lpstr>External Fragmentation</vt:lpstr>
      <vt:lpstr>Compaction</vt:lpstr>
      <vt:lpstr>Dynamic Partitioning</vt:lpstr>
      <vt:lpstr>Dynamic Partitioning</vt:lpstr>
      <vt:lpstr>Dynamic Partitioning</vt:lpstr>
      <vt:lpstr>Dynamic Partitioning</vt:lpstr>
      <vt:lpstr>Dynamic Partitioning</vt:lpstr>
      <vt:lpstr>Allocation</vt:lpstr>
      <vt:lpstr>Buddy System</vt:lpstr>
      <vt:lpstr>Buddy System</vt:lpstr>
      <vt:lpstr>Buddy System</vt:lpstr>
      <vt:lpstr>Paging</vt:lpstr>
      <vt:lpstr>Paging details</vt:lpstr>
      <vt:lpstr>Paging details</vt:lpstr>
      <vt:lpstr>Paging</vt:lpstr>
      <vt:lpstr>Paging</vt:lpstr>
      <vt:lpstr>Paging</vt:lpstr>
      <vt:lpstr>Shared pages</vt:lpstr>
      <vt:lpstr>Shared pages</vt:lpstr>
      <vt:lpstr>Segmentation</vt:lpstr>
      <vt:lpstr>Segmentation</vt:lpstr>
      <vt:lpstr>Segmentation</vt:lpstr>
      <vt:lpstr>Segmentation</vt:lpstr>
      <vt:lpstr>Sharing</vt:lpstr>
      <vt:lpstr>Fragmentation</vt:lpstr>
      <vt:lpstr>Logical to physical addresses</vt:lpstr>
      <vt:lpstr>Logical Addresses</vt:lpstr>
      <vt:lpstr>Logical Addresses</vt:lpstr>
      <vt:lpstr>Logical Addresses</vt:lpstr>
      <vt:lpstr>Memory Management Formats</vt:lpstr>
      <vt:lpstr>Virtual memory</vt:lpstr>
      <vt:lpstr>Virtual memory</vt:lpstr>
      <vt:lpstr>Address Translation</vt:lpstr>
      <vt:lpstr>Virtual memory</vt:lpstr>
      <vt:lpstr>Virtual memory</vt:lpstr>
      <vt:lpstr>Implication of virtual memory</vt:lpstr>
      <vt:lpstr>Real and Virtual Memory</vt:lpstr>
      <vt:lpstr>Thrashing</vt:lpstr>
      <vt:lpstr>Replacement Policy</vt:lpstr>
      <vt:lpstr>Replacement Policy</vt:lpstr>
      <vt:lpstr>Replacement Policy</vt:lpstr>
      <vt:lpstr>Replacement Policy</vt:lpstr>
      <vt:lpstr>Examples</vt:lpstr>
      <vt:lpstr>Optimal Policy</vt:lpstr>
      <vt:lpstr>Least Recently Used Policy</vt:lpstr>
      <vt:lpstr>LRU Policy</vt:lpstr>
      <vt:lpstr>First in, First out</vt:lpstr>
      <vt:lpstr>FIFO Policy</vt:lpstr>
      <vt:lpstr>Second-Chance</vt:lpstr>
      <vt:lpstr>Clock Policy</vt:lpstr>
      <vt:lpstr>Clock Policy</vt:lpstr>
      <vt:lpstr>Clock Policy</vt:lpstr>
      <vt:lpstr>Clock Policy</vt:lpstr>
      <vt:lpstr>Additional-Reference-Bits</vt:lpstr>
      <vt:lpstr>Comparison</vt:lpstr>
      <vt:lpstr>Space Concerns</vt:lpstr>
      <vt:lpstr>Hierarchical Page Tables</vt:lpstr>
      <vt:lpstr>Hierarchical Page Tables</vt:lpstr>
      <vt:lpstr>Hierarchical Page Tables</vt:lpstr>
      <vt:lpstr>Translation Lookaside Buffer (TLB)</vt:lpstr>
      <vt:lpstr>Using the TLB</vt:lpstr>
      <vt:lpstr>TLB Operation</vt:lpstr>
      <vt:lpstr>Resident set management</vt:lpstr>
      <vt:lpstr>Segmentation Fault</vt:lpstr>
      <vt:lpstr>Segmentation Fault</vt:lpstr>
      <vt:lpstr>Bus Error</vt:lpstr>
      <vt:lpstr>Bus Error</vt:lpstr>
      <vt:lpstr>Paged Segmentation</vt:lpstr>
      <vt:lpstr>Paging and Segmentation</vt:lpstr>
      <vt:lpstr>Paging and Segmentation</vt:lpstr>
      <vt:lpstr>Inverted Page Tables</vt:lpstr>
      <vt:lpstr>Inverted Page Table</vt:lpstr>
      <vt:lpstr>Demand Paging</vt:lpstr>
      <vt:lpstr>Prepaging</vt:lpstr>
      <vt:lpstr>End on memory management!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hauschild</cp:lastModifiedBy>
  <cp:revision>1</cp:revision>
  <dcterms:modified xsi:type="dcterms:W3CDTF">2025-11-05T17:03:02Z</dcterms:modified>
</cp:coreProperties>
</file>