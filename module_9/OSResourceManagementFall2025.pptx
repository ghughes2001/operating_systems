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1pPr>
    <a:lvl2pPr marL="0" marR="0" indent="34290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2pPr>
    <a:lvl3pPr marL="0" marR="0" indent="68580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3pPr>
    <a:lvl4pPr marL="0" marR="0" indent="102870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4pPr>
    <a:lvl5pPr marL="0" marR="0" indent="137160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5pPr>
    <a:lvl6pPr marL="0" marR="0" indent="171450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6pPr>
    <a:lvl7pPr marL="0" marR="0" indent="205740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7pPr>
    <a:lvl8pPr marL="0" marR="0" indent="240030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8pPr>
    <a:lvl9pPr marL="0" marR="0" indent="274320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def" i="de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de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def" i="de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de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def" i="de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def" i="de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def" i="de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def" i="de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def" i="de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def" i="de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def" i="de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def" i="de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def" i="de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de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de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de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def" i="de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de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de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de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def" i="de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de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de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de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Ref idx="minor">
          <a:srgbClr val="000000"/>
        </a:fontRef>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b="def" i="def"/>
      <a:tcStyle>
        <a:tcBdr/>
        <a:fill>
          <a:solidFill>
            <a:srgbClr val="C5C7C9">
              <a:alpha val="30000"/>
            </a:srgbClr>
          </a:solidFill>
        </a:fill>
      </a:tcStyle>
    </a:band2H>
    <a:firstCol>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indent="457200" defTabSz="584200" latinLnBrk="0">
      <a:defRPr sz="2200">
        <a:latin typeface="Lucida Grande"/>
        <a:ea typeface="Lucida Grande"/>
        <a:cs typeface="Lucida Grande"/>
        <a:sym typeface="Lucida Grande"/>
      </a:defRPr>
    </a:lvl2pPr>
    <a:lvl3pPr indent="914400" defTabSz="584200" latinLnBrk="0">
      <a:defRPr sz="2200">
        <a:latin typeface="Lucida Grande"/>
        <a:ea typeface="Lucida Grande"/>
        <a:cs typeface="Lucida Grande"/>
        <a:sym typeface="Lucida Grande"/>
      </a:defRPr>
    </a:lvl3pPr>
    <a:lvl4pPr indent="1371600" defTabSz="584200" latinLnBrk="0">
      <a:defRPr sz="2200">
        <a:latin typeface="Lucida Grande"/>
        <a:ea typeface="Lucida Grande"/>
        <a:cs typeface="Lucida Grande"/>
        <a:sym typeface="Lucida Grande"/>
      </a:defRPr>
    </a:lvl4pPr>
    <a:lvl5pPr indent="1828800" defTabSz="584200" latinLnBrk="0">
      <a:defRPr sz="2200">
        <a:latin typeface="Lucida Grande"/>
        <a:ea typeface="Lucida Grande"/>
        <a:cs typeface="Lucida Grande"/>
        <a:sym typeface="Lucida Grande"/>
      </a:defRPr>
    </a:lvl5pPr>
    <a:lvl6pPr indent="2286000" defTabSz="584200" latinLnBrk="0">
      <a:defRPr sz="2200">
        <a:latin typeface="Lucida Grande"/>
        <a:ea typeface="Lucida Grande"/>
        <a:cs typeface="Lucida Grande"/>
        <a:sym typeface="Lucida Grande"/>
      </a:defRPr>
    </a:lvl6pPr>
    <a:lvl7pPr indent="2743200" defTabSz="584200" latinLnBrk="0">
      <a:defRPr sz="2200">
        <a:latin typeface="Lucida Grande"/>
        <a:ea typeface="Lucida Grande"/>
        <a:cs typeface="Lucida Grande"/>
        <a:sym typeface="Lucida Grande"/>
      </a:defRPr>
    </a:lvl7pPr>
    <a:lvl8pPr indent="3200400" defTabSz="584200" latinLnBrk="0">
      <a:defRPr sz="2200">
        <a:latin typeface="Lucida Grande"/>
        <a:ea typeface="Lucida Grande"/>
        <a:cs typeface="Lucida Grande"/>
        <a:sym typeface="Lucida Grande"/>
      </a:defRPr>
    </a:lvl8pPr>
    <a:lvl9pPr indent="3657600" defTabSz="584200" latinLnBrk="0">
      <a:defRPr sz="2200">
        <a:latin typeface="Lucida Grande"/>
        <a:ea typeface="Lucida Grande"/>
        <a:cs typeface="Lucida Grande"/>
        <a:sym typeface="Lucida Grand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1270000" y="1638300"/>
            <a:ext cx="10464800" cy="3302000"/>
          </a:xfrm>
          <a:prstGeom prst="rect">
            <a:avLst/>
          </a:prstGeom>
        </p:spPr>
        <p:txBody>
          <a:bodyPr anchor="b"/>
          <a:lstStyle/>
          <a:p>
            <a:pPr/>
            <a:r>
              <a:t>Title Text</a:t>
            </a:r>
          </a:p>
        </p:txBody>
      </p:sp>
      <p:sp>
        <p:nvSpPr>
          <p:cNvPr id="12" name="Body Level One…"/>
          <p:cNvSpPr txBox="1"/>
          <p:nvPr>
            <p:ph type="body" sz="quarter" idx="1"/>
          </p:nvPr>
        </p:nvSpPr>
        <p:spPr>
          <a:xfrm>
            <a:off x="1270000" y="5029200"/>
            <a:ext cx="10464800" cy="1130300"/>
          </a:xfrm>
          <a:prstGeom prst="rect">
            <a:avLst/>
          </a:prstGeom>
        </p:spPr>
        <p:txBody>
          <a:bodyPr anchor="t"/>
          <a:lstStyle>
            <a:lvl1pPr marL="0" indent="0" algn="ctr">
              <a:spcBef>
                <a:spcPts val="0"/>
              </a:spcBef>
              <a:buSzTx/>
              <a:buNone/>
              <a:defRPr sz="3600"/>
            </a:lvl1pPr>
            <a:lvl2pPr marL="0" indent="0" algn="ctr">
              <a:spcBef>
                <a:spcPts val="0"/>
              </a:spcBef>
              <a:buSzTx/>
              <a:buNone/>
              <a:defRPr sz="3600"/>
            </a:lvl2pPr>
            <a:lvl3pPr marL="0" indent="0" algn="ctr">
              <a:spcBef>
                <a:spcPts val="0"/>
              </a:spcBef>
              <a:buSzTx/>
              <a:buNone/>
              <a:defRPr sz="3600"/>
            </a:lvl3pPr>
            <a:lvl4pPr marL="0" indent="0" algn="ctr">
              <a:spcBef>
                <a:spcPts val="0"/>
              </a:spcBef>
              <a:buSzTx/>
              <a:buNone/>
              <a:defRPr sz="3600"/>
            </a:lvl4pPr>
            <a:lvl5pPr marL="0" indent="0" algn="ctr">
              <a:spcBef>
                <a:spcPts val="0"/>
              </a:spcBef>
              <a:buSzTx/>
              <a:buNone/>
              <a:defRPr sz="3600"/>
            </a:lvl5pPr>
          </a:lstStyle>
          <a:p>
            <a:pPr/>
            <a:r>
              <a:t>Body Level One</a:t>
            </a:r>
          </a:p>
          <a:p>
            <a:pPr lvl="1"/>
            <a:r>
              <a:t>Body Level Two</a:t>
            </a:r>
          </a:p>
          <a:p>
            <a:pPr lvl="2"/>
            <a:r>
              <a:t>Body Level Three</a:t>
            </a:r>
          </a:p>
          <a:p>
            <a:pPr lvl="3"/>
            <a:r>
              <a:t>Body Level Four</a:t>
            </a:r>
          </a:p>
          <a:p>
            <a:pPr lvl="4"/>
            <a:r>
              <a:t>Body Level Five</a:t>
            </a:r>
          </a:p>
        </p:txBody>
      </p:sp>
      <p:sp>
        <p:nvSpPr>
          <p:cNvPr id="13"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xfrm>
            <a:off x="1270000" y="2768600"/>
            <a:ext cx="10464800" cy="5715000"/>
          </a:xfrm>
          <a:prstGeom prst="rect">
            <a:avLst/>
          </a:prstGeom>
        </p:spPr>
        <p:txBody>
          <a:bodyPr/>
          <a:lstStyle>
            <a:lvl1pPr>
              <a:spcBef>
                <a:spcPts val="2400"/>
              </a:spcBef>
            </a:lvl1pPr>
            <a:lvl2pPr>
              <a:spcBef>
                <a:spcPts val="2400"/>
              </a:spcBef>
            </a:lvl2pPr>
            <a:lvl3pPr>
              <a:spcBef>
                <a:spcPts val="2400"/>
              </a:spcBef>
            </a:lvl3pPr>
            <a:lvl4pPr>
              <a:spcBef>
                <a:spcPts val="2400"/>
              </a:spcBef>
            </a:lvl4pPr>
            <a:lvl5pPr>
              <a:spcBef>
                <a:spcPts val="2400"/>
              </a:spcBef>
            </a:lvl5pPr>
          </a:lstStyle>
          <a:p>
            <a:pPr/>
            <a:r>
              <a:t>Body Level One</a:t>
            </a:r>
          </a:p>
          <a:p>
            <a:pPr lvl="1"/>
            <a:r>
              <a:t>Body Level Two</a:t>
            </a:r>
          </a:p>
          <a:p>
            <a:pPr lvl="2"/>
            <a:r>
              <a:t>Body Level Three</a:t>
            </a:r>
          </a:p>
          <a:p>
            <a:pPr lvl="3"/>
            <a:r>
              <a:t>Body Level Four</a:t>
            </a:r>
          </a:p>
          <a:p>
            <a:pPr lvl="4"/>
            <a:r>
              <a:t>Body Level Five</a:t>
            </a:r>
          </a:p>
        </p:txBody>
      </p:sp>
      <p:sp>
        <p:nvSpPr>
          <p:cNvPr id="22"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 2 Column">
    <p:spTree>
      <p:nvGrpSpPr>
        <p:cNvPr id="1" name=""/>
        <p:cNvGrpSpPr/>
        <p:nvPr/>
      </p:nvGrpSpPr>
      <p:grpSpPr>
        <a:xfrm>
          <a:off x="0" y="0"/>
          <a:ext cx="0" cy="0"/>
          <a:chOff x="0" y="0"/>
          <a:chExt cx="0" cy="0"/>
        </a:xfrm>
      </p:grpSpPr>
      <p:sp>
        <p:nvSpPr>
          <p:cNvPr id="29" name="Title Text"/>
          <p:cNvSpPr txBox="1"/>
          <p:nvPr>
            <p:ph type="title"/>
          </p:nvPr>
        </p:nvSpPr>
        <p:spPr>
          <a:prstGeom prst="rect">
            <a:avLst/>
          </a:prstGeom>
        </p:spPr>
        <p:txBody>
          <a:bodyPr/>
          <a:lstStyle/>
          <a:p>
            <a:pPr/>
            <a:r>
              <a:t>Title Text</a:t>
            </a:r>
          </a:p>
        </p:txBody>
      </p:sp>
      <p:sp>
        <p:nvSpPr>
          <p:cNvPr id="30" name="Body Level One…"/>
          <p:cNvSpPr txBox="1"/>
          <p:nvPr>
            <p:ph type="body" idx="1"/>
          </p:nvPr>
        </p:nvSpPr>
        <p:spPr>
          <a:xfrm>
            <a:off x="1270000" y="2768600"/>
            <a:ext cx="10464800" cy="5715000"/>
          </a:xfrm>
          <a:prstGeom prst="rect">
            <a:avLst/>
          </a:prstGeom>
        </p:spPr>
        <p:txBody>
          <a:bodyPr numCol="2" spcCol="523240" anchor="t"/>
          <a:lstStyle>
            <a:lvl1pPr marL="812120" indent="-494620">
              <a:spcBef>
                <a:spcPts val="3800"/>
              </a:spcBef>
              <a:defRPr sz="3200"/>
            </a:lvl1pPr>
            <a:lvl2pPr marL="1256620" indent="-494620">
              <a:spcBef>
                <a:spcPts val="3800"/>
              </a:spcBef>
              <a:defRPr sz="3200"/>
            </a:lvl2pPr>
            <a:lvl3pPr marL="1701120" indent="-494620">
              <a:spcBef>
                <a:spcPts val="3800"/>
              </a:spcBef>
              <a:defRPr sz="3200"/>
            </a:lvl3pPr>
            <a:lvl4pPr marL="2145620" indent="-494620">
              <a:spcBef>
                <a:spcPts val="3800"/>
              </a:spcBef>
              <a:defRPr sz="3200"/>
            </a:lvl4pPr>
            <a:lvl5pPr marL="2590120" indent="-494620">
              <a:spcBef>
                <a:spcPts val="3800"/>
              </a:spcBef>
              <a:defRPr sz="3200"/>
            </a:lvl5pPr>
          </a:lstStyle>
          <a:p>
            <a:pPr/>
            <a:r>
              <a:t>Body Level One</a:t>
            </a:r>
          </a:p>
          <a:p>
            <a:pPr lvl="1"/>
            <a:r>
              <a:t>Body Level Two</a:t>
            </a:r>
          </a:p>
          <a:p>
            <a:pPr lvl="2"/>
            <a:r>
              <a:t>Body Level Three</a:t>
            </a:r>
          </a:p>
          <a:p>
            <a:pPr lvl="3"/>
            <a:r>
              <a:t>Body Level Four</a:t>
            </a:r>
          </a:p>
          <a:p>
            <a:pPr lvl="4"/>
            <a:r>
              <a:t>Body Level Five</a:t>
            </a:r>
          </a:p>
        </p:txBody>
      </p:sp>
      <p:sp>
        <p:nvSpPr>
          <p:cNvPr id="31"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38"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9"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46"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53" name="Title Text"/>
          <p:cNvSpPr txBox="1"/>
          <p:nvPr>
            <p:ph type="title"/>
          </p:nvPr>
        </p:nvSpPr>
        <p:spPr>
          <a:prstGeom prst="rect">
            <a:avLst/>
          </a:prstGeom>
        </p:spPr>
        <p:txBody>
          <a:bodyPr/>
          <a:lstStyle/>
          <a:p>
            <a:pPr/>
            <a:r>
              <a:t>Title Text</a:t>
            </a:r>
          </a:p>
        </p:txBody>
      </p:sp>
      <p:sp>
        <p:nvSpPr>
          <p:cNvPr id="5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er">
    <p:spTree>
      <p:nvGrpSpPr>
        <p:cNvPr id="1" name=""/>
        <p:cNvGrpSpPr/>
        <p:nvPr/>
      </p:nvGrpSpPr>
      <p:grpSpPr>
        <a:xfrm>
          <a:off x="0" y="0"/>
          <a:ext cx="0" cy="0"/>
          <a:chOff x="0" y="0"/>
          <a:chExt cx="0" cy="0"/>
        </a:xfrm>
      </p:grpSpPr>
      <p:sp>
        <p:nvSpPr>
          <p:cNvPr id="61" name="Title Text"/>
          <p:cNvSpPr txBox="1"/>
          <p:nvPr>
            <p:ph type="title"/>
          </p:nvPr>
        </p:nvSpPr>
        <p:spPr>
          <a:xfrm>
            <a:off x="1270000" y="2971800"/>
            <a:ext cx="10464800" cy="3810000"/>
          </a:xfrm>
          <a:prstGeom prst="rect">
            <a:avLst/>
          </a:prstGeom>
        </p:spPr>
        <p:txBody>
          <a:bodyPr/>
          <a:lstStyle/>
          <a:p>
            <a:pPr/>
            <a:r>
              <a:t>Title Text</a:t>
            </a:r>
          </a:p>
        </p:txBody>
      </p:sp>
      <p:sp>
        <p:nvSpPr>
          <p:cNvPr id="62"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69" name="happy_girls.jpeg"/>
          <p:cNvSpPr/>
          <p:nvPr>
            <p:ph type="pic" sz="half" idx="21"/>
          </p:nvPr>
        </p:nvSpPr>
        <p:spPr>
          <a:xfrm>
            <a:off x="2438400" y="1638300"/>
            <a:ext cx="8128000" cy="5042206"/>
          </a:xfrm>
          <a:prstGeom prst="rect">
            <a:avLst/>
          </a:prstGeom>
        </p:spPr>
        <p:txBody>
          <a:bodyPr lIns="91439" tIns="45719" rIns="91439" bIns="45719" anchor="t"/>
          <a:lstStyle/>
          <a:p>
            <a:pPr/>
          </a:p>
        </p:txBody>
      </p:sp>
      <p:sp>
        <p:nvSpPr>
          <p:cNvPr id="70" name="Title Text"/>
          <p:cNvSpPr txBox="1"/>
          <p:nvPr>
            <p:ph type="title"/>
          </p:nvPr>
        </p:nvSpPr>
        <p:spPr>
          <a:xfrm>
            <a:off x="1270000" y="7366000"/>
            <a:ext cx="10464800" cy="1701800"/>
          </a:xfrm>
          <a:prstGeom prst="rect">
            <a:avLst/>
          </a:prstGeom>
        </p:spPr>
        <p:txBody>
          <a:bodyPr/>
          <a:lstStyle/>
          <a:p>
            <a:pPr/>
            <a:r>
              <a:t>Title Text</a:t>
            </a:r>
          </a:p>
        </p:txBody>
      </p:sp>
      <p:sp>
        <p:nvSpPr>
          <p:cNvPr id="71"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Reflection">
    <p:spTree>
      <p:nvGrpSpPr>
        <p:cNvPr id="1" name=""/>
        <p:cNvGrpSpPr/>
        <p:nvPr/>
      </p:nvGrpSpPr>
      <p:grpSpPr>
        <a:xfrm>
          <a:off x="0" y="0"/>
          <a:ext cx="0" cy="0"/>
          <a:chOff x="0" y="0"/>
          <a:chExt cx="0" cy="0"/>
        </a:xfrm>
      </p:grpSpPr>
      <p:sp>
        <p:nvSpPr>
          <p:cNvPr id="78" name="happy_girls.jpeg"/>
          <p:cNvSpPr/>
          <p:nvPr>
            <p:ph type="pic" sz="half" idx="21"/>
          </p:nvPr>
        </p:nvSpPr>
        <p:spPr>
          <a:xfrm>
            <a:off x="2438400" y="1638300"/>
            <a:ext cx="8128000" cy="5042206"/>
          </a:xfrm>
          <a:prstGeom prst="rect">
            <a:avLst/>
          </a:prstGeom>
          <a:ln w="25400"/>
          <a:effectLst>
            <a:reflection blurRad="0" stA="50000" stPos="0" endA="0" endPos="40000" dist="0" dir="5400000" fadeDir="5400000" sx="100000" sy="-100000" kx="0" ky="0" algn="bl" rotWithShape="0"/>
          </a:effectLst>
        </p:spPr>
        <p:txBody>
          <a:bodyPr lIns="91439" tIns="45719" rIns="91439" bIns="45719" anchor="t"/>
          <a:lstStyle/>
          <a:p>
            <a:pPr/>
          </a:p>
        </p:txBody>
      </p:sp>
      <p:sp>
        <p:nvSpPr>
          <p:cNvPr id="79" name="Title Text"/>
          <p:cNvSpPr txBox="1"/>
          <p:nvPr>
            <p:ph type="title"/>
          </p:nvPr>
        </p:nvSpPr>
        <p:spPr>
          <a:xfrm>
            <a:off x="1270000" y="7366000"/>
            <a:ext cx="10464800" cy="1701800"/>
          </a:xfrm>
          <a:prstGeom prst="rect">
            <a:avLst/>
          </a:prstGeom>
        </p:spPr>
        <p:txBody>
          <a:bodyPr/>
          <a:lstStyle/>
          <a:p>
            <a:pPr/>
            <a:r>
              <a:t>Title Text</a:t>
            </a:r>
          </a:p>
        </p:txBody>
      </p:sp>
      <p:sp>
        <p:nvSpPr>
          <p:cNvPr id="80"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87" name="girl_and_snowcone.jpeg"/>
          <p:cNvSpPr/>
          <p:nvPr>
            <p:ph type="pic" sz="half" idx="21"/>
          </p:nvPr>
        </p:nvSpPr>
        <p:spPr>
          <a:xfrm>
            <a:off x="7124700" y="1612900"/>
            <a:ext cx="4216400" cy="6328742"/>
          </a:xfrm>
          <a:prstGeom prst="rect">
            <a:avLst/>
          </a:prstGeom>
        </p:spPr>
        <p:txBody>
          <a:bodyPr lIns="91439" tIns="45719" rIns="91439" bIns="45719" anchor="t"/>
          <a:lstStyle/>
          <a:p>
            <a:pPr/>
          </a:p>
        </p:txBody>
      </p:sp>
      <p:sp>
        <p:nvSpPr>
          <p:cNvPr id="88" name="Title Text"/>
          <p:cNvSpPr txBox="1"/>
          <p:nvPr>
            <p:ph type="title"/>
          </p:nvPr>
        </p:nvSpPr>
        <p:spPr>
          <a:xfrm>
            <a:off x="635000" y="1409700"/>
            <a:ext cx="5867400" cy="3302000"/>
          </a:xfrm>
          <a:prstGeom prst="rect">
            <a:avLst/>
          </a:prstGeom>
        </p:spPr>
        <p:txBody>
          <a:bodyPr anchor="b"/>
          <a:lstStyle>
            <a:lvl1pPr>
              <a:defRPr sz="7000"/>
            </a:lvl1pPr>
          </a:lstStyle>
          <a:p>
            <a:pPr/>
            <a:r>
              <a:t>Title Text</a:t>
            </a:r>
          </a:p>
        </p:txBody>
      </p:sp>
      <p:sp>
        <p:nvSpPr>
          <p:cNvPr id="89" name="Body Level One…"/>
          <p:cNvSpPr txBox="1"/>
          <p:nvPr>
            <p:ph type="body" sz="quarter" idx="1"/>
          </p:nvPr>
        </p:nvSpPr>
        <p:spPr>
          <a:xfrm>
            <a:off x="635000" y="4787900"/>
            <a:ext cx="5867400" cy="3302000"/>
          </a:xfrm>
          <a:prstGeom prst="rect">
            <a:avLst/>
          </a:prstGeom>
        </p:spPr>
        <p:txBody>
          <a:bodyPr anchor="t"/>
          <a:lstStyle>
            <a:lvl1pPr marL="0" indent="0" algn="ctr">
              <a:spcBef>
                <a:spcPts val="0"/>
              </a:spcBef>
              <a:buSzTx/>
              <a:buNone/>
              <a:defRPr sz="3400"/>
            </a:lvl1pPr>
            <a:lvl2pPr marL="0" indent="0" algn="ctr">
              <a:spcBef>
                <a:spcPts val="0"/>
              </a:spcBef>
              <a:buSzTx/>
              <a:buNone/>
              <a:defRPr sz="3400"/>
            </a:lvl2pPr>
            <a:lvl3pPr marL="0" indent="0" algn="ctr">
              <a:spcBef>
                <a:spcPts val="0"/>
              </a:spcBef>
              <a:buSzTx/>
              <a:buNone/>
              <a:defRPr sz="3400"/>
            </a:lvl3pPr>
            <a:lvl4pPr marL="0" indent="0" algn="ctr">
              <a:spcBef>
                <a:spcPts val="0"/>
              </a:spcBef>
              <a:buSzTx/>
              <a:buNone/>
              <a:defRPr sz="3400"/>
            </a:lvl4pPr>
            <a:lvl5pPr marL="0" indent="0" algn="ctr">
              <a:spcBef>
                <a:spcPts val="0"/>
              </a:spcBef>
              <a:buSzTx/>
              <a:buNone/>
              <a:defRPr sz="3400"/>
            </a:lvl5pPr>
          </a:lstStyle>
          <a:p>
            <a:pPr/>
            <a:r>
              <a:t>Body Level One</a:t>
            </a:r>
          </a:p>
          <a:p>
            <a:pPr lvl="1"/>
            <a:r>
              <a:t>Body Level Two</a:t>
            </a:r>
          </a:p>
          <a:p>
            <a:pPr lvl="2"/>
            <a:r>
              <a:t>Body Level Three</a:t>
            </a:r>
          </a:p>
          <a:p>
            <a:pPr lvl="3"/>
            <a:r>
              <a:t>Body Level Four</a:t>
            </a:r>
          </a:p>
          <a:p>
            <a:pPr lvl="4"/>
            <a:r>
              <a:t>Body Level Five</a:t>
            </a:r>
          </a:p>
        </p:txBody>
      </p:sp>
      <p:sp>
        <p:nvSpPr>
          <p:cNvPr id="90"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Reflection">
    <p:spTree>
      <p:nvGrpSpPr>
        <p:cNvPr id="1" name=""/>
        <p:cNvGrpSpPr/>
        <p:nvPr/>
      </p:nvGrpSpPr>
      <p:grpSpPr>
        <a:xfrm>
          <a:off x="0" y="0"/>
          <a:ext cx="0" cy="0"/>
          <a:chOff x="0" y="0"/>
          <a:chExt cx="0" cy="0"/>
        </a:xfrm>
      </p:grpSpPr>
      <p:sp>
        <p:nvSpPr>
          <p:cNvPr id="97" name="girl_and_snowcone.jpeg"/>
          <p:cNvSpPr/>
          <p:nvPr>
            <p:ph type="pic" sz="half" idx="21"/>
          </p:nvPr>
        </p:nvSpPr>
        <p:spPr>
          <a:xfrm>
            <a:off x="7124700" y="1612900"/>
            <a:ext cx="4216400" cy="6328742"/>
          </a:xfrm>
          <a:prstGeom prst="rect">
            <a:avLst/>
          </a:prstGeom>
          <a:ln w="25400"/>
          <a:effectLst>
            <a:reflection blurRad="0" stA="50000" stPos="0" endA="0" endPos="40000" dist="0" dir="5400000" fadeDir="5400000" sx="100000" sy="-100000" kx="0" ky="0" algn="bl" rotWithShape="0"/>
          </a:effectLst>
        </p:spPr>
        <p:txBody>
          <a:bodyPr lIns="91439" tIns="45719" rIns="91439" bIns="45719" anchor="t"/>
          <a:lstStyle/>
          <a:p>
            <a:pPr/>
          </a:p>
        </p:txBody>
      </p:sp>
      <p:sp>
        <p:nvSpPr>
          <p:cNvPr id="98" name="Title Text"/>
          <p:cNvSpPr txBox="1"/>
          <p:nvPr>
            <p:ph type="title"/>
          </p:nvPr>
        </p:nvSpPr>
        <p:spPr>
          <a:xfrm>
            <a:off x="635000" y="1409700"/>
            <a:ext cx="5867400" cy="3302000"/>
          </a:xfrm>
          <a:prstGeom prst="rect">
            <a:avLst/>
          </a:prstGeom>
        </p:spPr>
        <p:txBody>
          <a:bodyPr anchor="b"/>
          <a:lstStyle>
            <a:lvl1pPr>
              <a:defRPr sz="7000"/>
            </a:lvl1pPr>
          </a:lstStyle>
          <a:p>
            <a:pPr/>
            <a:r>
              <a:t>Title Text</a:t>
            </a:r>
          </a:p>
        </p:txBody>
      </p:sp>
      <p:sp>
        <p:nvSpPr>
          <p:cNvPr id="99" name="Body Level One…"/>
          <p:cNvSpPr txBox="1"/>
          <p:nvPr>
            <p:ph type="body" sz="quarter" idx="1"/>
          </p:nvPr>
        </p:nvSpPr>
        <p:spPr>
          <a:xfrm>
            <a:off x="635000" y="4787900"/>
            <a:ext cx="5867400" cy="3302000"/>
          </a:xfrm>
          <a:prstGeom prst="rect">
            <a:avLst/>
          </a:prstGeom>
        </p:spPr>
        <p:txBody>
          <a:bodyPr anchor="t"/>
          <a:lstStyle>
            <a:lvl1pPr marL="0" indent="0" algn="ctr">
              <a:spcBef>
                <a:spcPts val="0"/>
              </a:spcBef>
              <a:buSzTx/>
              <a:buNone/>
              <a:defRPr sz="3400"/>
            </a:lvl1pPr>
            <a:lvl2pPr marL="0" indent="0" algn="ctr">
              <a:spcBef>
                <a:spcPts val="0"/>
              </a:spcBef>
              <a:buSzTx/>
              <a:buNone/>
              <a:defRPr sz="3400"/>
            </a:lvl2pPr>
            <a:lvl3pPr marL="0" indent="0" algn="ctr">
              <a:spcBef>
                <a:spcPts val="0"/>
              </a:spcBef>
              <a:buSzTx/>
              <a:buNone/>
              <a:defRPr sz="3400"/>
            </a:lvl3pPr>
            <a:lvl4pPr marL="0" indent="0" algn="ctr">
              <a:spcBef>
                <a:spcPts val="0"/>
              </a:spcBef>
              <a:buSzTx/>
              <a:buNone/>
              <a:defRPr sz="3400"/>
            </a:lvl4pPr>
            <a:lvl5pPr marL="0" indent="0" algn="ctr">
              <a:spcBef>
                <a:spcPts val="0"/>
              </a:spcBef>
              <a:buSzTx/>
              <a:buNone/>
              <a:defRPr sz="3400"/>
            </a:lvl5pPr>
          </a:lstStyle>
          <a:p>
            <a:pPr/>
            <a:r>
              <a:t>Body Level One</a:t>
            </a:r>
          </a:p>
          <a:p>
            <a:pPr lvl="1"/>
            <a:r>
              <a:t>Body Level Two</a:t>
            </a:r>
          </a:p>
          <a:p>
            <a:pPr lvl="2"/>
            <a:r>
              <a:t>Body Level Three</a:t>
            </a:r>
          </a:p>
          <a:p>
            <a:pPr lvl="3"/>
            <a:r>
              <a:t>Body Level Four</a:t>
            </a:r>
          </a:p>
          <a:p>
            <a:pPr lvl="4"/>
            <a:r>
              <a:t>Body Level Five</a:t>
            </a:r>
          </a:p>
        </p:txBody>
      </p:sp>
      <p:sp>
        <p:nvSpPr>
          <p:cNvPr id="100"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107" name="girl_and_snowcone.jpeg"/>
          <p:cNvSpPr/>
          <p:nvPr>
            <p:ph type="pic" sz="quarter" idx="21"/>
          </p:nvPr>
        </p:nvSpPr>
        <p:spPr>
          <a:xfrm>
            <a:off x="7175500" y="2540000"/>
            <a:ext cx="4102100" cy="6157180"/>
          </a:xfrm>
          <a:prstGeom prst="rect">
            <a:avLst/>
          </a:prstGeom>
        </p:spPr>
        <p:txBody>
          <a:bodyPr lIns="91439" tIns="45719" rIns="91439" bIns="45719" anchor="t"/>
          <a:lstStyle/>
          <a:p>
            <a:pPr/>
          </a:p>
        </p:txBody>
      </p:sp>
      <p:sp>
        <p:nvSpPr>
          <p:cNvPr id="108" name="Title Text"/>
          <p:cNvSpPr txBox="1"/>
          <p:nvPr>
            <p:ph type="title"/>
          </p:nvPr>
        </p:nvSpPr>
        <p:spPr>
          <a:prstGeom prst="rect">
            <a:avLst/>
          </a:prstGeom>
        </p:spPr>
        <p:txBody>
          <a:bodyPr/>
          <a:lstStyle/>
          <a:p>
            <a:pPr/>
            <a:r>
              <a:t>Title Text</a:t>
            </a:r>
          </a:p>
        </p:txBody>
      </p:sp>
      <p:sp>
        <p:nvSpPr>
          <p:cNvPr id="109" name="Body Level One…"/>
          <p:cNvSpPr txBox="1"/>
          <p:nvPr>
            <p:ph type="body" sz="half" idx="1"/>
          </p:nvPr>
        </p:nvSpPr>
        <p:spPr>
          <a:xfrm>
            <a:off x="1270000" y="2768600"/>
            <a:ext cx="5041900" cy="5715000"/>
          </a:xfrm>
          <a:prstGeom prst="rect">
            <a:avLst/>
          </a:prstGeom>
        </p:spPr>
        <p:txBody>
          <a:bodyPr/>
          <a:lstStyle>
            <a:lvl1pPr marL="812120" indent="-494620">
              <a:spcBef>
                <a:spcPts val="3800"/>
              </a:spcBef>
              <a:defRPr sz="3200"/>
            </a:lvl1pPr>
            <a:lvl2pPr marL="1256620" indent="-494620">
              <a:spcBef>
                <a:spcPts val="3800"/>
              </a:spcBef>
              <a:defRPr sz="3200"/>
            </a:lvl2pPr>
            <a:lvl3pPr marL="1701120" indent="-494620">
              <a:spcBef>
                <a:spcPts val="3800"/>
              </a:spcBef>
              <a:defRPr sz="3200"/>
            </a:lvl3pPr>
            <a:lvl4pPr marL="2145620" indent="-494620">
              <a:spcBef>
                <a:spcPts val="3800"/>
              </a:spcBef>
              <a:defRPr sz="3200"/>
            </a:lvl4pPr>
            <a:lvl5pPr marL="2590120" indent="-494620">
              <a:spcBef>
                <a:spcPts val="3800"/>
              </a:spcBef>
              <a:defRPr sz="3200"/>
            </a:lvl5pPr>
          </a:lstStyle>
          <a:p>
            <a:pPr/>
            <a:r>
              <a:t>Body Level One</a:t>
            </a:r>
          </a:p>
          <a:p>
            <a:pPr lvl="1"/>
            <a:r>
              <a:t>Body Level Two</a:t>
            </a:r>
          </a:p>
          <a:p>
            <a:pPr lvl="2"/>
            <a:r>
              <a:t>Body Level Three</a:t>
            </a:r>
          </a:p>
          <a:p>
            <a:pPr lvl="3"/>
            <a:r>
              <a:t>Body Level Four</a:t>
            </a:r>
          </a:p>
          <a:p>
            <a:pPr lvl="4"/>
            <a:r>
              <a:t>Body Level Five</a:t>
            </a:r>
          </a:p>
        </p:txBody>
      </p:sp>
      <p:sp>
        <p:nvSpPr>
          <p:cNvPr id="110"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 Left">
    <p:spTree>
      <p:nvGrpSpPr>
        <p:cNvPr id="1" name=""/>
        <p:cNvGrpSpPr/>
        <p:nvPr/>
      </p:nvGrpSpPr>
      <p:grpSpPr>
        <a:xfrm>
          <a:off x="0" y="0"/>
          <a:ext cx="0" cy="0"/>
          <a:chOff x="0" y="0"/>
          <a:chExt cx="0" cy="0"/>
        </a:xfrm>
      </p:grpSpPr>
      <p:sp>
        <p:nvSpPr>
          <p:cNvPr id="117" name="Title Text"/>
          <p:cNvSpPr txBox="1"/>
          <p:nvPr>
            <p:ph type="title"/>
          </p:nvPr>
        </p:nvSpPr>
        <p:spPr>
          <a:prstGeom prst="rect">
            <a:avLst/>
          </a:prstGeom>
        </p:spPr>
        <p:txBody>
          <a:bodyPr/>
          <a:lstStyle/>
          <a:p>
            <a:pPr/>
            <a:r>
              <a:t>Title Text</a:t>
            </a:r>
          </a:p>
        </p:txBody>
      </p:sp>
      <p:sp>
        <p:nvSpPr>
          <p:cNvPr id="118" name="Body Level One…"/>
          <p:cNvSpPr txBox="1"/>
          <p:nvPr>
            <p:ph type="body" sz="half" idx="1"/>
          </p:nvPr>
        </p:nvSpPr>
        <p:spPr>
          <a:xfrm>
            <a:off x="1270000" y="2768600"/>
            <a:ext cx="5041900" cy="5715000"/>
          </a:xfrm>
          <a:prstGeom prst="rect">
            <a:avLst/>
          </a:prstGeom>
        </p:spPr>
        <p:txBody>
          <a:bodyPr/>
          <a:lstStyle>
            <a:lvl1pPr marL="812120" indent="-494620">
              <a:spcBef>
                <a:spcPts val="3800"/>
              </a:spcBef>
              <a:defRPr sz="3200"/>
            </a:lvl1pPr>
            <a:lvl2pPr marL="1256620" indent="-494620">
              <a:spcBef>
                <a:spcPts val="3800"/>
              </a:spcBef>
              <a:defRPr sz="3200"/>
            </a:lvl2pPr>
            <a:lvl3pPr marL="1701120" indent="-494620">
              <a:spcBef>
                <a:spcPts val="3800"/>
              </a:spcBef>
              <a:defRPr sz="3200"/>
            </a:lvl3pPr>
            <a:lvl4pPr marL="2145620" indent="-494620">
              <a:spcBef>
                <a:spcPts val="3800"/>
              </a:spcBef>
              <a:defRPr sz="3200"/>
            </a:lvl4pPr>
            <a:lvl5pPr marL="2590120" indent="-494620">
              <a:spcBef>
                <a:spcPts val="3800"/>
              </a:spcBef>
              <a:defRPr sz="3200"/>
            </a:lvl5pPr>
          </a:lstStyle>
          <a:p>
            <a:pPr/>
            <a:r>
              <a:t>Body Level One</a:t>
            </a:r>
          </a:p>
          <a:p>
            <a:pPr lvl="1"/>
            <a:r>
              <a:t>Body Level Two</a:t>
            </a:r>
          </a:p>
          <a:p>
            <a:pPr lvl="2"/>
            <a:r>
              <a:t>Body Level Three</a:t>
            </a:r>
          </a:p>
          <a:p>
            <a:pPr lvl="3"/>
            <a:r>
              <a:t>Body Level Four</a:t>
            </a:r>
          </a:p>
          <a:p>
            <a:pPr lvl="4"/>
            <a:r>
              <a:t>Body Level Five</a:t>
            </a:r>
          </a:p>
        </p:txBody>
      </p:sp>
      <p:sp>
        <p:nvSpPr>
          <p:cNvPr id="119"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 Right">
    <p:spTree>
      <p:nvGrpSpPr>
        <p:cNvPr id="1" name=""/>
        <p:cNvGrpSpPr/>
        <p:nvPr/>
      </p:nvGrpSpPr>
      <p:grpSpPr>
        <a:xfrm>
          <a:off x="0" y="0"/>
          <a:ext cx="0" cy="0"/>
          <a:chOff x="0" y="0"/>
          <a:chExt cx="0" cy="0"/>
        </a:xfrm>
      </p:grpSpPr>
      <p:sp>
        <p:nvSpPr>
          <p:cNvPr id="126" name="Title Text"/>
          <p:cNvSpPr txBox="1"/>
          <p:nvPr>
            <p:ph type="title"/>
          </p:nvPr>
        </p:nvSpPr>
        <p:spPr>
          <a:prstGeom prst="rect">
            <a:avLst/>
          </a:prstGeom>
        </p:spPr>
        <p:txBody>
          <a:bodyPr/>
          <a:lstStyle/>
          <a:p>
            <a:pPr/>
            <a:r>
              <a:t>Title Text</a:t>
            </a:r>
          </a:p>
        </p:txBody>
      </p:sp>
      <p:sp>
        <p:nvSpPr>
          <p:cNvPr id="127" name="Body Level One…"/>
          <p:cNvSpPr txBox="1"/>
          <p:nvPr>
            <p:ph type="body" sz="quarter" idx="1"/>
          </p:nvPr>
        </p:nvSpPr>
        <p:spPr>
          <a:xfrm>
            <a:off x="7772400" y="2768600"/>
            <a:ext cx="3962400" cy="5715000"/>
          </a:xfrm>
          <a:prstGeom prst="rect">
            <a:avLst/>
          </a:prstGeom>
        </p:spPr>
        <p:txBody>
          <a:bodyPr/>
          <a:lstStyle>
            <a:lvl1pPr marL="812120" indent="-494620">
              <a:spcBef>
                <a:spcPts val="3800"/>
              </a:spcBef>
              <a:defRPr sz="3200"/>
            </a:lvl1pPr>
            <a:lvl2pPr marL="1256620" indent="-494620">
              <a:spcBef>
                <a:spcPts val="3800"/>
              </a:spcBef>
              <a:defRPr sz="3200"/>
            </a:lvl2pPr>
            <a:lvl3pPr marL="1701120" indent="-494620">
              <a:spcBef>
                <a:spcPts val="3800"/>
              </a:spcBef>
              <a:defRPr sz="3200"/>
            </a:lvl3pPr>
            <a:lvl4pPr marL="2145620" indent="-494620">
              <a:spcBef>
                <a:spcPts val="3800"/>
              </a:spcBef>
              <a:defRPr sz="3200"/>
            </a:lvl4pPr>
            <a:lvl5pPr marL="2590120" indent="-494620">
              <a:spcBef>
                <a:spcPts val="3800"/>
              </a:spcBef>
              <a:defRPr sz="3200"/>
            </a:lvl5pPr>
          </a:lstStyle>
          <a:p>
            <a:pPr/>
            <a:r>
              <a:t>Body Level One</a:t>
            </a:r>
          </a:p>
          <a:p>
            <a:pPr lvl="1"/>
            <a:r>
              <a:t>Body Level Two</a:t>
            </a:r>
          </a:p>
          <a:p>
            <a:pPr lvl="2"/>
            <a:r>
              <a:t>Body Level Three</a:t>
            </a:r>
          </a:p>
          <a:p>
            <a:pPr lvl="3"/>
            <a:r>
              <a:t>Body Level Four</a:t>
            </a:r>
          </a:p>
          <a:p>
            <a:pPr lvl="4"/>
            <a:r>
              <a:t>Body Level Five</a:t>
            </a:r>
          </a:p>
        </p:txBody>
      </p:sp>
      <p:sp>
        <p:nvSpPr>
          <p:cNvPr id="128"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ody Level One…"/>
          <p:cNvSpPr txBox="1"/>
          <p:nvPr>
            <p:ph type="body" idx="1"/>
          </p:nvPr>
        </p:nvSpPr>
        <p:spPr>
          <a:xfrm>
            <a:off x="1270000" y="1270000"/>
            <a:ext cx="10464800" cy="721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p>
            <a:pPr/>
            <a:r>
              <a:t>Body Level One</a:t>
            </a:r>
          </a:p>
          <a:p>
            <a:pPr lvl="1"/>
            <a:r>
              <a:t>Body Level Two</a:t>
            </a:r>
          </a:p>
          <a:p>
            <a:pPr lvl="2"/>
            <a:r>
              <a:t>Body Level Three</a:t>
            </a:r>
          </a:p>
          <a:p>
            <a:pPr lvl="3"/>
            <a:r>
              <a:t>Body Level Four</a:t>
            </a:r>
          </a:p>
          <a:p>
            <a:pPr lvl="4"/>
            <a:r>
              <a:t>Body Level Five</a:t>
            </a:r>
          </a:p>
        </p:txBody>
      </p:sp>
      <p:sp>
        <p:nvSpPr>
          <p:cNvPr id="3" name="Title Text"/>
          <p:cNvSpPr txBox="1"/>
          <p:nvPr>
            <p:ph type="title"/>
          </p:nvPr>
        </p:nvSpPr>
        <p:spPr>
          <a:xfrm>
            <a:off x="1270000" y="254000"/>
            <a:ext cx="10464800" cy="2438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lstStyle/>
          <a:p>
            <a:pPr/>
            <a:r>
              <a:t>Title Text</a:t>
            </a:r>
          </a:p>
        </p:txBody>
      </p:sp>
      <p:sp>
        <p:nvSpPr>
          <p:cNvPr id="4" name="01"/>
          <p:cNvSpPr txBox="1"/>
          <p:nvPr>
            <p:ph type="sldNum" sz="quarter" idx="2"/>
          </p:nvPr>
        </p:nvSpPr>
        <p:spPr>
          <a:xfrm>
            <a:off x="6324600" y="9258300"/>
            <a:ext cx="342900" cy="368300"/>
          </a:xfrm>
          <a:prstGeom prst="rect">
            <a:avLst/>
          </a:prstGeom>
          <a:ln w="12700">
            <a:miter lim="400000"/>
          </a:ln>
        </p:spPr>
        <p:txBody>
          <a:bodyPr wrap="none" lIns="50800" tIns="50800" rIns="50800" bIns="50800" anchor="b">
            <a:spAutoFit/>
          </a:bodyPr>
          <a:lstStyle>
            <a:lvl1pPr>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1pPr>
      <a:lvl2pPr marL="0" marR="0" indent="45720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2pPr>
      <a:lvl3pPr marL="0" marR="0" indent="91440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8400" u="none">
          <a:solidFill>
            <a:srgbClr val="000000"/>
          </a:solidFill>
          <a:uFillTx/>
          <a:latin typeface="+mn-lt"/>
          <a:ea typeface="+mn-ea"/>
          <a:cs typeface="+mn-cs"/>
          <a:sym typeface="Gill Sans"/>
        </a:defRPr>
      </a:lvl9pPr>
    </p:titleStyle>
    <p:bodyStyle>
      <a:lvl1pPr marL="8890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1pPr>
      <a:lvl2pPr marL="13335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2pPr>
      <a:lvl3pPr marL="17780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3pPr>
      <a:lvl4pPr marL="22225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4pPr>
      <a:lvl5pPr marL="26670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5pPr>
      <a:lvl6pPr marL="30226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6pPr>
      <a:lvl7pPr marL="33782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7pPr>
      <a:lvl8pPr marL="37338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8pPr>
      <a:lvl9pPr marL="4089400" marR="0" indent="-571500" algn="l" defTabSz="584200" rtl="0" latinLnBrk="0">
        <a:lnSpc>
          <a:spcPct val="100000"/>
        </a:lnSpc>
        <a:spcBef>
          <a:spcPts val="4800"/>
        </a:spcBef>
        <a:spcAft>
          <a:spcPts val="0"/>
        </a:spcAft>
        <a:buClrTx/>
        <a:buSzPct val="171000"/>
        <a:buFontTx/>
        <a:buChar char="•"/>
        <a:tabLst/>
        <a:defRPr b="0" baseline="0" cap="none" i="0" spc="0" strike="noStrike" sz="4200" u="none">
          <a:solidFill>
            <a:srgbClr val="000000"/>
          </a:solidFill>
          <a:uFillTx/>
          <a:latin typeface="+mn-lt"/>
          <a:ea typeface="+mn-ea"/>
          <a:cs typeface="+mn-cs"/>
          <a:sym typeface="Gill Sans"/>
        </a:defRPr>
      </a:lvl9pPr>
    </p:bodyStyle>
    <p:otherStyle>
      <a:lvl1pPr marL="0" marR="0" indent="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1pPr>
      <a:lvl2pPr marL="0" marR="0" indent="4572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2pPr>
      <a:lvl3pPr marL="0" marR="0" indent="9144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3pPr>
      <a:lvl4pPr marL="0" marR="0" indent="13716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4pPr>
      <a:lvl5pPr marL="0" marR="0" indent="18288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5pPr>
      <a:lvl6pPr marL="0" marR="0" indent="22860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6pPr>
      <a:lvl7pPr marL="0" marR="0" indent="27432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7pPr>
      <a:lvl8pPr marL="0" marR="0" indent="32004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8pPr>
      <a:lvl9pPr marL="0" marR="0" indent="36576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Gill San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gif"/></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gif"/></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gif"/></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gif"/></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gif"/></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gif"/></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gif"/></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gif"/></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gif"/></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gif"/></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gif"/></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Operating Systems:…"/>
          <p:cNvSpPr txBox="1"/>
          <p:nvPr>
            <p:ph type="ctrTitle"/>
          </p:nvPr>
        </p:nvSpPr>
        <p:spPr>
          <a:prstGeom prst="rect">
            <a:avLst/>
          </a:prstGeom>
        </p:spPr>
        <p:txBody>
          <a:bodyPr/>
          <a:lstStyle/>
          <a:p>
            <a:pPr>
              <a:defRPr sz="7200"/>
            </a:pPr>
            <a:r>
              <a:t>Operating Systems: </a:t>
            </a:r>
          </a:p>
          <a:p>
            <a:pPr>
              <a:defRPr sz="7200"/>
            </a:pPr>
            <a:r>
              <a:t>Resource Management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Deadlocks"/>
          <p:cNvSpPr txBox="1"/>
          <p:nvPr>
            <p:ph type="title"/>
          </p:nvPr>
        </p:nvSpPr>
        <p:spPr>
          <a:prstGeom prst="rect">
            <a:avLst/>
          </a:prstGeom>
        </p:spPr>
        <p:txBody>
          <a:bodyPr/>
          <a:lstStyle>
            <a:lvl1pPr>
              <a:defRPr sz="6400"/>
            </a:lvl1pPr>
          </a:lstStyle>
          <a:p>
            <a:pPr/>
            <a:r>
              <a:t>Deadlocks</a:t>
            </a:r>
          </a:p>
        </p:txBody>
      </p:sp>
      <p:sp>
        <p:nvSpPr>
          <p:cNvPr id="140" name="Law passed by Kansas Legislature in early 20th century:…"/>
          <p:cNvSpPr txBox="1"/>
          <p:nvPr>
            <p:ph type="body" idx="1"/>
          </p:nvPr>
        </p:nvSpPr>
        <p:spPr>
          <a:xfrm>
            <a:off x="1270000" y="2768600"/>
            <a:ext cx="10972800" cy="5715000"/>
          </a:xfrm>
          <a:prstGeom prst="rect">
            <a:avLst/>
          </a:prstGeom>
        </p:spPr>
        <p:txBody>
          <a:bodyPr/>
          <a:lstStyle/>
          <a:p>
            <a:pPr lvl="1" marL="1088571" indent="-326571">
              <a:defRPr sz="2400"/>
            </a:pPr>
            <a:r>
              <a:t>Law passed by Kansas Legislature in early 20th century:</a:t>
            </a:r>
          </a:p>
          <a:p>
            <a:pPr lvl="1" marL="1088571" indent="-326571">
              <a:defRPr sz="2400"/>
            </a:pPr>
          </a:p>
          <a:p>
            <a:pPr lvl="1" marL="1088571" indent="-326571">
              <a:defRPr sz="2400"/>
            </a:pPr>
          </a:p>
          <a:p>
            <a:pPr lvl="1" marL="1088571" indent="-326571">
              <a:defRPr sz="2400"/>
            </a:pPr>
            <a:r>
              <a:t>Neil Groundwater has the following to say about working with Unix at Bell Labs in 1972:</a:t>
            </a:r>
          </a:p>
        </p:txBody>
      </p:sp>
      <p:sp>
        <p:nvSpPr>
          <p:cNvPr id="141" name="“When two trains approach each other at a crossing, both shall come to a full stop and neither shall start upon again until the other has gone.”"/>
          <p:cNvSpPr/>
          <p:nvPr/>
        </p:nvSpPr>
        <p:spPr>
          <a:xfrm>
            <a:off x="2617322" y="5054600"/>
            <a:ext cx="4914901" cy="9017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1800"/>
            </a:lvl1pPr>
          </a:lstStyle>
          <a:p>
            <a:pPr/>
            <a:r>
              <a:t>“When two trains approach each other at a crossing, both shall come to a full stop and neither shall start upon again until the other has gone.”</a:t>
            </a:r>
          </a:p>
        </p:txBody>
      </p:sp>
      <p:sp>
        <p:nvSpPr>
          <p:cNvPr id="142" name="“   ...   the terminals on the development machine were in a common room ... when one wanted to use the line printer.  There was no spooling or lockout.  pr myfile &gt; /dev/p was how you sent your listing to the printer. If two users sent output to the pri"/>
          <p:cNvSpPr/>
          <p:nvPr/>
        </p:nvSpPr>
        <p:spPr>
          <a:xfrm>
            <a:off x="2616200" y="7264400"/>
            <a:ext cx="8763000" cy="1460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1800"/>
            </a:pPr>
            <a:r>
              <a:t>“   ...   the terminals on the development machine were in a common room ... when one wanted to use the line printer.  There was no spooling or lockout.  </a:t>
            </a:r>
            <a:r>
              <a:rPr>
                <a:latin typeface="Courier New"/>
                <a:ea typeface="Courier New"/>
                <a:cs typeface="Courier New"/>
                <a:sym typeface="Courier New"/>
              </a:rPr>
              <a:t>pr myfile &gt; /dev/p</a:t>
            </a:r>
            <a:r>
              <a:t> was how you sent your listing to the printer. If two users sent output to the printer at the same time, their outputs were interspersed.  Whoever shouted, “line printer!” first owned the queue.”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Deadlocks"/>
          <p:cNvSpPr txBox="1"/>
          <p:nvPr>
            <p:ph type="title"/>
          </p:nvPr>
        </p:nvSpPr>
        <p:spPr>
          <a:prstGeom prst="rect">
            <a:avLst/>
          </a:prstGeom>
        </p:spPr>
        <p:txBody>
          <a:bodyPr/>
          <a:lstStyle>
            <a:lvl1pPr>
              <a:defRPr sz="6400"/>
            </a:lvl1pPr>
          </a:lstStyle>
          <a:p>
            <a:pPr/>
            <a:r>
              <a:t>Deadlocks</a:t>
            </a:r>
          </a:p>
        </p:txBody>
      </p:sp>
      <p:pic>
        <p:nvPicPr>
          <p:cNvPr id="145" name="image5.gif" descr="image5.gif"/>
          <p:cNvPicPr>
            <a:picLocks noChangeAspect="1"/>
          </p:cNvPicPr>
          <p:nvPr/>
        </p:nvPicPr>
        <p:blipFill>
          <a:blip r:embed="rId2">
            <a:extLst/>
          </a:blip>
          <a:stretch>
            <a:fillRect/>
          </a:stretch>
        </p:blipFill>
        <p:spPr>
          <a:xfrm>
            <a:off x="2298700" y="2971800"/>
            <a:ext cx="8410797" cy="5300664"/>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145"/>
                                        </p:tgtEl>
                                        <p:attrNameLst>
                                          <p:attrName>style.visibility</p:attrName>
                                        </p:attrNameLst>
                                      </p:cBhvr>
                                      <p:to>
                                        <p:strVal val="visible"/>
                                      </p:to>
                                    </p:set>
                                    <p:anim calcmode="lin" valueType="num">
                                      <p:cBhvr>
                                        <p:cTn id="7" dur="1000" fill="hold"/>
                                        <p:tgtEl>
                                          <p:spTgt spid="145"/>
                                        </p:tgtEl>
                                        <p:attrNameLst>
                                          <p:attrName>ppt_w</p:attrName>
                                        </p:attrNameLst>
                                      </p:cBhvr>
                                      <p:tavLst>
                                        <p:tav tm="0">
                                          <p:val>
                                            <p:fltVal val="0"/>
                                          </p:val>
                                        </p:tav>
                                        <p:tav tm="100000">
                                          <p:val>
                                            <p:strVal val="#ppt_w"/>
                                          </p:val>
                                        </p:tav>
                                      </p:tavLst>
                                    </p:anim>
                                    <p:anim calcmode="lin" valueType="num">
                                      <p:cBhvr>
                                        <p:cTn id="8" dur="1000" fill="hold"/>
                                        <p:tgtEl>
                                          <p:spTgt spid="145"/>
                                        </p:tgtEl>
                                        <p:attrNameLst>
                                          <p:attrName>ppt_h</p:attrName>
                                        </p:attrNameLst>
                                      </p:cBhvr>
                                      <p:tavLst>
                                        <p:tav tm="0">
                                          <p:val>
                                            <p:fltVal val="0"/>
                                          </p:val>
                                        </p:tav>
                                        <p:tav tm="100000">
                                          <p:val>
                                            <p:strVal val="#ppt_h"/>
                                          </p:val>
                                        </p:tav>
                                      </p:tavLst>
                                    </p:anim>
                                    <p:anim calcmode="lin" valueType="num">
                                      <p:cBhvr>
                                        <p:cTn id="9" dur="1000" fill="hold"/>
                                        <p:tgtEl>
                                          <p:spTgt spid="14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4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5"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Deadlocks"/>
          <p:cNvSpPr txBox="1"/>
          <p:nvPr>
            <p:ph type="title"/>
          </p:nvPr>
        </p:nvSpPr>
        <p:spPr>
          <a:prstGeom prst="rect">
            <a:avLst/>
          </a:prstGeom>
        </p:spPr>
        <p:txBody>
          <a:bodyPr/>
          <a:lstStyle>
            <a:lvl1pPr>
              <a:defRPr sz="6400"/>
            </a:lvl1pPr>
          </a:lstStyle>
          <a:p>
            <a:pPr/>
            <a:r>
              <a:t>Deadlocks</a:t>
            </a:r>
          </a:p>
        </p:txBody>
      </p:sp>
      <p:sp>
        <p:nvSpPr>
          <p:cNvPr id="148" name="Permanent blocking of a set of processes that either compete for system resources or communicate with each other…"/>
          <p:cNvSpPr txBox="1"/>
          <p:nvPr>
            <p:ph type="body" idx="1"/>
          </p:nvPr>
        </p:nvSpPr>
        <p:spPr>
          <a:xfrm>
            <a:off x="1270000" y="2768600"/>
            <a:ext cx="10972800" cy="5715000"/>
          </a:xfrm>
          <a:prstGeom prst="rect">
            <a:avLst/>
          </a:prstGeom>
        </p:spPr>
        <p:txBody>
          <a:bodyPr/>
          <a:lstStyle/>
          <a:p>
            <a:pPr lvl="2" marL="1533071" indent="-326571">
              <a:defRPr sz="2400"/>
            </a:pPr>
            <a:r>
              <a:t>Permanent blocking of a set of processes that either compete for system resources or communicate with each other</a:t>
            </a:r>
          </a:p>
          <a:p>
            <a:pPr lvl="3" marL="1977571" indent="-326571">
              <a:defRPr sz="2400"/>
            </a:pPr>
            <a:r>
              <a:t>Several processes may compete for a finite set of resources</a:t>
            </a:r>
          </a:p>
          <a:p>
            <a:pPr lvl="3" marL="1977571" indent="-326571">
              <a:defRPr sz="2400"/>
            </a:pPr>
            <a:r>
              <a:t>Processes request resources and if a resource is not available, enter a wait state</a:t>
            </a:r>
          </a:p>
          <a:p>
            <a:pPr lvl="3" marL="1977571" indent="-326571">
              <a:defRPr sz="2400"/>
            </a:pPr>
            <a:r>
              <a:t>Requested resources may be held by other waiting processes</a:t>
            </a:r>
          </a:p>
          <a:p>
            <a:pPr lvl="3" marL="1977571" indent="-326571">
              <a:defRPr sz="2400"/>
            </a:pPr>
            <a:r>
              <a:t>Require divine intervention to get out of this problem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Deadlocks"/>
          <p:cNvSpPr txBox="1"/>
          <p:nvPr>
            <p:ph type="title"/>
          </p:nvPr>
        </p:nvSpPr>
        <p:spPr>
          <a:prstGeom prst="rect">
            <a:avLst/>
          </a:prstGeom>
        </p:spPr>
        <p:txBody>
          <a:bodyPr/>
          <a:lstStyle>
            <a:lvl1pPr>
              <a:defRPr sz="6400"/>
            </a:lvl1pPr>
          </a:lstStyle>
          <a:p>
            <a:pPr/>
            <a:r>
              <a:t>Deadlocks</a:t>
            </a:r>
          </a:p>
        </p:txBody>
      </p:sp>
      <p:sp>
        <p:nvSpPr>
          <p:cNvPr id="151" name="A significant problem in real systems, because there is no efficient solution in the general case…"/>
          <p:cNvSpPr txBox="1"/>
          <p:nvPr>
            <p:ph type="body" idx="1"/>
          </p:nvPr>
        </p:nvSpPr>
        <p:spPr>
          <a:xfrm>
            <a:off x="1270000" y="2768600"/>
            <a:ext cx="10972800" cy="5715000"/>
          </a:xfrm>
          <a:prstGeom prst="rect">
            <a:avLst/>
          </a:prstGeom>
        </p:spPr>
        <p:txBody>
          <a:bodyPr/>
          <a:lstStyle/>
          <a:p>
            <a:pPr lvl="2" marL="1533071" indent="-326571">
              <a:defRPr sz="2400"/>
            </a:pPr>
            <a:r>
              <a:t>A significant problem in real systems, because there is no efficient solution in the general case</a:t>
            </a:r>
          </a:p>
          <a:p>
            <a:pPr lvl="2" marL="1533071" indent="-326571">
              <a:defRPr sz="2400"/>
            </a:pPr>
            <a:r>
              <a:t>Deadlock problem is more important because of increasing use of multiprocessor systems</a:t>
            </a:r>
          </a:p>
          <a:p>
            <a:pPr lvl="3" marL="1977571" indent="-326571">
              <a:defRPr sz="2400"/>
            </a:pPr>
            <a:r>
              <a:t>real-time systems, life support, vehicle monitoring, multicore utilization, grid processing</a:t>
            </a:r>
          </a:p>
          <a:p>
            <a:pPr lvl="2" marL="1533071" indent="-326571">
              <a:defRPr sz="2400"/>
            </a:pPr>
            <a:r>
              <a:t>Important in answering the question about whether or when a process will complete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Deadlocks"/>
          <p:cNvSpPr txBox="1"/>
          <p:nvPr>
            <p:ph type="title"/>
          </p:nvPr>
        </p:nvSpPr>
        <p:spPr>
          <a:prstGeom prst="rect">
            <a:avLst/>
          </a:prstGeom>
        </p:spPr>
        <p:txBody>
          <a:bodyPr/>
          <a:lstStyle>
            <a:lvl1pPr>
              <a:defRPr sz="6400"/>
            </a:lvl1pPr>
          </a:lstStyle>
          <a:p>
            <a:pPr/>
            <a:r>
              <a:t>Deadlocks</a:t>
            </a:r>
          </a:p>
        </p:txBody>
      </p:sp>
      <p:sp>
        <p:nvSpPr>
          <p:cNvPr id="154" name="Deadlocks can occur with…"/>
          <p:cNvSpPr txBox="1"/>
          <p:nvPr>
            <p:ph type="body" idx="1"/>
          </p:nvPr>
        </p:nvSpPr>
        <p:spPr>
          <a:xfrm>
            <a:off x="1270000" y="2768600"/>
            <a:ext cx="10972800" cy="5715000"/>
          </a:xfrm>
          <a:prstGeom prst="rect">
            <a:avLst/>
          </a:prstGeom>
        </p:spPr>
        <p:txBody>
          <a:bodyPr/>
          <a:lstStyle/>
          <a:p>
            <a:pPr lvl="2" marL="1533071" indent="-326571">
              <a:defRPr sz="2400"/>
            </a:pPr>
            <a:r>
              <a:t>Deadlocks can occur with</a:t>
            </a:r>
          </a:p>
          <a:p>
            <a:pPr lvl="3" marL="1977571" indent="-326571">
              <a:defRPr sz="2400"/>
            </a:pPr>
            <a:r>
              <a:t>Serially reusable (SR) resources - printer, tape drive, memory</a:t>
            </a:r>
          </a:p>
          <a:p>
            <a:pPr lvl="4" marL="2422071" indent="-326571">
              <a:defRPr sz="2400"/>
            </a:pPr>
            <a:r>
              <a:t>A finite set of identical units, with the number of units constant</a:t>
            </a:r>
          </a:p>
          <a:p>
            <a:pPr lvl="4" marL="2422071" indent="-326571">
              <a:defRPr sz="2400"/>
            </a:pPr>
            <a:r>
              <a:t>Can be used safely by only one process at a time and are not depleted by that use</a:t>
            </a:r>
          </a:p>
          <a:p>
            <a:pPr lvl="4" marL="2422071" indent="-326571">
              <a:defRPr sz="2400"/>
            </a:pPr>
            <a:r>
              <a:t>Units acquired by processes, used, and released later for use by other processes</a:t>
            </a:r>
          </a:p>
          <a:p>
            <a:pPr lvl="4" marL="2422071" indent="-326571">
              <a:defRPr sz="2400"/>
            </a:pPr>
            <a:r>
              <a:t>A process may release a unit only if it has previously acquired it</a:t>
            </a:r>
          </a:p>
          <a:p>
            <a:pPr lvl="4" marL="2422071" indent="-326571">
              <a:defRPr sz="2400"/>
            </a:pPr>
            <a:r>
              <a:t>Examples include processors, memory, devices, files, databases, and semaphores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Deadlocks"/>
          <p:cNvSpPr txBox="1"/>
          <p:nvPr>
            <p:ph type="title"/>
          </p:nvPr>
        </p:nvSpPr>
        <p:spPr>
          <a:prstGeom prst="rect">
            <a:avLst/>
          </a:prstGeom>
        </p:spPr>
        <p:txBody>
          <a:bodyPr/>
          <a:lstStyle>
            <a:lvl1pPr>
              <a:defRPr sz="6400"/>
            </a:lvl1pPr>
          </a:lstStyle>
          <a:p>
            <a:pPr/>
            <a:r>
              <a:t>Deadlocks</a:t>
            </a:r>
          </a:p>
        </p:txBody>
      </p:sp>
      <p:sp>
        <p:nvSpPr>
          <p:cNvPr id="157" name="Deadlocks can also occur with:…"/>
          <p:cNvSpPr txBox="1"/>
          <p:nvPr>
            <p:ph type="body" idx="1"/>
          </p:nvPr>
        </p:nvSpPr>
        <p:spPr>
          <a:xfrm>
            <a:off x="1270000" y="2768600"/>
            <a:ext cx="10972800" cy="5715000"/>
          </a:xfrm>
          <a:prstGeom prst="rect">
            <a:avLst/>
          </a:prstGeom>
        </p:spPr>
        <p:txBody>
          <a:bodyPr/>
          <a:lstStyle/>
          <a:p>
            <a:pPr lvl="2" marL="1533071" indent="-326571">
              <a:defRPr sz="2400"/>
            </a:pPr>
            <a:r>
              <a:t>Deadlocks can also occur with:</a:t>
            </a:r>
          </a:p>
          <a:p>
            <a:pPr lvl="3" marL="1977571" indent="-326571">
              <a:defRPr sz="2400"/>
            </a:pPr>
            <a:r>
              <a:t>Consumable resources like messages</a:t>
            </a:r>
          </a:p>
          <a:p>
            <a:pPr lvl="4" marL="2422071" indent="-326571">
              <a:defRPr sz="2400"/>
            </a:pPr>
            <a:r>
              <a:t>Resource gets created dynamically and may be destroyed after use</a:t>
            </a:r>
          </a:p>
          <a:p>
            <a:pPr lvl="4" marL="2422071" indent="-326571">
              <a:defRPr sz="2400"/>
            </a:pPr>
            <a:r>
              <a:t>Typically no limit on the number of consumable resources of a specific type</a:t>
            </a:r>
          </a:p>
          <a:p>
            <a:pPr lvl="4" marL="2422071" indent="-326571">
              <a:defRPr sz="2400"/>
            </a:pPr>
            <a:r>
              <a:t>Examples are messages, signals, interrupts, and information in I/O buffers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Examples of Deadlocks"/>
          <p:cNvSpPr txBox="1"/>
          <p:nvPr>
            <p:ph type="title"/>
          </p:nvPr>
        </p:nvSpPr>
        <p:spPr>
          <a:prstGeom prst="rect">
            <a:avLst/>
          </a:prstGeom>
        </p:spPr>
        <p:txBody>
          <a:bodyPr/>
          <a:lstStyle>
            <a:lvl1pPr>
              <a:defRPr sz="6400"/>
            </a:lvl1pPr>
          </a:lstStyle>
          <a:p>
            <a:pPr/>
            <a:r>
              <a:t>Examples of Deadlocks</a:t>
            </a:r>
          </a:p>
        </p:txBody>
      </p:sp>
      <p:sp>
        <p:nvSpPr>
          <p:cNvPr id="160" name="Reusable resources…"/>
          <p:cNvSpPr txBox="1"/>
          <p:nvPr>
            <p:ph type="body" idx="1"/>
          </p:nvPr>
        </p:nvSpPr>
        <p:spPr>
          <a:xfrm>
            <a:off x="1270000" y="2768600"/>
            <a:ext cx="10972800" cy="5715000"/>
          </a:xfrm>
          <a:prstGeom prst="rect">
            <a:avLst/>
          </a:prstGeom>
        </p:spPr>
        <p:txBody>
          <a:bodyPr/>
          <a:lstStyle/>
          <a:p>
            <a:pPr lvl="2" marL="1533071" indent="-326571">
              <a:defRPr sz="2400"/>
            </a:pPr>
            <a:r>
              <a:t>Reusable resources</a:t>
            </a:r>
          </a:p>
          <a:p>
            <a:pPr lvl="3" marL="1977571" indent="-326571">
              <a:defRPr sz="2400"/>
            </a:pPr>
            <a:r>
              <a:t>File sharing</a:t>
            </a:r>
          </a:p>
          <a:p>
            <a:pPr lvl="4" marL="2422071" indent="-326571">
              <a:defRPr sz="2400"/>
            </a:pPr>
            <a:r>
              <a:t>Consider two processes p</a:t>
            </a:r>
            <a:r>
              <a:rPr baseline="-5999"/>
              <a:t>1</a:t>
            </a:r>
            <a:r>
              <a:t> and p</a:t>
            </a:r>
            <a:r>
              <a:rPr baseline="-5999"/>
              <a:t>2</a:t>
            </a:r>
          </a:p>
          <a:p>
            <a:pPr lvl="4" marL="2422071" indent="-326571">
              <a:defRPr sz="2400"/>
            </a:pPr>
            <a:r>
              <a:t>They update a file </a:t>
            </a:r>
            <a:r>
              <a:rPr i="1"/>
              <a:t>F</a:t>
            </a:r>
            <a:r>
              <a:t> and require a scratch tape during the updating</a:t>
            </a:r>
          </a:p>
          <a:p>
            <a:pPr lvl="4" marL="2422071" indent="-326571">
              <a:defRPr sz="2400"/>
            </a:pPr>
            <a:r>
              <a:t>Only one tape drive </a:t>
            </a:r>
            <a:r>
              <a:rPr i="1"/>
              <a:t>T</a:t>
            </a:r>
            <a:r>
              <a:t> available</a:t>
            </a:r>
          </a:p>
          <a:p>
            <a:pPr lvl="4" marL="2422071" indent="-326571">
              <a:defRPr sz="2400"/>
            </a:pPr>
            <a:r>
              <a:rPr i="1"/>
              <a:t>T</a:t>
            </a:r>
            <a:r>
              <a:t> and </a:t>
            </a:r>
            <a:r>
              <a:rPr i="1"/>
              <a:t>F</a:t>
            </a:r>
            <a:r>
              <a:t> are serially reusable resources, and can be used only by </a:t>
            </a:r>
            <a:r>
              <a:rPr i="1"/>
              <a:t>exclusive access</a:t>
            </a:r>
            <a:r>
              <a:t>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Examples of Deadlocks"/>
          <p:cNvSpPr txBox="1"/>
          <p:nvPr>
            <p:ph type="title"/>
          </p:nvPr>
        </p:nvSpPr>
        <p:spPr>
          <a:prstGeom prst="rect">
            <a:avLst/>
          </a:prstGeom>
        </p:spPr>
        <p:txBody>
          <a:bodyPr/>
          <a:lstStyle>
            <a:lvl1pPr>
              <a:defRPr sz="6400"/>
            </a:lvl1pPr>
          </a:lstStyle>
          <a:p>
            <a:pPr/>
            <a:r>
              <a:t>Examples of Deadlocks</a:t>
            </a:r>
          </a:p>
        </p:txBody>
      </p:sp>
      <p:sp>
        <p:nvSpPr>
          <p:cNvPr id="163" name="Reusable resources…"/>
          <p:cNvSpPr txBox="1"/>
          <p:nvPr>
            <p:ph type="body" idx="1"/>
          </p:nvPr>
        </p:nvSpPr>
        <p:spPr>
          <a:xfrm>
            <a:off x="1270000" y="2768600"/>
            <a:ext cx="10972800" cy="5715000"/>
          </a:xfrm>
          <a:prstGeom prst="rect">
            <a:avLst/>
          </a:prstGeom>
        </p:spPr>
        <p:txBody>
          <a:bodyPr/>
          <a:lstStyle/>
          <a:p>
            <a:pPr lvl="2" marL="1533071" indent="-326571">
              <a:defRPr sz="2400"/>
            </a:pPr>
            <a:r>
              <a:t>Reusable resources</a:t>
            </a:r>
          </a:p>
          <a:p>
            <a:pPr lvl="3" marL="1977571" indent="-326571">
              <a:defRPr sz="2400"/>
            </a:pPr>
            <a:r>
              <a:t>p</a:t>
            </a:r>
            <a:r>
              <a:rPr baseline="-5999"/>
              <a:t>2</a:t>
            </a:r>
            <a:r>
              <a:t> needs </a:t>
            </a:r>
            <a:r>
              <a:rPr i="1"/>
              <a:t>T</a:t>
            </a:r>
            <a:r>
              <a:t> immediately prior to updating</a:t>
            </a:r>
          </a:p>
          <a:p>
            <a:pPr lvl="3" marL="1977571" indent="-326571">
              <a:defRPr sz="2400"/>
            </a:pPr>
            <a:r>
              <a:rPr i="1"/>
              <a:t>request</a:t>
            </a:r>
            <a:r>
              <a:t> operation</a:t>
            </a:r>
          </a:p>
          <a:p>
            <a:pPr lvl="4" marL="2422071" indent="-326571">
              <a:defRPr sz="2400"/>
            </a:pPr>
            <a:r>
              <a:t>Blocks the process requesting the resource</a:t>
            </a:r>
          </a:p>
          <a:p>
            <a:pPr lvl="4" marL="2422071" indent="-326571">
              <a:defRPr sz="2400"/>
            </a:pPr>
            <a:r>
              <a:t>Puts the process on the wait queue</a:t>
            </a:r>
          </a:p>
          <a:p>
            <a:pPr lvl="4" marL="2422071" indent="-326571">
              <a:defRPr sz="2400"/>
            </a:pPr>
            <a:r>
              <a:t>The process remains blocked until requested resource is available</a:t>
            </a:r>
          </a:p>
          <a:p>
            <a:pPr lvl="4" marL="2422071" indent="-326571">
              <a:defRPr sz="2400"/>
            </a:pPr>
            <a:r>
              <a:t>If the resource is available, the process is granted exclusive access to it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Examples of Deadlocks"/>
          <p:cNvSpPr txBox="1"/>
          <p:nvPr>
            <p:ph type="title"/>
          </p:nvPr>
        </p:nvSpPr>
        <p:spPr>
          <a:prstGeom prst="rect">
            <a:avLst/>
          </a:prstGeom>
        </p:spPr>
        <p:txBody>
          <a:bodyPr/>
          <a:lstStyle>
            <a:lvl1pPr>
              <a:defRPr sz="6400"/>
            </a:lvl1pPr>
          </a:lstStyle>
          <a:p>
            <a:pPr/>
            <a:r>
              <a:t>Examples of Deadlocks</a:t>
            </a:r>
          </a:p>
        </p:txBody>
      </p:sp>
      <p:sp>
        <p:nvSpPr>
          <p:cNvPr id="166" name="Reusable resource…"/>
          <p:cNvSpPr txBox="1"/>
          <p:nvPr>
            <p:ph type="body" idx="1"/>
          </p:nvPr>
        </p:nvSpPr>
        <p:spPr>
          <a:xfrm>
            <a:off x="1270000" y="2768600"/>
            <a:ext cx="10972800" cy="5715000"/>
          </a:xfrm>
          <a:prstGeom prst="rect">
            <a:avLst/>
          </a:prstGeom>
        </p:spPr>
        <p:txBody>
          <a:bodyPr/>
          <a:lstStyle/>
          <a:p>
            <a:pPr lvl="2" marL="1533071" indent="-326571">
              <a:defRPr sz="2400"/>
            </a:pPr>
            <a:r>
              <a:t>Reusable resource</a:t>
            </a:r>
          </a:p>
          <a:p>
            <a:pPr lvl="3" marL="1977571" indent="-326571">
              <a:defRPr sz="2400"/>
            </a:pPr>
            <a:r>
              <a:t>release operation</a:t>
            </a:r>
          </a:p>
          <a:p>
            <a:pPr lvl="4" marL="2422071" indent="-326571">
              <a:defRPr sz="2400"/>
            </a:pPr>
            <a:r>
              <a:t>Returns the resource being released to the system</a:t>
            </a:r>
          </a:p>
          <a:p>
            <a:pPr lvl="4" marL="2422071" indent="-326571">
              <a:defRPr sz="2400"/>
            </a:pPr>
            <a:r>
              <a:t>Wakes up the process waiting for the resource, if any</a:t>
            </a:r>
          </a:p>
          <a:p>
            <a:pPr lvl="2" marL="1533071" indent="-326571">
              <a:defRPr sz="2400"/>
            </a:pPr>
            <a:r>
              <a:t>p</a:t>
            </a:r>
            <a:r>
              <a:rPr baseline="-5999"/>
              <a:t>1</a:t>
            </a:r>
            <a:r>
              <a:t> can block on </a:t>
            </a:r>
            <a:r>
              <a:rPr i="1"/>
              <a:t>T</a:t>
            </a:r>
            <a:r>
              <a:t> holding </a:t>
            </a:r>
            <a:r>
              <a:rPr i="1"/>
              <a:t>F</a:t>
            </a:r>
            <a:r>
              <a:t> while p</a:t>
            </a:r>
            <a:r>
              <a:rPr baseline="-5999"/>
              <a:t>2</a:t>
            </a:r>
            <a:r>
              <a:t> can block on </a:t>
            </a:r>
            <a:r>
              <a:rPr i="1"/>
              <a:t>F</a:t>
            </a:r>
            <a:r>
              <a:t> holding </a:t>
            </a:r>
            <a:r>
              <a:rPr i="1"/>
              <a:t>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Examples of Deadlocks"/>
          <p:cNvSpPr txBox="1"/>
          <p:nvPr>
            <p:ph type="title"/>
          </p:nvPr>
        </p:nvSpPr>
        <p:spPr>
          <a:prstGeom prst="rect">
            <a:avLst/>
          </a:prstGeom>
        </p:spPr>
        <p:txBody>
          <a:bodyPr/>
          <a:lstStyle>
            <a:lvl1pPr>
              <a:defRPr sz="6400"/>
            </a:lvl1pPr>
          </a:lstStyle>
          <a:p>
            <a:pPr/>
            <a:r>
              <a:t>Examples of Deadlocks</a:t>
            </a:r>
          </a:p>
        </p:txBody>
      </p:sp>
      <p:pic>
        <p:nvPicPr>
          <p:cNvPr id="169" name="resourceblocking.png" descr="resourceblocking.png"/>
          <p:cNvPicPr>
            <a:picLocks noChangeAspect="1"/>
          </p:cNvPicPr>
          <p:nvPr/>
        </p:nvPicPr>
        <p:blipFill>
          <a:blip r:embed="rId2">
            <a:extLst/>
          </a:blip>
          <a:stretch>
            <a:fillRect/>
          </a:stretch>
        </p:blipFill>
        <p:spPr>
          <a:xfrm>
            <a:off x="1143000" y="2806700"/>
            <a:ext cx="11087100" cy="563880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Examples of Deadlocks"/>
          <p:cNvSpPr txBox="1"/>
          <p:nvPr>
            <p:ph type="title"/>
          </p:nvPr>
        </p:nvSpPr>
        <p:spPr>
          <a:prstGeom prst="rect">
            <a:avLst/>
          </a:prstGeom>
        </p:spPr>
        <p:txBody>
          <a:bodyPr/>
          <a:lstStyle>
            <a:lvl1pPr>
              <a:defRPr sz="6400"/>
            </a:lvl1pPr>
          </a:lstStyle>
          <a:p>
            <a:pPr/>
            <a:r>
              <a:t>Examples of Deadlocks</a:t>
            </a:r>
          </a:p>
        </p:txBody>
      </p:sp>
      <p:sp>
        <p:nvSpPr>
          <p:cNvPr id="172" name="Single resource sharing…"/>
          <p:cNvSpPr txBox="1"/>
          <p:nvPr>
            <p:ph type="body" idx="1"/>
          </p:nvPr>
        </p:nvSpPr>
        <p:spPr>
          <a:xfrm>
            <a:off x="1270000" y="2768600"/>
            <a:ext cx="10972800" cy="6273800"/>
          </a:xfrm>
          <a:prstGeom prst="rect">
            <a:avLst/>
          </a:prstGeom>
        </p:spPr>
        <p:txBody>
          <a:bodyPr/>
          <a:lstStyle/>
          <a:p>
            <a:pPr lvl="2" marL="1533071" indent="-326571">
              <a:defRPr sz="2400"/>
            </a:pPr>
            <a:r>
              <a:t>Single resource sharing</a:t>
            </a:r>
          </a:p>
          <a:p>
            <a:pPr lvl="3" marL="1977571" indent="-326571">
              <a:defRPr sz="2400"/>
            </a:pPr>
            <a:r>
              <a:t>A single SR resource, such as memory </a:t>
            </a:r>
            <a:r>
              <a:rPr i="1"/>
              <a:t>M</a:t>
            </a:r>
            <a:r>
              <a:t>, with </a:t>
            </a:r>
            <a:r>
              <a:rPr i="1"/>
              <a:t>m</a:t>
            </a:r>
            <a:r>
              <a:t> allocation units shared by </a:t>
            </a:r>
            <a:r>
              <a:rPr i="1"/>
              <a:t>n</a:t>
            </a:r>
            <a:r>
              <a:t> processes p</a:t>
            </a:r>
            <a:r>
              <a:rPr baseline="-5999"/>
              <a:t>1</a:t>
            </a:r>
            <a:r>
              <a:t>, p</a:t>
            </a:r>
            <a:r>
              <a:rPr baseline="-5999"/>
              <a:t>2</a:t>
            </a:r>
            <a:r>
              <a:t>, ..., p</a:t>
            </a:r>
            <a:r>
              <a:rPr baseline="-5999"/>
              <a:t>n</a:t>
            </a:r>
            <a:r>
              <a:t>, 2 &lt;= </a:t>
            </a:r>
            <a:r>
              <a:rPr i="1"/>
              <a:t>m</a:t>
            </a:r>
            <a:r>
              <a:t> &lt;= </a:t>
            </a:r>
            <a:r>
              <a:rPr i="1"/>
              <a:t>n</a:t>
            </a:r>
            <a:r>
              <a:t> </a:t>
            </a:r>
          </a:p>
          <a:p>
            <a:pPr lvl="3" marL="1977571" indent="-326571">
              <a:defRPr sz="2400"/>
            </a:pPr>
            <a:r>
              <a:t>Suppose sequence of operations is as follows:</a:t>
            </a:r>
          </a:p>
          <a:p>
            <a:pPr lvl="3" marL="1977571" indent="-326571">
              <a:defRPr sz="2400"/>
            </a:pPr>
          </a:p>
          <a:p>
            <a:pPr lvl="3" marL="1977571" indent="-326571">
              <a:defRPr sz="2400"/>
            </a:pPr>
          </a:p>
          <a:p>
            <a:pPr lvl="3" marL="1977571" indent="-326571">
              <a:defRPr sz="2400"/>
            </a:pPr>
          </a:p>
          <a:p>
            <a:pPr lvl="3" marL="1977571" indent="-326571">
              <a:defRPr sz="2400"/>
            </a:pPr>
            <a:r>
              <a:t>Deadlock due to no memory being available and existing processes request more memory</a:t>
            </a:r>
          </a:p>
          <a:p>
            <a:pPr lvl="3" marL="1977571" indent="-326571">
              <a:defRPr sz="2400"/>
            </a:pPr>
            <a:r>
              <a:t>Fairly common cause of deadlock</a:t>
            </a:r>
          </a:p>
        </p:txBody>
      </p:sp>
      <p:sp>
        <p:nvSpPr>
          <p:cNvPr id="173" name="m1 = malloc ( 1024 );…"/>
          <p:cNvSpPr/>
          <p:nvPr/>
        </p:nvSpPr>
        <p:spPr>
          <a:xfrm>
            <a:off x="3549457" y="5441950"/>
            <a:ext cx="2995130" cy="1371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1800">
                <a:latin typeface="Courier New"/>
                <a:ea typeface="Courier New"/>
                <a:cs typeface="Courier New"/>
                <a:sym typeface="Courier New"/>
              </a:defRPr>
            </a:pPr>
            <a:r>
              <a:t>m1 = malloc ( 1024 );</a:t>
            </a:r>
          </a:p>
          <a:p>
            <a:pPr algn="l">
              <a:defRPr sz="1800">
                <a:latin typeface="Courier New"/>
                <a:ea typeface="Courier New"/>
                <a:cs typeface="Courier New"/>
                <a:sym typeface="Courier New"/>
              </a:defRPr>
            </a:pPr>
            <a:r>
              <a:t>m2 = malloc ( 1024 );</a:t>
            </a:r>
          </a:p>
          <a:p>
            <a:pPr algn="l">
              <a:defRPr sz="1800">
                <a:latin typeface="Courier New"/>
                <a:ea typeface="Courier New"/>
                <a:cs typeface="Courier New"/>
                <a:sym typeface="Courier New"/>
              </a:defRPr>
            </a:pPr>
            <a:r>
              <a:t>...</a:t>
            </a:r>
          </a:p>
          <a:p>
            <a:pPr algn="l">
              <a:defRPr sz="1800">
                <a:latin typeface="Courier New"/>
                <a:ea typeface="Courier New"/>
                <a:cs typeface="Courier New"/>
                <a:sym typeface="Courier New"/>
              </a:defRPr>
            </a:pPr>
            <a:r>
              <a:t>free ( m1 );</a:t>
            </a:r>
          </a:p>
          <a:p>
            <a:pPr algn="l">
              <a:defRPr sz="1800">
                <a:latin typeface="Courier New"/>
                <a:ea typeface="Courier New"/>
                <a:cs typeface="Courier New"/>
                <a:sym typeface="Courier New"/>
              </a:defRPr>
            </a:pPr>
            <a:r>
              <a:t>free ( m2 );</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Examples of Deadlocks"/>
          <p:cNvSpPr txBox="1"/>
          <p:nvPr>
            <p:ph type="title"/>
          </p:nvPr>
        </p:nvSpPr>
        <p:spPr>
          <a:prstGeom prst="rect">
            <a:avLst/>
          </a:prstGeom>
        </p:spPr>
        <p:txBody>
          <a:bodyPr/>
          <a:lstStyle>
            <a:lvl1pPr>
              <a:defRPr sz="6400"/>
            </a:lvl1pPr>
          </a:lstStyle>
          <a:p>
            <a:pPr/>
            <a:r>
              <a:t>Examples of Deadlocks</a:t>
            </a:r>
          </a:p>
        </p:txBody>
      </p:sp>
      <p:sp>
        <p:nvSpPr>
          <p:cNvPr id="176" name="Consumable resources…"/>
          <p:cNvSpPr txBox="1"/>
          <p:nvPr>
            <p:ph type="body" idx="1"/>
          </p:nvPr>
        </p:nvSpPr>
        <p:spPr>
          <a:xfrm>
            <a:off x="1270000" y="2768600"/>
            <a:ext cx="10972800" cy="5715000"/>
          </a:xfrm>
          <a:prstGeom prst="rect">
            <a:avLst/>
          </a:prstGeom>
        </p:spPr>
        <p:txBody>
          <a:bodyPr/>
          <a:lstStyle/>
          <a:p>
            <a:pPr lvl="1" marL="1088571" indent="-326571">
              <a:defRPr sz="2400"/>
            </a:pPr>
            <a:r>
              <a:t>Consumable resources</a:t>
            </a:r>
          </a:p>
          <a:p>
            <a:pPr lvl="2" marL="1533071" indent="-326571">
              <a:defRPr sz="2400"/>
            </a:pPr>
            <a:r>
              <a:t>Deadlock with messages</a:t>
            </a:r>
          </a:p>
          <a:p>
            <a:pPr lvl="3" marL="1977571" indent="-326571">
              <a:defRPr sz="2400"/>
            </a:pPr>
            <a:r>
              <a:t>Have a pair of processes p1 and p2</a:t>
            </a:r>
          </a:p>
          <a:p>
            <a:pPr lvl="3" marL="1977571" indent="-326571">
              <a:defRPr sz="2400"/>
            </a:pPr>
            <a:r>
              <a:t>Each process receives a message from other process and then sends a message to the other process</a:t>
            </a:r>
          </a:p>
          <a:p>
            <a:pPr lvl="3" marL="1977571" indent="-326571">
              <a:defRPr sz="2400"/>
            </a:pPr>
          </a:p>
          <a:p>
            <a:pPr lvl="3" marL="1977571" indent="-326571">
              <a:defRPr sz="2400"/>
            </a:pPr>
          </a:p>
          <a:p>
            <a:pPr lvl="3" marL="1977571" indent="-326571">
              <a:defRPr sz="2400"/>
            </a:pPr>
          </a:p>
          <a:p>
            <a:pPr lvl="3" marL="1977571" indent="-326571">
              <a:defRPr sz="2400"/>
            </a:pPr>
            <a:r>
              <a:t>Deadlock with blocking receive</a:t>
            </a:r>
          </a:p>
        </p:txBody>
      </p:sp>
      <p:pic>
        <p:nvPicPr>
          <p:cNvPr id="177" name="Blockingmessages.png" descr="Blockingmessages.png"/>
          <p:cNvPicPr>
            <a:picLocks noChangeAspect="1"/>
          </p:cNvPicPr>
          <p:nvPr/>
        </p:nvPicPr>
        <p:blipFill>
          <a:blip r:embed="rId2">
            <a:extLst/>
          </a:blip>
          <a:stretch>
            <a:fillRect/>
          </a:stretch>
        </p:blipFill>
        <p:spPr>
          <a:xfrm>
            <a:off x="3898900" y="5842000"/>
            <a:ext cx="3429000" cy="1972144"/>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Examples of Deadlocks"/>
          <p:cNvSpPr txBox="1"/>
          <p:nvPr>
            <p:ph type="title"/>
          </p:nvPr>
        </p:nvSpPr>
        <p:spPr>
          <a:prstGeom prst="rect">
            <a:avLst/>
          </a:prstGeom>
        </p:spPr>
        <p:txBody>
          <a:bodyPr/>
          <a:lstStyle>
            <a:lvl1pPr>
              <a:defRPr sz="6400"/>
            </a:lvl1pPr>
          </a:lstStyle>
          <a:p>
            <a:pPr/>
            <a:r>
              <a:t>Examples of Deadlocks</a:t>
            </a:r>
          </a:p>
        </p:txBody>
      </p:sp>
      <p:sp>
        <p:nvSpPr>
          <p:cNvPr id="180" name="Locking in Database Systems…"/>
          <p:cNvSpPr txBox="1"/>
          <p:nvPr>
            <p:ph type="body" idx="1"/>
          </p:nvPr>
        </p:nvSpPr>
        <p:spPr>
          <a:xfrm>
            <a:off x="1270000" y="2768600"/>
            <a:ext cx="10972800" cy="5715000"/>
          </a:xfrm>
          <a:prstGeom prst="rect">
            <a:avLst/>
          </a:prstGeom>
        </p:spPr>
        <p:txBody>
          <a:bodyPr/>
          <a:lstStyle/>
          <a:p>
            <a:pPr lvl="1" marL="1088571" indent="-326571">
              <a:defRPr sz="2400"/>
            </a:pPr>
            <a:r>
              <a:t>Locking in Database Systems</a:t>
            </a:r>
          </a:p>
          <a:p>
            <a:pPr lvl="2" marL="1533071" indent="-326571">
              <a:defRPr sz="2400"/>
            </a:pPr>
            <a:r>
              <a:t>Locking required to preserve integrity and consistency of databases with random request patterns</a:t>
            </a:r>
          </a:p>
          <a:p>
            <a:pPr lvl="2" marL="1533071" indent="-326571">
              <a:defRPr sz="2400"/>
            </a:pPr>
            <a:r>
              <a:t>Problem when two records to be updated by two different processes are locked</a:t>
            </a:r>
          </a:p>
          <a:p>
            <a:pPr lvl="1" marL="1088571" indent="-326571">
              <a:defRPr sz="2400"/>
            </a:pPr>
            <a:r>
              <a:t>Deadlocking by nefarious users</a:t>
            </a:r>
          </a:p>
        </p:txBody>
      </p:sp>
      <p:sp>
        <p:nvSpPr>
          <p:cNvPr id="181" name="void deadlock( task ) {…"/>
          <p:cNvSpPr/>
          <p:nvPr/>
        </p:nvSpPr>
        <p:spPr>
          <a:xfrm>
            <a:off x="2596957" y="7829550"/>
            <a:ext cx="3269495" cy="863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1800">
                <a:latin typeface="Courier New"/>
                <a:ea typeface="Courier New"/>
                <a:cs typeface="Courier New"/>
                <a:sym typeface="Courier New"/>
              </a:defRPr>
            </a:pPr>
            <a:r>
              <a:t>void deadlock( task ) {</a:t>
            </a:r>
          </a:p>
          <a:p>
            <a:pPr algn="l">
              <a:defRPr sz="1800">
                <a:latin typeface="Courier New"/>
                <a:ea typeface="Courier New"/>
                <a:cs typeface="Courier New"/>
                <a:sym typeface="Courier New"/>
              </a:defRPr>
            </a:pPr>
            <a:r>
              <a:t>   wait ( event );</a:t>
            </a:r>
          </a:p>
          <a:p>
            <a:pPr algn="l">
              <a:defRPr sz="1800">
                <a:latin typeface="Courier New"/>
                <a:ea typeface="Courier New"/>
                <a:cs typeface="Courier New"/>
                <a:sym typeface="Courier New"/>
              </a:defRPr>
            </a:pPr>
            <a:r>
              <a:t>}  /* deadlock */</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Examples of Deadlocks"/>
          <p:cNvSpPr txBox="1"/>
          <p:nvPr>
            <p:ph type="title"/>
          </p:nvPr>
        </p:nvSpPr>
        <p:spPr>
          <a:prstGeom prst="rect">
            <a:avLst/>
          </a:prstGeom>
        </p:spPr>
        <p:txBody>
          <a:bodyPr/>
          <a:lstStyle>
            <a:lvl1pPr>
              <a:defRPr sz="6400"/>
            </a:lvl1pPr>
          </a:lstStyle>
          <a:p>
            <a:pPr/>
            <a:r>
              <a:t>Examples of Deadlocks</a:t>
            </a:r>
          </a:p>
        </p:txBody>
      </p:sp>
      <p:sp>
        <p:nvSpPr>
          <p:cNvPr id="184" name="Effective Deadlocks…"/>
          <p:cNvSpPr txBox="1"/>
          <p:nvPr>
            <p:ph type="body" idx="1"/>
          </p:nvPr>
        </p:nvSpPr>
        <p:spPr>
          <a:xfrm>
            <a:off x="1270000" y="2768600"/>
            <a:ext cx="10972800" cy="5715000"/>
          </a:xfrm>
          <a:prstGeom prst="rect">
            <a:avLst/>
          </a:prstGeom>
        </p:spPr>
        <p:txBody>
          <a:bodyPr/>
          <a:lstStyle/>
          <a:p>
            <a:pPr lvl="2" marL="1533071" indent="-326571">
              <a:defRPr sz="2400"/>
            </a:pPr>
            <a:r>
              <a:t>Effective Deadlocks</a:t>
            </a:r>
          </a:p>
          <a:p>
            <a:pPr lvl="3" marL="1977571" indent="-326571">
              <a:defRPr sz="2400"/>
            </a:pPr>
            <a:r>
              <a:t>Milder form of indefinite postponement of processes competing for a resource</a:t>
            </a:r>
          </a:p>
          <a:p>
            <a:pPr lvl="3" marL="1977571" indent="-326571">
              <a:defRPr sz="2400"/>
            </a:pPr>
            <a:r>
              <a:t>Exemplified by Shortest Job Next Scheduling</a:t>
            </a:r>
          </a:p>
          <a:p>
            <a:pPr lvl="4" marL="2422071" indent="-326571">
              <a:defRPr sz="2400"/>
            </a:pPr>
            <a:r>
              <a:t>If many small processes come in, large job never gets any time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Examples of Deadlocks"/>
          <p:cNvSpPr txBox="1"/>
          <p:nvPr>
            <p:ph type="title"/>
          </p:nvPr>
        </p:nvSpPr>
        <p:spPr>
          <a:prstGeom prst="rect">
            <a:avLst/>
          </a:prstGeom>
        </p:spPr>
        <p:txBody>
          <a:bodyPr/>
          <a:lstStyle>
            <a:lvl1pPr>
              <a:defRPr sz="6400"/>
            </a:lvl1pPr>
          </a:lstStyle>
          <a:p>
            <a:pPr/>
            <a:r>
              <a:t>Examples of Deadlocks</a:t>
            </a:r>
          </a:p>
        </p:txBody>
      </p:sp>
      <p:sp>
        <p:nvSpPr>
          <p:cNvPr id="187" name="Deadlocks in Unix…"/>
          <p:cNvSpPr txBox="1"/>
          <p:nvPr>
            <p:ph type="body" sz="half" idx="1"/>
          </p:nvPr>
        </p:nvSpPr>
        <p:spPr>
          <a:xfrm>
            <a:off x="1270000" y="2768600"/>
            <a:ext cx="10972800" cy="4178300"/>
          </a:xfrm>
          <a:prstGeom prst="rect">
            <a:avLst/>
          </a:prstGeom>
        </p:spPr>
        <p:txBody>
          <a:bodyPr/>
          <a:lstStyle/>
          <a:p>
            <a:pPr lvl="2" marL="1533071" indent="-326571">
              <a:defRPr sz="2400"/>
            </a:pPr>
            <a:r>
              <a:t>Deadlocks in Unix</a:t>
            </a:r>
          </a:p>
          <a:p>
            <a:pPr lvl="3" marL="1977571" indent="-326571">
              <a:defRPr sz="2400"/>
            </a:pPr>
            <a:r>
              <a:t>Possible deadlock condition that cannot be detected</a:t>
            </a:r>
          </a:p>
          <a:p>
            <a:pPr lvl="3" marL="1977571" indent="-326571">
              <a:defRPr sz="2400"/>
            </a:pPr>
            <a:r>
              <a:t>Number of processes limited by the number of available entries in process table</a:t>
            </a:r>
          </a:p>
          <a:p>
            <a:pPr lvl="4" marL="2422071" indent="-326571">
              <a:defRPr sz="2400"/>
            </a:pPr>
            <a:r>
              <a:t>If process table is full, </a:t>
            </a:r>
            <a:r>
              <a:rPr>
                <a:latin typeface="Courier New"/>
                <a:ea typeface="Courier New"/>
                <a:cs typeface="Courier New"/>
                <a:sym typeface="Courier New"/>
              </a:rPr>
              <a:t>fork</a:t>
            </a:r>
            <a:r>
              <a:t> system call fails</a:t>
            </a:r>
          </a:p>
          <a:p>
            <a:pPr lvl="4" marL="2422071" indent="-326571">
              <a:defRPr sz="2400"/>
            </a:pPr>
            <a:r>
              <a:t>Process can try and wait random time before trying </a:t>
            </a:r>
            <a:r>
              <a:rPr>
                <a:latin typeface="Courier New"/>
                <a:ea typeface="Courier New"/>
                <a:cs typeface="Courier New"/>
                <a:sym typeface="Courier New"/>
              </a:rPr>
              <a:t>fork</a:t>
            </a:r>
            <a:r>
              <a:t> again</a:t>
            </a:r>
          </a:p>
        </p:txBody>
      </p:sp>
      <p:sp>
        <p:nvSpPr>
          <p:cNvPr id="188" name="Example:…"/>
          <p:cNvSpPr/>
          <p:nvPr/>
        </p:nvSpPr>
        <p:spPr>
          <a:xfrm>
            <a:off x="2520757" y="7156450"/>
            <a:ext cx="7086601" cy="1371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1800">
                <a:latin typeface="Courier New"/>
                <a:ea typeface="Courier New"/>
                <a:cs typeface="Courier New"/>
                <a:sym typeface="Courier New"/>
              </a:defRPr>
            </a:pPr>
            <a:r>
              <a:t>Example:</a:t>
            </a:r>
          </a:p>
          <a:p>
            <a:pPr algn="l">
              <a:defRPr sz="1800">
                <a:latin typeface="Courier New"/>
                <a:ea typeface="Courier New"/>
                <a:cs typeface="Courier New"/>
                <a:sym typeface="Courier New"/>
              </a:defRPr>
            </a:pPr>
            <a:r>
              <a:t>   10 processes create 12 children each</a:t>
            </a:r>
          </a:p>
          <a:p>
            <a:pPr algn="l">
              <a:defRPr sz="1800">
                <a:latin typeface="Courier New"/>
                <a:ea typeface="Courier New"/>
                <a:cs typeface="Courier New"/>
                <a:sym typeface="Courier New"/>
              </a:defRPr>
            </a:pPr>
            <a:r>
              <a:t>   100 entries in process table</a:t>
            </a:r>
          </a:p>
          <a:p>
            <a:pPr algn="l">
              <a:defRPr sz="1800">
                <a:latin typeface="Courier New"/>
                <a:ea typeface="Courier New"/>
                <a:cs typeface="Courier New"/>
                <a:sym typeface="Courier New"/>
              </a:defRPr>
            </a:pPr>
            <a:r>
              <a:t>   Each process has already created 9 children</a:t>
            </a:r>
          </a:p>
          <a:p>
            <a:pPr algn="l">
              <a:defRPr sz="1800">
                <a:latin typeface="Courier New"/>
                <a:ea typeface="Courier New"/>
                <a:cs typeface="Courier New"/>
                <a:sym typeface="Courier New"/>
              </a:defRPr>
            </a:pPr>
            <a:r>
              <a:t>   No more space in process table, so deadlock</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Examples of Deadlocks"/>
          <p:cNvSpPr txBox="1"/>
          <p:nvPr>
            <p:ph type="title"/>
          </p:nvPr>
        </p:nvSpPr>
        <p:spPr>
          <a:prstGeom prst="rect">
            <a:avLst/>
          </a:prstGeom>
        </p:spPr>
        <p:txBody>
          <a:bodyPr/>
          <a:lstStyle>
            <a:lvl1pPr>
              <a:defRPr sz="6400"/>
            </a:lvl1pPr>
          </a:lstStyle>
          <a:p>
            <a:pPr/>
            <a:r>
              <a:t>Examples of Deadlocks</a:t>
            </a:r>
          </a:p>
        </p:txBody>
      </p:sp>
      <p:pic>
        <p:nvPicPr>
          <p:cNvPr id="191" name="image6.gif" descr="image6.gif"/>
          <p:cNvPicPr>
            <a:picLocks noChangeAspect="1"/>
          </p:cNvPicPr>
          <p:nvPr/>
        </p:nvPicPr>
        <p:blipFill>
          <a:blip r:embed="rId2">
            <a:extLst/>
          </a:blip>
          <a:stretch>
            <a:fillRect/>
          </a:stretch>
        </p:blipFill>
        <p:spPr>
          <a:xfrm>
            <a:off x="1739900" y="2565400"/>
            <a:ext cx="7955281" cy="66294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191"/>
                                        </p:tgtEl>
                                        <p:attrNameLst>
                                          <p:attrName>style.visibility</p:attrName>
                                        </p:attrNameLst>
                                      </p:cBhvr>
                                      <p:to>
                                        <p:strVal val="visible"/>
                                      </p:to>
                                    </p:set>
                                    <p:anim calcmode="lin" valueType="num">
                                      <p:cBhvr>
                                        <p:cTn id="7" dur="1000" fill="hold"/>
                                        <p:tgtEl>
                                          <p:spTgt spid="191"/>
                                        </p:tgtEl>
                                        <p:attrNameLst>
                                          <p:attrName>ppt_w</p:attrName>
                                        </p:attrNameLst>
                                      </p:cBhvr>
                                      <p:tavLst>
                                        <p:tav tm="0">
                                          <p:val>
                                            <p:fltVal val="0"/>
                                          </p:val>
                                        </p:tav>
                                        <p:tav tm="100000">
                                          <p:val>
                                            <p:strVal val="#ppt_w"/>
                                          </p:val>
                                        </p:tav>
                                      </p:tavLst>
                                    </p:anim>
                                    <p:anim calcmode="lin" valueType="num">
                                      <p:cBhvr>
                                        <p:cTn id="8" dur="1000" fill="hold"/>
                                        <p:tgtEl>
                                          <p:spTgt spid="191"/>
                                        </p:tgtEl>
                                        <p:attrNameLst>
                                          <p:attrName>ppt_h</p:attrName>
                                        </p:attrNameLst>
                                      </p:cBhvr>
                                      <p:tavLst>
                                        <p:tav tm="0">
                                          <p:val>
                                            <p:fltVal val="0"/>
                                          </p:val>
                                        </p:tav>
                                        <p:tav tm="100000">
                                          <p:val>
                                            <p:strVal val="#ppt_h"/>
                                          </p:val>
                                        </p:tav>
                                      </p:tavLst>
                                    </p:anim>
                                    <p:anim calcmode="lin" valueType="num">
                                      <p:cBhvr>
                                        <p:cTn id="9" dur="1000" fill="hold"/>
                                        <p:tgtEl>
                                          <p:spTgt spid="19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91"/>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1" grpId="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Examples of Deadlocks"/>
          <p:cNvSpPr txBox="1"/>
          <p:nvPr>
            <p:ph type="title"/>
          </p:nvPr>
        </p:nvSpPr>
        <p:spPr>
          <a:prstGeom prst="rect">
            <a:avLst/>
          </a:prstGeom>
        </p:spPr>
        <p:txBody>
          <a:bodyPr/>
          <a:lstStyle>
            <a:lvl1pPr>
              <a:defRPr sz="6400"/>
            </a:lvl1pPr>
          </a:lstStyle>
          <a:p>
            <a:pPr/>
            <a:r>
              <a:t>Examples of Deadlocks</a:t>
            </a:r>
          </a:p>
        </p:txBody>
      </p:sp>
      <p:pic>
        <p:nvPicPr>
          <p:cNvPr id="194" name="image7.gif" descr="image7.gif"/>
          <p:cNvPicPr>
            <a:picLocks noChangeAspect="1"/>
          </p:cNvPicPr>
          <p:nvPr/>
        </p:nvPicPr>
        <p:blipFill>
          <a:blip r:embed="rId2">
            <a:extLst/>
          </a:blip>
          <a:stretch>
            <a:fillRect/>
          </a:stretch>
        </p:blipFill>
        <p:spPr>
          <a:xfrm>
            <a:off x="1765301" y="2362199"/>
            <a:ext cx="8737601" cy="6813436"/>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194"/>
                                        </p:tgtEl>
                                        <p:attrNameLst>
                                          <p:attrName>style.visibility</p:attrName>
                                        </p:attrNameLst>
                                      </p:cBhvr>
                                      <p:to>
                                        <p:strVal val="visible"/>
                                      </p:to>
                                    </p:set>
                                    <p:anim calcmode="lin" valueType="num">
                                      <p:cBhvr>
                                        <p:cTn id="7" dur="1000" fill="hold"/>
                                        <p:tgtEl>
                                          <p:spTgt spid="194"/>
                                        </p:tgtEl>
                                        <p:attrNameLst>
                                          <p:attrName>ppt_w</p:attrName>
                                        </p:attrNameLst>
                                      </p:cBhvr>
                                      <p:tavLst>
                                        <p:tav tm="0">
                                          <p:val>
                                            <p:fltVal val="0"/>
                                          </p:val>
                                        </p:tav>
                                        <p:tav tm="100000">
                                          <p:val>
                                            <p:strVal val="#ppt_w"/>
                                          </p:val>
                                        </p:tav>
                                      </p:tavLst>
                                    </p:anim>
                                    <p:anim calcmode="lin" valueType="num">
                                      <p:cBhvr>
                                        <p:cTn id="8" dur="1000" fill="hold"/>
                                        <p:tgtEl>
                                          <p:spTgt spid="194"/>
                                        </p:tgtEl>
                                        <p:attrNameLst>
                                          <p:attrName>ppt_h</p:attrName>
                                        </p:attrNameLst>
                                      </p:cBhvr>
                                      <p:tavLst>
                                        <p:tav tm="0">
                                          <p:val>
                                            <p:fltVal val="0"/>
                                          </p:val>
                                        </p:tav>
                                        <p:tav tm="100000">
                                          <p:val>
                                            <p:strVal val="#ppt_h"/>
                                          </p:val>
                                        </p:tav>
                                      </p:tavLst>
                                    </p:anim>
                                    <p:anim calcmode="lin" valueType="num">
                                      <p:cBhvr>
                                        <p:cTn id="9" dur="1000" fill="hold"/>
                                        <p:tgtEl>
                                          <p:spTgt spid="19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9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4" grpId="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Deadlocks Problem Characterization"/>
          <p:cNvSpPr txBox="1"/>
          <p:nvPr>
            <p:ph type="title"/>
          </p:nvPr>
        </p:nvSpPr>
        <p:spPr>
          <a:prstGeom prst="rect">
            <a:avLst/>
          </a:prstGeom>
        </p:spPr>
        <p:txBody>
          <a:bodyPr/>
          <a:lstStyle>
            <a:lvl1pPr>
              <a:defRPr sz="6400"/>
            </a:lvl1pPr>
          </a:lstStyle>
          <a:p>
            <a:pPr/>
            <a:r>
              <a:t>Deadlocks Problem Characterization</a:t>
            </a:r>
          </a:p>
        </p:txBody>
      </p:sp>
      <p:sp>
        <p:nvSpPr>
          <p:cNvPr id="197" name="Deadlock Detection…"/>
          <p:cNvSpPr txBox="1"/>
          <p:nvPr>
            <p:ph type="body" idx="1"/>
          </p:nvPr>
        </p:nvSpPr>
        <p:spPr>
          <a:xfrm>
            <a:off x="1270000" y="2768600"/>
            <a:ext cx="10972800" cy="5715000"/>
          </a:xfrm>
          <a:prstGeom prst="rect">
            <a:avLst/>
          </a:prstGeom>
        </p:spPr>
        <p:txBody>
          <a:bodyPr/>
          <a:lstStyle/>
          <a:p>
            <a:pPr lvl="4" marL="2422071" indent="-326571">
              <a:defRPr sz="2400"/>
            </a:pPr>
            <a:r>
              <a:t>Deadlock Detection</a:t>
            </a:r>
          </a:p>
          <a:p>
            <a:pPr lvl="5" marL="2777671" indent="-326571">
              <a:spcBef>
                <a:spcPts val="2400"/>
              </a:spcBef>
              <a:defRPr sz="2400"/>
            </a:pPr>
            <a:r>
              <a:t>Process resource graphs</a:t>
            </a:r>
          </a:p>
          <a:p>
            <a:pPr lvl="4" marL="2422071" indent="-326571">
              <a:defRPr sz="2400"/>
            </a:pPr>
            <a:r>
              <a:t>Deadlock Recovery</a:t>
            </a:r>
          </a:p>
          <a:p>
            <a:pPr lvl="5" marL="2777671" indent="-326571">
              <a:spcBef>
                <a:spcPts val="2400"/>
              </a:spcBef>
              <a:defRPr sz="2400"/>
            </a:pPr>
            <a:r>
              <a:t>What is “best” way of recovering from a deadlock</a:t>
            </a:r>
          </a:p>
          <a:p>
            <a:pPr lvl="4" marL="2422071" indent="-326571">
              <a:defRPr sz="2400"/>
            </a:pPr>
            <a:r>
              <a:t>Deadlock Prevention</a:t>
            </a:r>
          </a:p>
          <a:p>
            <a:pPr lvl="5" marL="2777671" indent="-326571">
              <a:spcBef>
                <a:spcPts val="2400"/>
              </a:spcBef>
              <a:defRPr sz="2400"/>
            </a:pPr>
            <a:r>
              <a:t>Not allowing a deadlock to happen</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Resource Allocation Graph"/>
          <p:cNvSpPr txBox="1"/>
          <p:nvPr>
            <p:ph type="title"/>
          </p:nvPr>
        </p:nvSpPr>
        <p:spPr>
          <a:prstGeom prst="rect">
            <a:avLst/>
          </a:prstGeom>
        </p:spPr>
        <p:txBody>
          <a:bodyPr/>
          <a:lstStyle>
            <a:lvl1pPr>
              <a:defRPr sz="6400"/>
            </a:lvl1pPr>
          </a:lstStyle>
          <a:p>
            <a:pPr/>
            <a:r>
              <a:t>Resource Allocation Graph</a:t>
            </a:r>
          </a:p>
        </p:txBody>
      </p:sp>
      <p:sp>
        <p:nvSpPr>
          <p:cNvPr id="200" name="Directed graph to describe state of the system of resources and processes…"/>
          <p:cNvSpPr txBox="1"/>
          <p:nvPr>
            <p:ph type="body" idx="1"/>
          </p:nvPr>
        </p:nvSpPr>
        <p:spPr>
          <a:xfrm>
            <a:off x="1270000" y="2768600"/>
            <a:ext cx="10972800" cy="6413500"/>
          </a:xfrm>
          <a:prstGeom prst="rect">
            <a:avLst/>
          </a:prstGeom>
        </p:spPr>
        <p:txBody>
          <a:bodyPr/>
          <a:lstStyle/>
          <a:p>
            <a:pPr lvl="2" marL="1533071" indent="-326571">
              <a:defRPr sz="2400"/>
            </a:pPr>
            <a:r>
              <a:t>Directed graph to describe state of the system of resources and processes</a:t>
            </a:r>
          </a:p>
          <a:p>
            <a:pPr lvl="2" marL="1533071" indent="-326571">
              <a:defRPr sz="2400"/>
            </a:pPr>
            <a:r>
              <a:t>Set of vertices V consisting of</a:t>
            </a:r>
          </a:p>
          <a:p>
            <a:pPr lvl="3" marL="1977571" indent="-326571">
              <a:defRPr sz="2400"/>
            </a:pPr>
            <a:r>
              <a:t>Set of processes P = P1, P2, ...</a:t>
            </a:r>
          </a:p>
          <a:p>
            <a:pPr lvl="4" marL="2422071" indent="-326571">
              <a:defRPr sz="2400"/>
            </a:pPr>
            <a:r>
              <a:t>Process nodes are represented as circles</a:t>
            </a:r>
          </a:p>
          <a:p>
            <a:pPr lvl="3" marL="1977571" indent="-326571">
              <a:defRPr sz="2400"/>
            </a:pPr>
            <a:r>
              <a:t>Set of resource types R = R1, R2, ...</a:t>
            </a:r>
          </a:p>
          <a:p>
            <a:pPr lvl="4" marL="2422071" indent="-326571">
              <a:defRPr sz="2400"/>
            </a:pPr>
            <a:r>
              <a:t>Resource nodes represented as squares with a dot representing each instance of the resource</a:t>
            </a:r>
          </a:p>
          <a:p>
            <a:pPr lvl="4" marL="2422071" indent="-326571">
              <a:defRPr sz="2400"/>
            </a:pPr>
            <a:r>
              <a:t>Resource types with multiple instances could be I/O devices allocated by a resource management module</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Resource Allocation Graph"/>
          <p:cNvSpPr txBox="1"/>
          <p:nvPr>
            <p:ph type="title"/>
          </p:nvPr>
        </p:nvSpPr>
        <p:spPr>
          <a:prstGeom prst="rect">
            <a:avLst/>
          </a:prstGeom>
        </p:spPr>
        <p:txBody>
          <a:bodyPr/>
          <a:lstStyle>
            <a:lvl1pPr>
              <a:defRPr sz="6400"/>
            </a:lvl1pPr>
          </a:lstStyle>
          <a:p>
            <a:pPr/>
            <a:r>
              <a:t>Resource Allocation Graph</a:t>
            </a:r>
          </a:p>
        </p:txBody>
      </p:sp>
      <p:sp>
        <p:nvSpPr>
          <p:cNvPr id="203" name="Set of edges E…"/>
          <p:cNvSpPr txBox="1"/>
          <p:nvPr>
            <p:ph type="body" idx="1"/>
          </p:nvPr>
        </p:nvSpPr>
        <p:spPr>
          <a:xfrm>
            <a:off x="1270000" y="2768600"/>
            <a:ext cx="10972800" cy="6248400"/>
          </a:xfrm>
          <a:prstGeom prst="rect">
            <a:avLst/>
          </a:prstGeom>
        </p:spPr>
        <p:txBody>
          <a:bodyPr/>
          <a:lstStyle/>
          <a:p>
            <a:pPr lvl="2" marL="1533071" indent="-326571">
              <a:defRPr sz="2400"/>
            </a:pPr>
            <a:r>
              <a:t>Set of edges E</a:t>
            </a:r>
          </a:p>
          <a:p>
            <a:pPr lvl="3" marL="1977571" indent="-326571">
              <a:defRPr sz="2400"/>
            </a:pPr>
            <a:r>
              <a:t>Request edge</a:t>
            </a:r>
          </a:p>
          <a:p>
            <a:pPr lvl="4" marL="2422071" indent="-326571">
              <a:defRPr sz="2400"/>
            </a:pPr>
            <a:r>
              <a:t>Directed edge from P</a:t>
            </a:r>
            <a:r>
              <a:rPr baseline="-5999"/>
              <a:t>i</a:t>
            </a:r>
            <a:r>
              <a:t> to R</a:t>
            </a:r>
            <a:r>
              <a:rPr baseline="-5999"/>
              <a:t>j</a:t>
            </a:r>
          </a:p>
          <a:p>
            <a:pPr lvl="5" marL="2777671" indent="-326571">
              <a:spcBef>
                <a:spcPts val="2400"/>
              </a:spcBef>
              <a:defRPr sz="2400"/>
            </a:pPr>
            <a:r>
              <a:t>Denoted by P</a:t>
            </a:r>
            <a:r>
              <a:rPr baseline="-5999"/>
              <a:t>i</a:t>
            </a:r>
            <a:r>
              <a:t> → R</a:t>
            </a:r>
            <a:r>
              <a:rPr baseline="-5999"/>
              <a:t>j </a:t>
            </a:r>
          </a:p>
          <a:p>
            <a:pPr lvl="5" marL="2777671" indent="-326571">
              <a:spcBef>
                <a:spcPts val="2400"/>
              </a:spcBef>
              <a:defRPr sz="2400"/>
            </a:pPr>
            <a:r>
              <a:t>Pi has requested an instance of Rj and is currently waiting for that resource</a:t>
            </a:r>
          </a:p>
          <a:p>
            <a:pPr lvl="3" marL="1977571" indent="-326571">
              <a:defRPr sz="2400"/>
            </a:pPr>
            <a:r>
              <a:t>Assignment edge</a:t>
            </a:r>
          </a:p>
          <a:p>
            <a:pPr lvl="4" marL="2422071" indent="-326571">
              <a:defRPr sz="2400"/>
            </a:pPr>
            <a:r>
              <a:t>Directed edge from R</a:t>
            </a:r>
            <a:r>
              <a:rPr baseline="-5999"/>
              <a:t>j</a:t>
            </a:r>
            <a:r>
              <a:t> to P</a:t>
            </a:r>
            <a:r>
              <a:rPr baseline="-5999"/>
              <a:t>i</a:t>
            </a:r>
          </a:p>
          <a:p>
            <a:pPr lvl="5" marL="2777671" indent="-326571">
              <a:spcBef>
                <a:spcPts val="2400"/>
              </a:spcBef>
              <a:defRPr sz="2400"/>
            </a:pPr>
            <a:r>
              <a:t>Denoted by R</a:t>
            </a:r>
            <a:r>
              <a:rPr baseline="-5999"/>
              <a:t>j</a:t>
            </a:r>
            <a:r>
              <a:t> → P</a:t>
            </a:r>
            <a:r>
              <a:rPr baseline="-5999"/>
              <a:t>i</a:t>
            </a:r>
          </a:p>
          <a:p>
            <a:pPr lvl="5" marL="2777671" indent="-326571">
              <a:spcBef>
                <a:spcPts val="2400"/>
              </a:spcBef>
              <a:defRPr sz="2400"/>
            </a:pPr>
            <a:r>
              <a:t>An instance of R</a:t>
            </a:r>
            <a:r>
              <a:rPr baseline="-5999"/>
              <a:t>j</a:t>
            </a:r>
            <a:r>
              <a:t> has been allocated to P</a:t>
            </a:r>
            <a:r>
              <a:rPr baseline="-5999"/>
              <a:t>i</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Resource Allocation Graph"/>
          <p:cNvSpPr txBox="1"/>
          <p:nvPr>
            <p:ph type="title"/>
          </p:nvPr>
        </p:nvSpPr>
        <p:spPr>
          <a:prstGeom prst="rect">
            <a:avLst/>
          </a:prstGeom>
        </p:spPr>
        <p:txBody>
          <a:bodyPr/>
          <a:lstStyle>
            <a:lvl1pPr>
              <a:defRPr sz="6400"/>
            </a:lvl1pPr>
          </a:lstStyle>
          <a:p>
            <a:pPr/>
            <a:r>
              <a:t>Resource Allocation Graph</a:t>
            </a:r>
          </a:p>
        </p:txBody>
      </p:sp>
      <p:pic>
        <p:nvPicPr>
          <p:cNvPr id="206" name="image9.gif" descr="image9.gif"/>
          <p:cNvPicPr>
            <a:picLocks noChangeAspect="1"/>
          </p:cNvPicPr>
          <p:nvPr/>
        </p:nvPicPr>
        <p:blipFill>
          <a:blip r:embed="rId2">
            <a:extLst/>
          </a:blip>
          <a:stretch>
            <a:fillRect/>
          </a:stretch>
        </p:blipFill>
        <p:spPr>
          <a:xfrm>
            <a:off x="2120900" y="4787900"/>
            <a:ext cx="8752114" cy="1676400"/>
          </a:xfrm>
          <a:prstGeom prst="rect">
            <a:avLst/>
          </a:prstGeom>
          <a:ln w="12700"/>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Resource Allocation Graph"/>
          <p:cNvSpPr txBox="1"/>
          <p:nvPr>
            <p:ph type="title"/>
          </p:nvPr>
        </p:nvSpPr>
        <p:spPr>
          <a:prstGeom prst="rect">
            <a:avLst/>
          </a:prstGeom>
        </p:spPr>
        <p:txBody>
          <a:bodyPr/>
          <a:lstStyle>
            <a:lvl1pPr>
              <a:defRPr sz="6400"/>
            </a:lvl1pPr>
          </a:lstStyle>
          <a:p>
            <a:pPr/>
            <a:r>
              <a:t>Resource Allocation Graph</a:t>
            </a:r>
          </a:p>
        </p:txBody>
      </p:sp>
      <p:sp>
        <p:nvSpPr>
          <p:cNvPr id="209" name="No cycles in the graph means no deadlock…"/>
          <p:cNvSpPr txBox="1"/>
          <p:nvPr>
            <p:ph type="body" idx="1"/>
          </p:nvPr>
        </p:nvSpPr>
        <p:spPr>
          <a:xfrm>
            <a:off x="1270000" y="2768600"/>
            <a:ext cx="10972800" cy="6248400"/>
          </a:xfrm>
          <a:prstGeom prst="rect">
            <a:avLst/>
          </a:prstGeom>
        </p:spPr>
        <p:txBody>
          <a:bodyPr/>
          <a:lstStyle/>
          <a:p>
            <a:pPr lvl="2" marL="1533071" indent="-326571">
              <a:defRPr sz="2400"/>
            </a:pPr>
            <a:r>
              <a:t>No cycles in the graph means no deadlock</a:t>
            </a:r>
          </a:p>
          <a:p>
            <a:pPr lvl="2" marL="1533071" indent="-326571">
              <a:defRPr sz="2400"/>
            </a:pPr>
            <a:r>
              <a:t>Cycle in the graph means could be a deadlock</a:t>
            </a:r>
          </a:p>
          <a:p>
            <a:pPr lvl="3" marL="1977571" indent="-326571">
              <a:defRPr sz="2400"/>
            </a:pPr>
            <a:r>
              <a:t>If not multiple instances</a:t>
            </a:r>
          </a:p>
          <a:p>
            <a:pPr lvl="2" marL="1533071" indent="-326571">
              <a:defRPr sz="2400"/>
            </a:pPr>
            <a:r>
              <a:t>Each process involved in a cycle is deadlocked</a:t>
            </a:r>
          </a:p>
          <a:p>
            <a:pPr lvl="2" marL="1533071" indent="-326571">
              <a:defRPr sz="2400"/>
            </a:pPr>
            <a:r>
              <a:t>Cycle in the resource graph is necessary and sufficient condition for existence of a deadlock</a:t>
            </a:r>
          </a:p>
          <a:p>
            <a:pPr lvl="2" marL="1533071" indent="-326571">
              <a:defRPr sz="2400"/>
            </a:pPr>
            <a:r>
              <a:t>If a graph contains several instances of a resource type, a cycle is not a sufficient condition for a deadlock but it is a necessary condition</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Resource Allocation Graph"/>
          <p:cNvSpPr txBox="1"/>
          <p:nvPr>
            <p:ph type="title"/>
          </p:nvPr>
        </p:nvSpPr>
        <p:spPr>
          <a:prstGeom prst="rect">
            <a:avLst/>
          </a:prstGeom>
        </p:spPr>
        <p:txBody>
          <a:bodyPr/>
          <a:lstStyle>
            <a:lvl1pPr>
              <a:defRPr sz="6400"/>
            </a:lvl1pPr>
          </a:lstStyle>
          <a:p>
            <a:pPr/>
            <a:r>
              <a:t>Resource Allocation Graph</a:t>
            </a:r>
          </a:p>
        </p:txBody>
      </p:sp>
      <p:pic>
        <p:nvPicPr>
          <p:cNvPr id="212" name="image10.gif" descr="image10.gif"/>
          <p:cNvPicPr>
            <a:picLocks noChangeAspect="1"/>
          </p:cNvPicPr>
          <p:nvPr/>
        </p:nvPicPr>
        <p:blipFill>
          <a:blip r:embed="rId2">
            <a:extLst/>
          </a:blip>
          <a:stretch>
            <a:fillRect/>
          </a:stretch>
        </p:blipFill>
        <p:spPr>
          <a:xfrm>
            <a:off x="2247900" y="3187700"/>
            <a:ext cx="8515251" cy="4624388"/>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212"/>
                                        </p:tgtEl>
                                        <p:attrNameLst>
                                          <p:attrName>style.visibility</p:attrName>
                                        </p:attrNameLst>
                                      </p:cBhvr>
                                      <p:to>
                                        <p:strVal val="visible"/>
                                      </p:to>
                                    </p:set>
                                    <p:anim calcmode="lin" valueType="num">
                                      <p:cBhvr>
                                        <p:cTn id="7" dur="1000" fill="hold"/>
                                        <p:tgtEl>
                                          <p:spTgt spid="212"/>
                                        </p:tgtEl>
                                        <p:attrNameLst>
                                          <p:attrName>ppt_w</p:attrName>
                                        </p:attrNameLst>
                                      </p:cBhvr>
                                      <p:tavLst>
                                        <p:tav tm="0">
                                          <p:val>
                                            <p:fltVal val="0"/>
                                          </p:val>
                                        </p:tav>
                                        <p:tav tm="100000">
                                          <p:val>
                                            <p:strVal val="#ppt_w"/>
                                          </p:val>
                                        </p:tav>
                                      </p:tavLst>
                                    </p:anim>
                                    <p:anim calcmode="lin" valueType="num">
                                      <p:cBhvr>
                                        <p:cTn id="8" dur="1000" fill="hold"/>
                                        <p:tgtEl>
                                          <p:spTgt spid="212"/>
                                        </p:tgtEl>
                                        <p:attrNameLst>
                                          <p:attrName>ppt_h</p:attrName>
                                        </p:attrNameLst>
                                      </p:cBhvr>
                                      <p:tavLst>
                                        <p:tav tm="0">
                                          <p:val>
                                            <p:fltVal val="0"/>
                                          </p:val>
                                        </p:tav>
                                        <p:tav tm="100000">
                                          <p:val>
                                            <p:strVal val="#ppt_h"/>
                                          </p:val>
                                        </p:tav>
                                      </p:tavLst>
                                    </p:anim>
                                    <p:anim calcmode="lin" valueType="num">
                                      <p:cBhvr>
                                        <p:cTn id="9" dur="1000" fill="hold"/>
                                        <p:tgtEl>
                                          <p:spTgt spid="21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1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2"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Resource Allocation Graph"/>
          <p:cNvSpPr txBox="1"/>
          <p:nvPr>
            <p:ph type="title"/>
          </p:nvPr>
        </p:nvSpPr>
        <p:spPr>
          <a:prstGeom prst="rect">
            <a:avLst/>
          </a:prstGeom>
        </p:spPr>
        <p:txBody>
          <a:bodyPr/>
          <a:lstStyle>
            <a:lvl1pPr>
              <a:defRPr sz="6400"/>
            </a:lvl1pPr>
          </a:lstStyle>
          <a:p>
            <a:pPr/>
            <a:r>
              <a:t>Resource Allocation Graph</a:t>
            </a:r>
          </a:p>
        </p:txBody>
      </p:sp>
      <p:pic>
        <p:nvPicPr>
          <p:cNvPr id="215" name="image11.gif" descr="image11.gif"/>
          <p:cNvPicPr>
            <a:picLocks noChangeAspect="1"/>
          </p:cNvPicPr>
          <p:nvPr/>
        </p:nvPicPr>
        <p:blipFill>
          <a:blip r:embed="rId2">
            <a:extLst/>
          </a:blip>
          <a:stretch>
            <a:fillRect/>
          </a:stretch>
        </p:blipFill>
        <p:spPr>
          <a:xfrm>
            <a:off x="3124200" y="2717800"/>
            <a:ext cx="6737685" cy="53340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215"/>
                                        </p:tgtEl>
                                        <p:attrNameLst>
                                          <p:attrName>style.visibility</p:attrName>
                                        </p:attrNameLst>
                                      </p:cBhvr>
                                      <p:to>
                                        <p:strVal val="visible"/>
                                      </p:to>
                                    </p:set>
                                    <p:anim calcmode="lin" valueType="num">
                                      <p:cBhvr>
                                        <p:cTn id="7" dur="1000" fill="hold"/>
                                        <p:tgtEl>
                                          <p:spTgt spid="215"/>
                                        </p:tgtEl>
                                        <p:attrNameLst>
                                          <p:attrName>ppt_w</p:attrName>
                                        </p:attrNameLst>
                                      </p:cBhvr>
                                      <p:tavLst>
                                        <p:tav tm="0">
                                          <p:val>
                                            <p:fltVal val="0"/>
                                          </p:val>
                                        </p:tav>
                                        <p:tav tm="100000">
                                          <p:val>
                                            <p:strVal val="#ppt_w"/>
                                          </p:val>
                                        </p:tav>
                                      </p:tavLst>
                                    </p:anim>
                                    <p:anim calcmode="lin" valueType="num">
                                      <p:cBhvr>
                                        <p:cTn id="8" dur="1000" fill="hold"/>
                                        <p:tgtEl>
                                          <p:spTgt spid="215"/>
                                        </p:tgtEl>
                                        <p:attrNameLst>
                                          <p:attrName>ppt_h</p:attrName>
                                        </p:attrNameLst>
                                      </p:cBhvr>
                                      <p:tavLst>
                                        <p:tav tm="0">
                                          <p:val>
                                            <p:fltVal val="0"/>
                                          </p:val>
                                        </p:tav>
                                        <p:tav tm="100000">
                                          <p:val>
                                            <p:strVal val="#ppt_h"/>
                                          </p:val>
                                        </p:tav>
                                      </p:tavLst>
                                    </p:anim>
                                    <p:anim calcmode="lin" valueType="num">
                                      <p:cBhvr>
                                        <p:cTn id="9" dur="1000" fill="hold"/>
                                        <p:tgtEl>
                                          <p:spTgt spid="21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1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5" grpId="1"/>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Deadlock Characterization"/>
          <p:cNvSpPr txBox="1"/>
          <p:nvPr>
            <p:ph type="title"/>
          </p:nvPr>
        </p:nvSpPr>
        <p:spPr>
          <a:prstGeom prst="rect">
            <a:avLst/>
          </a:prstGeom>
        </p:spPr>
        <p:txBody>
          <a:bodyPr/>
          <a:lstStyle>
            <a:lvl1pPr>
              <a:defRPr sz="6400"/>
            </a:lvl1pPr>
          </a:lstStyle>
          <a:p>
            <a:pPr/>
            <a:r>
              <a:t>Deadlock Characterization</a:t>
            </a:r>
          </a:p>
        </p:txBody>
      </p:sp>
      <p:sp>
        <p:nvSpPr>
          <p:cNvPr id="218" name="Four necessary and sufficient conditions for deadlock…"/>
          <p:cNvSpPr txBox="1"/>
          <p:nvPr>
            <p:ph type="body" idx="1"/>
          </p:nvPr>
        </p:nvSpPr>
        <p:spPr>
          <a:xfrm>
            <a:off x="1270000" y="2768600"/>
            <a:ext cx="10972800" cy="6845300"/>
          </a:xfrm>
          <a:prstGeom prst="rect">
            <a:avLst/>
          </a:prstGeom>
        </p:spPr>
        <p:txBody>
          <a:bodyPr/>
          <a:lstStyle/>
          <a:p>
            <a:pPr lvl="2" marL="1533071" indent="-326571">
              <a:defRPr sz="2400"/>
            </a:pPr>
            <a:r>
              <a:t>Four necessary and sufficient conditions for deadlock</a:t>
            </a:r>
          </a:p>
          <a:p>
            <a:pPr lvl="3" marL="1977571" indent="-326571">
              <a:defRPr sz="2400"/>
            </a:pPr>
            <a:r>
              <a:t>Mutual Exclusion</a:t>
            </a:r>
          </a:p>
          <a:p>
            <a:pPr lvl="4" marL="2422071" indent="-326571">
              <a:defRPr sz="2400"/>
            </a:pPr>
            <a:r>
              <a:t>Only one process may use a resource at a time</a:t>
            </a:r>
          </a:p>
          <a:p>
            <a:pPr lvl="4" marL="2422071" indent="-326571">
              <a:defRPr sz="2400"/>
            </a:pPr>
            <a:r>
              <a:t>At least one resource must be held in a non-sharable mode</a:t>
            </a:r>
          </a:p>
          <a:p>
            <a:pPr lvl="3" marL="1977571" indent="-326571">
              <a:defRPr sz="2400"/>
            </a:pPr>
            <a:r>
              <a:t>Hold and wait</a:t>
            </a:r>
          </a:p>
          <a:p>
            <a:pPr lvl="4" marL="2422071" indent="-326571">
              <a:defRPr sz="2400"/>
            </a:pPr>
            <a:r>
              <a:t>Existence of a process holding at least one resource and waiting to acquire additional resources currently held by other processes</a:t>
            </a:r>
          </a:p>
          <a:p>
            <a:pPr lvl="3" marL="1977571" indent="-326571">
              <a:defRPr sz="2400"/>
            </a:pPr>
            <a:r>
              <a:t>No preemption</a:t>
            </a:r>
          </a:p>
          <a:p>
            <a:pPr lvl="4" marL="2422071" indent="-326571">
              <a:defRPr sz="2400"/>
            </a:pPr>
            <a:r>
              <a:t>Resources cannot be preempted by system</a:t>
            </a:r>
          </a:p>
          <a:p>
            <a:pPr lvl="3" marL="1977571" indent="-326571">
              <a:defRPr sz="2400"/>
            </a:pPr>
            <a:r>
              <a:t>Circular wait</a:t>
            </a:r>
          </a:p>
          <a:p>
            <a:pPr lvl="4" marL="2422071" indent="-326571">
              <a:defRPr sz="2400"/>
            </a:pPr>
            <a:r>
              <a:t>Processes waiting for resources held by other waiting processes</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Deadlock Detection"/>
          <p:cNvSpPr txBox="1"/>
          <p:nvPr>
            <p:ph type="title"/>
          </p:nvPr>
        </p:nvSpPr>
        <p:spPr>
          <a:prstGeom prst="rect">
            <a:avLst/>
          </a:prstGeom>
        </p:spPr>
        <p:txBody>
          <a:bodyPr/>
          <a:lstStyle>
            <a:lvl1pPr>
              <a:defRPr sz="6400"/>
            </a:lvl1pPr>
          </a:lstStyle>
          <a:p>
            <a:pPr/>
            <a:r>
              <a:t>Deadlock Detection</a:t>
            </a:r>
          </a:p>
        </p:txBody>
      </p:sp>
      <p:sp>
        <p:nvSpPr>
          <p:cNvPr id="221" name="Do not restrict process actions or limit resource access…"/>
          <p:cNvSpPr txBox="1"/>
          <p:nvPr>
            <p:ph type="body" idx="1"/>
          </p:nvPr>
        </p:nvSpPr>
        <p:spPr>
          <a:xfrm>
            <a:off x="1270000" y="2768600"/>
            <a:ext cx="10972800" cy="6248400"/>
          </a:xfrm>
          <a:prstGeom prst="rect">
            <a:avLst/>
          </a:prstGeom>
        </p:spPr>
        <p:txBody>
          <a:bodyPr/>
          <a:lstStyle/>
          <a:p>
            <a:pPr lvl="2" marL="1533071" indent="-326571">
              <a:defRPr sz="2400"/>
            </a:pPr>
            <a:r>
              <a:t>Do not restrict process actions or limit resource access</a:t>
            </a:r>
          </a:p>
          <a:p>
            <a:pPr lvl="3" marL="1977571" indent="-326571">
              <a:defRPr sz="2400"/>
            </a:pPr>
            <a:r>
              <a:t>If resources are available, satisfy requests</a:t>
            </a:r>
          </a:p>
          <a:p>
            <a:pPr lvl="2" marL="1533071" indent="-326571">
              <a:defRPr sz="2400"/>
            </a:pPr>
            <a:r>
              <a:t>Periodically detect circular wait condition</a:t>
            </a:r>
          </a:p>
          <a:p>
            <a:pPr lvl="3" marL="1977571" indent="-326571">
              <a:defRPr sz="2400"/>
            </a:pPr>
            <a:r>
              <a:t>Using a deadlock detection algorithm</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Deadlock Detection"/>
          <p:cNvSpPr txBox="1"/>
          <p:nvPr>
            <p:ph type="title"/>
          </p:nvPr>
        </p:nvSpPr>
        <p:spPr>
          <a:prstGeom prst="rect">
            <a:avLst/>
          </a:prstGeom>
        </p:spPr>
        <p:txBody>
          <a:bodyPr/>
          <a:lstStyle>
            <a:lvl1pPr>
              <a:defRPr sz="6400"/>
            </a:lvl1pPr>
          </a:lstStyle>
          <a:p>
            <a:pPr/>
            <a:r>
              <a:t>Deadlock Detection</a:t>
            </a:r>
          </a:p>
        </p:txBody>
      </p:sp>
      <p:sp>
        <p:nvSpPr>
          <p:cNvPr id="224" name="Simulate the most favored execution of each unblocked process…"/>
          <p:cNvSpPr txBox="1"/>
          <p:nvPr>
            <p:ph type="body" idx="1"/>
          </p:nvPr>
        </p:nvSpPr>
        <p:spPr>
          <a:xfrm>
            <a:off x="1270000" y="2768600"/>
            <a:ext cx="10972800" cy="6248400"/>
          </a:xfrm>
          <a:prstGeom prst="rect">
            <a:avLst/>
          </a:prstGeom>
        </p:spPr>
        <p:txBody>
          <a:bodyPr/>
          <a:lstStyle/>
          <a:p>
            <a:pPr lvl="2" marL="1533071" indent="-326571">
              <a:defRPr sz="2400"/>
            </a:pPr>
            <a:r>
              <a:t>Simulate the </a:t>
            </a:r>
            <a:r>
              <a:rPr i="1"/>
              <a:t>most favored execution</a:t>
            </a:r>
            <a:r>
              <a:t> of each unblocked process</a:t>
            </a:r>
          </a:p>
          <a:p>
            <a:pPr lvl="3" marL="1977571" indent="-326571">
              <a:defRPr sz="2400"/>
            </a:pPr>
            <a:r>
              <a:t>An unblocked process may acquire all the needed resources</a:t>
            </a:r>
          </a:p>
          <a:p>
            <a:pPr lvl="3" marL="1977571" indent="-326571">
              <a:defRPr sz="2400"/>
            </a:pPr>
            <a:r>
              <a:t>Run and then release all the acquired resources</a:t>
            </a:r>
          </a:p>
          <a:p>
            <a:pPr lvl="3" marL="1977571" indent="-326571">
              <a:defRPr sz="2400"/>
            </a:pPr>
            <a:r>
              <a:t>Remain dormant thereafter</a:t>
            </a:r>
          </a:p>
          <a:p>
            <a:pPr lvl="3" marL="1977571" indent="-326571">
              <a:defRPr sz="2400"/>
            </a:pPr>
            <a:r>
              <a:t>Released resources may wake up some previously blocked process</a:t>
            </a:r>
          </a:p>
          <a:p>
            <a:pPr lvl="3" marL="1977571" indent="-326571">
              <a:defRPr sz="2400"/>
            </a:pPr>
            <a:r>
              <a:t>Continue the above steps as long as possible</a:t>
            </a:r>
          </a:p>
          <a:p>
            <a:pPr lvl="3" marL="1977571" indent="-326571">
              <a:defRPr sz="2400"/>
            </a:pPr>
            <a:r>
              <a:t>If any blocked processes remain, they are deadlocked</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Deadlock Detection"/>
          <p:cNvSpPr txBox="1"/>
          <p:nvPr>
            <p:ph type="title"/>
          </p:nvPr>
        </p:nvSpPr>
        <p:spPr>
          <a:prstGeom prst="rect">
            <a:avLst/>
          </a:prstGeom>
        </p:spPr>
        <p:txBody>
          <a:bodyPr/>
          <a:lstStyle>
            <a:lvl1pPr>
              <a:defRPr sz="6400"/>
            </a:lvl1pPr>
          </a:lstStyle>
          <a:p>
            <a:pPr/>
            <a:r>
              <a:t>Deadlock Detection</a:t>
            </a:r>
          </a:p>
        </p:txBody>
      </p:sp>
      <p:sp>
        <p:nvSpPr>
          <p:cNvPr id="227" name="Reduction of resource graphs…"/>
          <p:cNvSpPr txBox="1"/>
          <p:nvPr>
            <p:ph type="body" idx="1"/>
          </p:nvPr>
        </p:nvSpPr>
        <p:spPr>
          <a:xfrm>
            <a:off x="1270000" y="2768600"/>
            <a:ext cx="10972800" cy="6248400"/>
          </a:xfrm>
          <a:prstGeom prst="rect">
            <a:avLst/>
          </a:prstGeom>
        </p:spPr>
        <p:txBody>
          <a:bodyPr/>
          <a:lstStyle/>
          <a:p>
            <a:pPr lvl="2" marL="1533071" indent="-326571">
              <a:defRPr sz="2400"/>
            </a:pPr>
            <a:r>
              <a:t>Reduction of resource graphs</a:t>
            </a:r>
          </a:p>
          <a:p>
            <a:pPr lvl="3" marL="1977571" indent="-326571">
              <a:defRPr sz="2400"/>
            </a:pPr>
            <a:r>
              <a:t>Process blocked if it cannot progress by either of the following operations</a:t>
            </a:r>
          </a:p>
          <a:p>
            <a:pPr lvl="4" marL="2422071" indent="-326571">
              <a:defRPr sz="2400"/>
            </a:pPr>
            <a:r>
              <a:t>Request</a:t>
            </a:r>
          </a:p>
          <a:p>
            <a:pPr lvl="4" marL="2422071" indent="-326571">
              <a:defRPr sz="2400"/>
            </a:pPr>
            <a:r>
              <a:t>Acquisition</a:t>
            </a:r>
          </a:p>
          <a:p>
            <a:pPr lvl="4" marL="2422071" indent="-326571">
              <a:defRPr sz="2400"/>
            </a:pPr>
            <a:r>
              <a:t>Release</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Deadlock Detection"/>
          <p:cNvSpPr txBox="1"/>
          <p:nvPr>
            <p:ph type="title"/>
          </p:nvPr>
        </p:nvSpPr>
        <p:spPr>
          <a:prstGeom prst="rect">
            <a:avLst/>
          </a:prstGeom>
        </p:spPr>
        <p:txBody>
          <a:bodyPr/>
          <a:lstStyle>
            <a:lvl1pPr>
              <a:defRPr sz="6400"/>
            </a:lvl1pPr>
          </a:lstStyle>
          <a:p>
            <a:pPr/>
            <a:r>
              <a:t>Deadlock Detection</a:t>
            </a:r>
          </a:p>
        </p:txBody>
      </p:sp>
      <p:sp>
        <p:nvSpPr>
          <p:cNvPr id="230" name="Reduction of resource graph…"/>
          <p:cNvSpPr txBox="1"/>
          <p:nvPr>
            <p:ph type="body" idx="1"/>
          </p:nvPr>
        </p:nvSpPr>
        <p:spPr>
          <a:xfrm>
            <a:off x="1270000" y="2768600"/>
            <a:ext cx="10972800" cy="6248400"/>
          </a:xfrm>
          <a:prstGeom prst="rect">
            <a:avLst/>
          </a:prstGeom>
        </p:spPr>
        <p:txBody>
          <a:bodyPr/>
          <a:lstStyle/>
          <a:p>
            <a:pPr lvl="2" marL="1533071" indent="-326571">
              <a:defRPr sz="2400"/>
            </a:pPr>
            <a:r>
              <a:t>Reduction of resource graph</a:t>
            </a:r>
          </a:p>
          <a:p>
            <a:pPr lvl="3" marL="1977571" indent="-326571">
              <a:defRPr sz="2400"/>
            </a:pPr>
            <a:r>
              <a:t>Reduced by a process p</a:t>
            </a:r>
            <a:r>
              <a:rPr baseline="-5999"/>
              <a:t>i</a:t>
            </a:r>
          </a:p>
          <a:p>
            <a:pPr lvl="4" marL="2422071" indent="-326571">
              <a:defRPr sz="2400"/>
            </a:pPr>
            <a:r>
              <a:t>by removing all edges to and from p</a:t>
            </a:r>
            <a:r>
              <a:rPr baseline="-5999"/>
              <a:t>i</a:t>
            </a:r>
          </a:p>
          <a:p>
            <a:pPr lvl="4" marL="2422071" indent="-326571">
              <a:defRPr sz="2400"/>
            </a:pPr>
            <a:r>
              <a:t>p</a:t>
            </a:r>
            <a:r>
              <a:rPr baseline="-5999"/>
              <a:t>i</a:t>
            </a:r>
            <a:r>
              <a:t> is neither blocked nor isolated node</a:t>
            </a:r>
          </a:p>
          <a:p>
            <a:pPr lvl="3" marL="1977571" indent="-326571">
              <a:defRPr sz="2400"/>
            </a:pPr>
            <a:r>
              <a:t>After reduction, p</a:t>
            </a:r>
            <a:r>
              <a:rPr baseline="-5999"/>
              <a:t>i</a:t>
            </a:r>
            <a:r>
              <a:t> becomes an isolated node</a:t>
            </a:r>
          </a:p>
          <a:p>
            <a:pPr lvl="3" marL="1977571" indent="-326571">
              <a:defRPr sz="2400"/>
            </a:pPr>
            <a:r>
              <a:t>Graph is irreducible if it cannot be reduced by any process</a:t>
            </a:r>
          </a:p>
          <a:p>
            <a:pPr lvl="3" marL="1977571" indent="-326571">
              <a:defRPr sz="2400"/>
            </a:pPr>
            <a:r>
              <a:t>Completely reducible if a sequence of reductions deletes </a:t>
            </a:r>
            <a:r>
              <a:rPr i="1"/>
              <a:t>all</a:t>
            </a:r>
            <a:r>
              <a:t> the edges in the graph</a:t>
            </a:r>
          </a:p>
          <a:p>
            <a:pPr lvl="2" marL="1533071" indent="-326571">
              <a:defRPr sz="2400"/>
            </a:pPr>
            <a:r>
              <a:t>Lemma 1. All reduction sequences of a given resource graph lead to the same irreducible graph</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Deadlock Detection Algorithm"/>
          <p:cNvSpPr txBox="1"/>
          <p:nvPr>
            <p:ph type="title"/>
          </p:nvPr>
        </p:nvSpPr>
        <p:spPr>
          <a:prstGeom prst="rect">
            <a:avLst/>
          </a:prstGeom>
        </p:spPr>
        <p:txBody>
          <a:bodyPr/>
          <a:lstStyle>
            <a:lvl1pPr>
              <a:defRPr sz="6400"/>
            </a:lvl1pPr>
          </a:lstStyle>
          <a:p>
            <a:pPr/>
            <a:r>
              <a:t>Deadlock Detection Algorithm</a:t>
            </a:r>
          </a:p>
        </p:txBody>
      </p:sp>
      <p:sp>
        <p:nvSpPr>
          <p:cNvPr id="233" name="Algorithm will attempt to reduce our resource graph…"/>
          <p:cNvSpPr txBox="1"/>
          <p:nvPr>
            <p:ph type="body" idx="1"/>
          </p:nvPr>
        </p:nvSpPr>
        <p:spPr>
          <a:xfrm>
            <a:off x="1270000" y="2768600"/>
            <a:ext cx="10972800" cy="6248400"/>
          </a:xfrm>
          <a:prstGeom prst="rect">
            <a:avLst/>
          </a:prstGeom>
        </p:spPr>
        <p:txBody>
          <a:bodyPr/>
          <a:lstStyle/>
          <a:p>
            <a:pPr lvl="2" marL="1533071" indent="-326571">
              <a:defRPr sz="2400"/>
            </a:pPr>
            <a:r>
              <a:t>Algorithm will attempt to reduce our resource graph</a:t>
            </a:r>
          </a:p>
          <a:p>
            <a:pPr lvl="2" marL="1533071" indent="-326571">
              <a:defRPr sz="2400"/>
            </a:pPr>
            <a:r>
              <a:t>Four lists:</a:t>
            </a:r>
          </a:p>
          <a:p>
            <a:pPr lvl="3" marL="1977571" indent="-326571">
              <a:defRPr sz="2400"/>
            </a:pPr>
            <a:r>
              <a:t>Resources requested by each process (Request matrix Q)</a:t>
            </a:r>
          </a:p>
          <a:p>
            <a:pPr lvl="3" marL="1977571" indent="-326571">
              <a:defRPr sz="2400"/>
            </a:pPr>
            <a:r>
              <a:t>Resources allocated to each process (Allocation matrix A)</a:t>
            </a:r>
          </a:p>
          <a:p>
            <a:pPr lvl="3" marL="1977571" indent="-326571">
              <a:defRPr sz="2400"/>
            </a:pPr>
            <a:r>
              <a:t>How many total resources (of each) we have (Resource vector)</a:t>
            </a:r>
          </a:p>
          <a:p>
            <a:pPr lvl="3" marL="1977571" indent="-326571">
              <a:defRPr sz="2400"/>
            </a:pPr>
            <a:r>
              <a:t>How many we have left to allocate (Allocation vector)</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Deadlock Detection Algorithm"/>
          <p:cNvSpPr txBox="1"/>
          <p:nvPr>
            <p:ph type="title"/>
          </p:nvPr>
        </p:nvSpPr>
        <p:spPr>
          <a:prstGeom prst="rect">
            <a:avLst/>
          </a:prstGeom>
        </p:spPr>
        <p:txBody>
          <a:bodyPr/>
          <a:lstStyle>
            <a:lvl1pPr>
              <a:defRPr sz="6400"/>
            </a:lvl1pPr>
          </a:lstStyle>
          <a:p>
            <a:pPr/>
            <a:r>
              <a:t>Deadlock Detection Algorithm</a:t>
            </a:r>
          </a:p>
        </p:txBody>
      </p:sp>
      <p:sp>
        <p:nvSpPr>
          <p:cNvPr id="236" name="Algorithm will attempt to reduce our resource graph…"/>
          <p:cNvSpPr txBox="1"/>
          <p:nvPr>
            <p:ph type="body" idx="1"/>
          </p:nvPr>
        </p:nvSpPr>
        <p:spPr>
          <a:xfrm>
            <a:off x="1270000" y="2768600"/>
            <a:ext cx="10972800" cy="6248400"/>
          </a:xfrm>
          <a:prstGeom prst="rect">
            <a:avLst/>
          </a:prstGeom>
        </p:spPr>
        <p:txBody>
          <a:bodyPr/>
          <a:lstStyle/>
          <a:p>
            <a:pPr lvl="1" marL="1088571" indent="-326571">
              <a:defRPr sz="2400"/>
            </a:pPr>
            <a:r>
              <a:t>Algorithm will attempt to reduce our resource graph</a:t>
            </a:r>
          </a:p>
          <a:p>
            <a:pPr lvl="1" marL="1088571" indent="-326571">
              <a:defRPr sz="2400"/>
            </a:pPr>
            <a:r>
              <a:t>Works by looping through process request matrix Q</a:t>
            </a:r>
          </a:p>
          <a:p>
            <a:pPr lvl="2" marL="1533071" indent="-326571">
              <a:defRPr sz="2400"/>
            </a:pPr>
            <a:r>
              <a:t>Attempting to satisfy a request</a:t>
            </a:r>
          </a:p>
          <a:p>
            <a:pPr lvl="3" marL="1977571" indent="-326571">
              <a:defRPr sz="2400"/>
            </a:pPr>
            <a:r>
              <a:t>If able to satisfy, can then release all resources</a:t>
            </a:r>
          </a:p>
          <a:p>
            <a:pPr lvl="1" marL="1088571" indent="-326571">
              <a:defRPr sz="2400"/>
            </a:pPr>
            <a:r>
              <a:t>If unable to clear out request matrix, then we have detected a deadlock</a:t>
            </a:r>
          </a:p>
          <a:p>
            <a:pPr lvl="2" marL="1533071" indent="-326571">
              <a:defRPr sz="2400"/>
            </a:pPr>
            <a:r>
              <a:t>Most favorable scenario did not result in system being able to finish</a:t>
            </a:r>
          </a:p>
          <a:p>
            <a:pPr lvl="2" marL="1533071" indent="-326571">
              <a:defRPr sz="2400"/>
            </a:pPr>
            <a:r>
              <a:t>Only processes left over are guaranteed to result in deadlock</a:t>
            </a:r>
          </a:p>
          <a:p>
            <a:pPr lvl="1" marL="1088571" indent="-326571">
              <a:defRPr sz="2400"/>
            </a:pPr>
            <a:r>
              <a:t>For n processes and m resources, worst case execution time of </a:t>
            </a:r>
            <a:r>
              <a:rPr i="1"/>
              <a:t>mn</a:t>
            </a:r>
            <a:r>
              <a:rPr baseline="31999" i="1"/>
              <a:t>2</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Deadlock Detection Algorithm"/>
          <p:cNvSpPr txBox="1"/>
          <p:nvPr>
            <p:ph type="title"/>
          </p:nvPr>
        </p:nvSpPr>
        <p:spPr>
          <a:prstGeom prst="rect">
            <a:avLst/>
          </a:prstGeom>
        </p:spPr>
        <p:txBody>
          <a:bodyPr/>
          <a:lstStyle>
            <a:lvl1pPr>
              <a:defRPr sz="6400"/>
            </a:lvl1pPr>
          </a:lstStyle>
          <a:p>
            <a:pPr/>
            <a:r>
              <a:t>Deadlock Detection Algorithm</a:t>
            </a:r>
          </a:p>
        </p:txBody>
      </p:sp>
      <p:pic>
        <p:nvPicPr>
          <p:cNvPr id="239" name="image19.gif" descr="image19.gif"/>
          <p:cNvPicPr>
            <a:picLocks noChangeAspect="1"/>
          </p:cNvPicPr>
          <p:nvPr/>
        </p:nvPicPr>
        <p:blipFill>
          <a:blip r:embed="rId2">
            <a:extLst/>
          </a:blip>
          <a:stretch>
            <a:fillRect/>
          </a:stretch>
        </p:blipFill>
        <p:spPr>
          <a:xfrm>
            <a:off x="901700" y="3644900"/>
            <a:ext cx="10731500" cy="3734315"/>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239"/>
                                        </p:tgtEl>
                                        <p:attrNameLst>
                                          <p:attrName>style.visibility</p:attrName>
                                        </p:attrNameLst>
                                      </p:cBhvr>
                                      <p:to>
                                        <p:strVal val="visible"/>
                                      </p:to>
                                    </p:set>
                                    <p:anim calcmode="lin" valueType="num">
                                      <p:cBhvr>
                                        <p:cTn id="7" dur="1000" fill="hold"/>
                                        <p:tgtEl>
                                          <p:spTgt spid="239"/>
                                        </p:tgtEl>
                                        <p:attrNameLst>
                                          <p:attrName>ppt_w</p:attrName>
                                        </p:attrNameLst>
                                      </p:cBhvr>
                                      <p:tavLst>
                                        <p:tav tm="0">
                                          <p:val>
                                            <p:fltVal val="0"/>
                                          </p:val>
                                        </p:tav>
                                        <p:tav tm="100000">
                                          <p:val>
                                            <p:strVal val="#ppt_w"/>
                                          </p:val>
                                        </p:tav>
                                      </p:tavLst>
                                    </p:anim>
                                    <p:anim calcmode="lin" valueType="num">
                                      <p:cBhvr>
                                        <p:cTn id="8" dur="1000" fill="hold"/>
                                        <p:tgtEl>
                                          <p:spTgt spid="239"/>
                                        </p:tgtEl>
                                        <p:attrNameLst>
                                          <p:attrName>ppt_h</p:attrName>
                                        </p:attrNameLst>
                                      </p:cBhvr>
                                      <p:tavLst>
                                        <p:tav tm="0">
                                          <p:val>
                                            <p:fltVal val="0"/>
                                          </p:val>
                                        </p:tav>
                                        <p:tav tm="100000">
                                          <p:val>
                                            <p:strVal val="#ppt_h"/>
                                          </p:val>
                                        </p:tav>
                                      </p:tavLst>
                                    </p:anim>
                                    <p:anim calcmode="lin" valueType="num">
                                      <p:cBhvr>
                                        <p:cTn id="9" dur="1000" fill="hold"/>
                                        <p:tgtEl>
                                          <p:spTgt spid="23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3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9" grpId="1"/>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Deadlock Detection Algorithm"/>
          <p:cNvSpPr txBox="1"/>
          <p:nvPr>
            <p:ph type="title"/>
          </p:nvPr>
        </p:nvSpPr>
        <p:spPr>
          <a:xfrm>
            <a:off x="1270000" y="254000"/>
            <a:ext cx="10464800" cy="1536700"/>
          </a:xfrm>
          <a:prstGeom prst="rect">
            <a:avLst/>
          </a:prstGeom>
        </p:spPr>
        <p:txBody>
          <a:bodyPr/>
          <a:lstStyle>
            <a:lvl1pPr>
              <a:defRPr sz="6400"/>
            </a:lvl1pPr>
          </a:lstStyle>
          <a:p>
            <a:pPr/>
            <a:r>
              <a:t>Deadlock Detection Algorithm</a:t>
            </a:r>
          </a:p>
        </p:txBody>
      </p:sp>
      <p:sp>
        <p:nvSpPr>
          <p:cNvPr id="242" name="bool deadlock( const int *available, const int m, const int n, const int *request, const int *allocated) {…"/>
          <p:cNvSpPr/>
          <p:nvPr/>
        </p:nvSpPr>
        <p:spPr>
          <a:xfrm>
            <a:off x="674222" y="2101850"/>
            <a:ext cx="11430001" cy="680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1400">
                <a:latin typeface="Courier New"/>
                <a:ea typeface="Courier New"/>
                <a:cs typeface="Courier New"/>
                <a:sym typeface="Courier New"/>
              </a:defRPr>
            </a:pPr>
            <a:r>
              <a:t>bool deadlock( const int *available, const int m, const int n, const int *request, const int *allocated) {</a:t>
            </a:r>
          </a:p>
          <a:p>
            <a:pPr algn="l">
              <a:defRPr sz="1400">
                <a:latin typeface="Courier New"/>
                <a:ea typeface="Courier New"/>
                <a:cs typeface="Courier New"/>
                <a:sym typeface="Courier New"/>
              </a:defRPr>
            </a:pPr>
            <a:r>
              <a:t>   int work[m];   // m resources</a:t>
            </a:r>
          </a:p>
          <a:p>
            <a:pPr algn="l">
              <a:defRPr sz="1400">
                <a:latin typeface="Courier New"/>
                <a:ea typeface="Courier New"/>
                <a:cs typeface="Courier New"/>
                <a:sym typeface="Courier New"/>
              </a:defRPr>
            </a:pPr>
            <a:r>
              <a:t>   bool finish[n];   // n processes</a:t>
            </a:r>
          </a:p>
          <a:p>
            <a:pPr algn="l">
              <a:defRPr sz="1400">
                <a:latin typeface="Courier New"/>
                <a:ea typeface="Courier New"/>
                <a:cs typeface="Courier New"/>
                <a:sym typeface="Courier New"/>
              </a:defRPr>
            </a:pPr>
          </a:p>
          <a:p>
            <a:pPr algn="l">
              <a:defRPr sz="1400">
                <a:latin typeface="Courier New"/>
                <a:ea typeface="Courier New"/>
                <a:cs typeface="Courier New"/>
                <a:sym typeface="Courier New"/>
              </a:defRPr>
            </a:pPr>
            <a:r>
              <a:t>   for (int i (0); i &lt; m; work[i] = available[i++]);</a:t>
            </a:r>
          </a:p>
          <a:p>
            <a:pPr algn="l">
              <a:defRPr sz="1400">
                <a:latin typeface="Courier New"/>
                <a:ea typeface="Courier New"/>
                <a:cs typeface="Courier New"/>
                <a:sym typeface="Courier New"/>
              </a:defRPr>
            </a:pPr>
            <a:r>
              <a:t>   for (int i (0); i &lt; n; finish[i++]; = false;</a:t>
            </a:r>
          </a:p>
          <a:p>
            <a:pPr algn="l">
              <a:defRPr sz="1400">
                <a:latin typeface="Courier New"/>
                <a:ea typeface="Courier New"/>
                <a:cs typeface="Courier New"/>
                <a:sym typeface="Courier New"/>
              </a:defRPr>
            </a:pPr>
            <a:r>
              <a:t>   </a:t>
            </a:r>
          </a:p>
          <a:p>
            <a:pPr algn="l">
              <a:defRPr sz="1400">
                <a:latin typeface="Courier New"/>
                <a:ea typeface="Courier New"/>
                <a:cs typeface="Courier New"/>
                <a:sym typeface="Courier New"/>
              </a:defRPr>
            </a:pPr>
            <a:r>
              <a:t>   int p (0);</a:t>
            </a:r>
          </a:p>
          <a:p>
            <a:pPr algn="l">
              <a:defRPr sz="1400">
                <a:latin typeface="Courier New"/>
                <a:ea typeface="Courier New"/>
                <a:cs typeface="Courier New"/>
                <a:sym typeface="Courier New"/>
              </a:defRPr>
            </a:pPr>
            <a:r>
              <a:t>   for (; p &lt; n; p++) {</a:t>
            </a:r>
          </a:p>
          <a:p>
            <a:pPr algn="l">
              <a:defRPr sz="1400">
                <a:latin typeface="Courier New"/>
                <a:ea typeface="Courier New"/>
                <a:cs typeface="Courier New"/>
                <a:sym typeface="Courier New"/>
              </a:defRPr>
            </a:pPr>
            <a:r>
              <a:t>      if ( finish[p] ) continue;</a:t>
            </a:r>
          </a:p>
          <a:p>
            <a:pPr algn="l">
              <a:defRPr sz="1400">
                <a:latin typeface="Courier New"/>
                <a:ea typeface="Courier New"/>
                <a:cs typeface="Courier New"/>
                <a:sym typeface="Courier New"/>
              </a:defRPr>
            </a:pPr>
            <a:r>
              <a:t>      if (req_lt_avail (request, work, p, m)) {</a:t>
            </a:r>
          </a:p>
          <a:p>
            <a:pPr algn="l">
              <a:defRPr sz="1400">
                <a:latin typeface="Courier New"/>
                <a:ea typeface="Courier New"/>
                <a:cs typeface="Courier New"/>
                <a:sym typeface="Courier New"/>
              </a:defRPr>
            </a:pPr>
            <a:r>
              <a:t>         finish[p] = true;</a:t>
            </a:r>
          </a:p>
          <a:p>
            <a:pPr algn="l">
              <a:defRPr sz="1400">
                <a:latin typeface="Courier New"/>
                <a:ea typeface="Courier New"/>
                <a:cs typeface="Courier New"/>
                <a:sym typeface="Courier New"/>
              </a:defRPr>
            </a:pPr>
            <a:r>
              <a:t>         for (int i (0); i &lt; m; i++)</a:t>
            </a:r>
          </a:p>
          <a:p>
            <a:pPr algn="l">
              <a:defRPr sz="1400">
                <a:latin typeface="Courier New"/>
                <a:ea typeface="Courier New"/>
                <a:cs typeface="Courier New"/>
                <a:sym typeface="Courier New"/>
              </a:defRPr>
            </a:pPr>
            <a:r>
              <a:t>            work[i] += allocated[p*m+i];</a:t>
            </a:r>
          </a:p>
          <a:p>
            <a:pPr algn="l">
              <a:defRPr sz="1400">
                <a:latin typeface="Courier New"/>
                <a:ea typeface="Courier New"/>
                <a:cs typeface="Courier New"/>
                <a:sym typeface="Courier New"/>
              </a:defRPr>
            </a:pPr>
            <a:r>
              <a:t>         p = -1;</a:t>
            </a:r>
          </a:p>
          <a:p>
            <a:pPr algn="l">
              <a:defRPr sz="1400">
                <a:latin typeface="Courier New"/>
                <a:ea typeface="Courier New"/>
                <a:cs typeface="Courier New"/>
                <a:sym typeface="Courier New"/>
              </a:defRPr>
            </a:pPr>
            <a:r>
              <a:t>      }</a:t>
            </a:r>
          </a:p>
          <a:p>
            <a:pPr algn="l">
              <a:defRPr sz="1400">
                <a:latin typeface="Courier New"/>
                <a:ea typeface="Courier New"/>
                <a:cs typeface="Courier New"/>
                <a:sym typeface="Courier New"/>
              </a:defRPr>
            </a:pPr>
            <a:r>
              <a:t>   }</a:t>
            </a:r>
          </a:p>
          <a:p>
            <a:pPr algn="l">
              <a:defRPr sz="1400">
                <a:latin typeface="Courier New"/>
                <a:ea typeface="Courier New"/>
                <a:cs typeface="Courier New"/>
                <a:sym typeface="Courier New"/>
              </a:defRPr>
            </a:pPr>
          </a:p>
          <a:p>
            <a:pPr algn="l">
              <a:defRPr sz="1400">
                <a:latin typeface="Courier New"/>
                <a:ea typeface="Courier New"/>
                <a:cs typeface="Courier New"/>
                <a:sym typeface="Courier New"/>
              </a:defRPr>
            </a:pPr>
            <a:r>
              <a:t>   for (p = 0; p &lt; n; p++)</a:t>
            </a:r>
          </a:p>
          <a:p>
            <a:pPr algn="l">
              <a:defRPr sz="1400">
                <a:latin typeface="Courier New"/>
                <a:ea typeface="Courier New"/>
                <a:cs typeface="Courier New"/>
                <a:sym typeface="Courier New"/>
              </a:defRPr>
            </a:pPr>
            <a:r>
              <a:t>      if ( !finish[p] )</a:t>
            </a:r>
          </a:p>
          <a:p>
            <a:pPr algn="l">
              <a:defRPr sz="1400">
                <a:latin typeface="Courier New"/>
                <a:ea typeface="Courier New"/>
                <a:cs typeface="Courier New"/>
                <a:sym typeface="Courier New"/>
              </a:defRPr>
            </a:pPr>
            <a:r>
              <a:t>         break;</a:t>
            </a:r>
          </a:p>
          <a:p>
            <a:pPr algn="l">
              <a:defRPr sz="1400">
                <a:latin typeface="Courier New"/>
                <a:ea typeface="Courier New"/>
                <a:cs typeface="Courier New"/>
                <a:sym typeface="Courier New"/>
              </a:defRPr>
            </a:pPr>
          </a:p>
          <a:p>
            <a:pPr algn="l">
              <a:defRPr sz="1400">
                <a:latin typeface="Courier New"/>
                <a:ea typeface="Courier New"/>
                <a:cs typeface="Courier New"/>
                <a:sym typeface="Courier New"/>
              </a:defRPr>
            </a:pPr>
            <a:r>
              <a:t>   return (p != n);</a:t>
            </a:r>
          </a:p>
          <a:p>
            <a:pPr algn="l">
              <a:defRPr sz="1400">
                <a:latin typeface="Courier New"/>
                <a:ea typeface="Courier New"/>
                <a:cs typeface="Courier New"/>
                <a:sym typeface="Courier New"/>
              </a:defRPr>
            </a:pPr>
            <a:r>
              <a:t>}</a:t>
            </a:r>
          </a:p>
          <a:p>
            <a:pPr algn="l">
              <a:defRPr sz="1400">
                <a:latin typeface="Courier New"/>
                <a:ea typeface="Courier New"/>
                <a:cs typeface="Courier New"/>
                <a:sym typeface="Courier New"/>
              </a:defRPr>
            </a:pPr>
          </a:p>
          <a:p>
            <a:pPr algn="l">
              <a:defRPr sz="1400">
                <a:latin typeface="Courier New"/>
                <a:ea typeface="Courier New"/>
                <a:cs typeface="Courier New"/>
                <a:sym typeface="Courier New"/>
              </a:defRPr>
            </a:pPr>
            <a:r>
              <a:t>bool req_lt_avail(const int *req, const int *avail, const int pnum, const int num_res) {</a:t>
            </a:r>
          </a:p>
          <a:p>
            <a:pPr algn="l">
              <a:defRPr sz="1400">
                <a:latin typeface="Courier New"/>
                <a:ea typeface="Courier New"/>
                <a:cs typeface="Courier New"/>
                <a:sym typeface="Courier New"/>
              </a:defRPr>
            </a:pPr>
            <a:r>
              <a:t>   int i (0);</a:t>
            </a:r>
          </a:p>
          <a:p>
            <a:pPr algn="l">
              <a:defRPr sz="1400">
                <a:latin typeface="Courier New"/>
                <a:ea typeface="Courier New"/>
                <a:cs typeface="Courier New"/>
                <a:sym typeface="Courier New"/>
              </a:defRPr>
            </a:pPr>
            <a:r>
              <a:t>   for (; i &lt; num_res; i++)</a:t>
            </a:r>
          </a:p>
          <a:p>
            <a:pPr algn="l">
              <a:defRPr sz="1400">
                <a:latin typeface="Courier New"/>
                <a:ea typeface="Courier New"/>
                <a:cs typeface="Courier New"/>
                <a:sym typeface="Courier New"/>
              </a:defRPr>
            </a:pPr>
            <a:r>
              <a:t>      if (req[pnum*num_res+i] &gt; avail[i] )</a:t>
            </a:r>
          </a:p>
          <a:p>
            <a:pPr algn="l">
              <a:defRPr sz="1400">
                <a:latin typeface="Courier New"/>
                <a:ea typeface="Courier New"/>
                <a:cs typeface="Courier New"/>
                <a:sym typeface="Courier New"/>
              </a:defRPr>
            </a:pPr>
            <a:r>
              <a:t>         break;</a:t>
            </a:r>
          </a:p>
          <a:p>
            <a:pPr algn="l">
              <a:defRPr sz="1400">
                <a:latin typeface="Courier New"/>
                <a:ea typeface="Courier New"/>
                <a:cs typeface="Courier New"/>
                <a:sym typeface="Courier New"/>
              </a:defRPr>
            </a:pPr>
            <a:r>
              <a:t>   return ( i == num_res );</a:t>
            </a:r>
          </a:p>
          <a:p>
            <a:pPr algn="l">
              <a:defRPr sz="1400">
                <a:latin typeface="Courier New"/>
                <a:ea typeface="Courier New"/>
                <a:cs typeface="Courier New"/>
                <a:sym typeface="Courier New"/>
              </a:defRPr>
            </a:pPr>
            <a:r>
              <a:t>}</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Deadlock Recovery"/>
          <p:cNvSpPr txBox="1"/>
          <p:nvPr>
            <p:ph type="title"/>
          </p:nvPr>
        </p:nvSpPr>
        <p:spPr>
          <a:prstGeom prst="rect">
            <a:avLst/>
          </a:prstGeom>
        </p:spPr>
        <p:txBody>
          <a:bodyPr/>
          <a:lstStyle>
            <a:lvl1pPr>
              <a:defRPr sz="6400"/>
            </a:lvl1pPr>
          </a:lstStyle>
          <a:p>
            <a:pPr/>
            <a:r>
              <a:t>Deadlock Recovery</a:t>
            </a:r>
          </a:p>
        </p:txBody>
      </p:sp>
      <p:sp>
        <p:nvSpPr>
          <p:cNvPr id="245" name="So we discover system is in a deadlock, how do we recover?…"/>
          <p:cNvSpPr txBox="1"/>
          <p:nvPr>
            <p:ph type="body" idx="1"/>
          </p:nvPr>
        </p:nvSpPr>
        <p:spPr>
          <a:xfrm>
            <a:off x="1270000" y="2768600"/>
            <a:ext cx="10972800" cy="6248400"/>
          </a:xfrm>
          <a:prstGeom prst="rect">
            <a:avLst/>
          </a:prstGeom>
        </p:spPr>
        <p:txBody>
          <a:bodyPr/>
          <a:lstStyle/>
          <a:p>
            <a:pPr lvl="2" marL="1533071" indent="-326571">
              <a:defRPr sz="2400"/>
            </a:pPr>
            <a:r>
              <a:t>So we discover system is in a deadlock, how do we recover?</a:t>
            </a:r>
          </a:p>
          <a:p>
            <a:pPr lvl="2" marL="1533071" indent="-326571">
              <a:defRPr sz="2400"/>
            </a:pPr>
            <a:r>
              <a:t>Two ways:</a:t>
            </a:r>
          </a:p>
          <a:p>
            <a:pPr lvl="3" marL="1977571" indent="-326571">
              <a:defRPr sz="2400"/>
            </a:pPr>
            <a:r>
              <a:t>Recovery by process termination</a:t>
            </a:r>
          </a:p>
          <a:p>
            <a:pPr lvl="3" marL="1977571" indent="-326571">
              <a:defRPr sz="2400"/>
            </a:pPr>
            <a:r>
              <a:t>Recovery by resource pre-emption</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Process Termination"/>
          <p:cNvSpPr txBox="1"/>
          <p:nvPr>
            <p:ph type="title"/>
          </p:nvPr>
        </p:nvSpPr>
        <p:spPr>
          <a:prstGeom prst="rect">
            <a:avLst/>
          </a:prstGeom>
        </p:spPr>
        <p:txBody>
          <a:bodyPr/>
          <a:lstStyle>
            <a:lvl1pPr>
              <a:defRPr sz="6400"/>
            </a:lvl1pPr>
          </a:lstStyle>
          <a:p>
            <a:pPr/>
            <a:r>
              <a:t>Process Termination</a:t>
            </a:r>
          </a:p>
        </p:txBody>
      </p:sp>
      <p:sp>
        <p:nvSpPr>
          <p:cNvPr id="248" name="Abort all deadlocked processes…"/>
          <p:cNvSpPr txBox="1"/>
          <p:nvPr>
            <p:ph type="body" idx="1"/>
          </p:nvPr>
        </p:nvSpPr>
        <p:spPr>
          <a:xfrm>
            <a:off x="1270000" y="2768600"/>
            <a:ext cx="10972800" cy="6248400"/>
          </a:xfrm>
          <a:prstGeom prst="rect">
            <a:avLst/>
          </a:prstGeom>
        </p:spPr>
        <p:txBody>
          <a:bodyPr/>
          <a:lstStyle/>
          <a:p>
            <a:pPr lvl="2" marL="1533071" indent="-326571">
              <a:defRPr sz="2400"/>
            </a:pPr>
            <a:r>
              <a:t>Abort all deadlocked processes</a:t>
            </a:r>
          </a:p>
          <a:p>
            <a:pPr lvl="3" marL="1977571" indent="-326571">
              <a:defRPr sz="2400"/>
            </a:pPr>
            <a:r>
              <a:t>Most commonly adopted solution</a:t>
            </a:r>
          </a:p>
          <a:p>
            <a:pPr lvl="3" marL="1977571" indent="-326571">
              <a:defRPr sz="2400"/>
            </a:pPr>
            <a:r>
              <a:t>Do we need to abort them all though?</a:t>
            </a:r>
          </a:p>
          <a:p>
            <a:pPr lvl="2" marL="1533071" indent="-326571">
              <a:defRPr sz="2400"/>
            </a:pPr>
            <a:r>
              <a:t>Back up system to a checkpoint</a:t>
            </a:r>
          </a:p>
          <a:p>
            <a:pPr lvl="3" marL="1977571" indent="-326571">
              <a:defRPr sz="2400"/>
            </a:pPr>
            <a:r>
              <a:t>Requires restarting at that point</a:t>
            </a:r>
          </a:p>
          <a:p>
            <a:pPr lvl="3" marL="1977571" indent="-326571">
              <a:defRPr sz="2400"/>
            </a:pPr>
            <a:r>
              <a:t>Requires a system have rollback and restart mechanisms</a:t>
            </a:r>
          </a:p>
          <a:p>
            <a:pPr lvl="3" marL="1977571" indent="-326571">
              <a:defRPr sz="2400"/>
            </a:pPr>
            <a:r>
              <a:t>Will original deadlock reoccur?</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0" name="Process Termination"/>
          <p:cNvSpPr txBox="1"/>
          <p:nvPr>
            <p:ph type="title"/>
          </p:nvPr>
        </p:nvSpPr>
        <p:spPr>
          <a:prstGeom prst="rect">
            <a:avLst/>
          </a:prstGeom>
        </p:spPr>
        <p:txBody>
          <a:bodyPr/>
          <a:lstStyle>
            <a:lvl1pPr>
              <a:defRPr sz="6400"/>
            </a:lvl1pPr>
          </a:lstStyle>
          <a:p>
            <a:pPr/>
            <a:r>
              <a:t>Process Termination</a:t>
            </a:r>
          </a:p>
        </p:txBody>
      </p:sp>
      <p:sp>
        <p:nvSpPr>
          <p:cNvPr id="251" name="Terminate deadlocked processes in systematic way…"/>
          <p:cNvSpPr txBox="1"/>
          <p:nvPr>
            <p:ph type="body" idx="1"/>
          </p:nvPr>
        </p:nvSpPr>
        <p:spPr>
          <a:xfrm>
            <a:off x="1270000" y="2768600"/>
            <a:ext cx="10972800" cy="6248400"/>
          </a:xfrm>
          <a:prstGeom prst="rect">
            <a:avLst/>
          </a:prstGeom>
        </p:spPr>
        <p:txBody>
          <a:bodyPr/>
          <a:lstStyle/>
          <a:p>
            <a:pPr lvl="2" marL="1533071" indent="-326571">
              <a:defRPr sz="2400"/>
            </a:pPr>
            <a:r>
              <a:t>Terminate deadlocked processes in systematic way</a:t>
            </a:r>
          </a:p>
          <a:p>
            <a:pPr lvl="3" marL="1977571" indent="-326571">
              <a:defRPr sz="2400"/>
            </a:pPr>
            <a:r>
              <a:t>Keep terminating until no longer in a deadlock</a:t>
            </a:r>
          </a:p>
          <a:p>
            <a:pPr lvl="4" marL="2422071" indent="-326571">
              <a:defRPr sz="2400"/>
            </a:pPr>
            <a:r>
              <a:t>Do deadlock detection at each process termination</a:t>
            </a:r>
          </a:p>
          <a:p>
            <a:pPr lvl="3" marL="1977571" indent="-326571">
              <a:defRPr sz="2400"/>
            </a:pPr>
            <a:r>
              <a:t>Should terminate based on some policy</a:t>
            </a:r>
          </a:p>
          <a:p>
            <a:pPr lvl="4" marL="2422071" indent="-326571">
              <a:defRPr sz="2400"/>
            </a:pPr>
            <a:r>
              <a:t>Process priority, cpu time used and expected usage, number resources taken up, is it interactive or batch?</a:t>
            </a:r>
          </a:p>
          <a:p>
            <a:pPr lvl="3" marL="1977571" indent="-326571">
              <a:defRPr sz="2400"/>
            </a:pPr>
            <a:r>
              <a:t>A few problems:</a:t>
            </a:r>
          </a:p>
          <a:p>
            <a:pPr lvl="4" marL="2422071" indent="-326571">
              <a:defRPr sz="2400"/>
            </a:pPr>
            <a:r>
              <a:t>If a process has open files, termination could lead to invalid files</a:t>
            </a:r>
          </a:p>
          <a:p>
            <a:pPr lvl="4" marL="2422071" indent="-326571">
              <a:defRPr sz="2400"/>
            </a:pPr>
            <a:r>
              <a:t>Same issues with other i/o: Terminated print job, etc</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Resource Preemption"/>
          <p:cNvSpPr txBox="1"/>
          <p:nvPr>
            <p:ph type="title"/>
          </p:nvPr>
        </p:nvSpPr>
        <p:spPr>
          <a:prstGeom prst="rect">
            <a:avLst/>
          </a:prstGeom>
        </p:spPr>
        <p:txBody>
          <a:bodyPr/>
          <a:lstStyle>
            <a:lvl1pPr>
              <a:defRPr sz="6400"/>
            </a:lvl1pPr>
          </a:lstStyle>
          <a:p>
            <a:pPr/>
            <a:r>
              <a:t>Resource Preemption</a:t>
            </a:r>
          </a:p>
        </p:txBody>
      </p:sp>
      <p:sp>
        <p:nvSpPr>
          <p:cNvPr id="254" name="Preempt resources from some processes…"/>
          <p:cNvSpPr txBox="1"/>
          <p:nvPr>
            <p:ph type="body" idx="1"/>
          </p:nvPr>
        </p:nvSpPr>
        <p:spPr>
          <a:xfrm>
            <a:off x="1270000" y="2768600"/>
            <a:ext cx="11125200" cy="6248400"/>
          </a:xfrm>
          <a:prstGeom prst="rect">
            <a:avLst/>
          </a:prstGeom>
        </p:spPr>
        <p:txBody>
          <a:bodyPr/>
          <a:lstStyle/>
          <a:p>
            <a:pPr lvl="2" marL="1533071" indent="-326571">
              <a:defRPr sz="2400"/>
            </a:pPr>
            <a:r>
              <a:t>Preempt resources from some processes</a:t>
            </a:r>
          </a:p>
          <a:p>
            <a:pPr lvl="3" marL="1977571" indent="-326571">
              <a:defRPr sz="2400"/>
            </a:pPr>
            <a:r>
              <a:t>Allows satisfaction of requests from other processes</a:t>
            </a:r>
          </a:p>
          <a:p>
            <a:pPr lvl="4" marL="2422071" indent="-326571">
              <a:defRPr sz="2400"/>
            </a:pPr>
            <a:r>
              <a:t>Could resolve the deadlock</a:t>
            </a:r>
          </a:p>
          <a:p>
            <a:pPr lvl="2" marL="1533071" indent="-326571">
              <a:defRPr sz="2400"/>
            </a:pPr>
            <a:r>
              <a:t>How do we select a victim?</a:t>
            </a:r>
          </a:p>
          <a:p>
            <a:pPr lvl="2" marL="1533071" indent="-326571">
              <a:defRPr sz="2400"/>
            </a:pPr>
            <a:r>
              <a:t>Need to rollback the state</a:t>
            </a:r>
          </a:p>
          <a:p>
            <a:pPr lvl="2" marL="1533071" indent="-326571">
              <a:defRPr sz="2400"/>
            </a:pPr>
            <a:r>
              <a:t>Starvation could occur</a:t>
            </a:r>
          </a:p>
          <a:p>
            <a:pPr lvl="3" marL="1977571" indent="-326571">
              <a:defRPr sz="2400"/>
            </a:pPr>
            <a:r>
              <a:t>Keep preempting resources from one job and it will never get to finish</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Deadlock Prevention"/>
          <p:cNvSpPr txBox="1"/>
          <p:nvPr>
            <p:ph type="title"/>
          </p:nvPr>
        </p:nvSpPr>
        <p:spPr>
          <a:prstGeom prst="rect">
            <a:avLst/>
          </a:prstGeom>
        </p:spPr>
        <p:txBody>
          <a:bodyPr/>
          <a:lstStyle>
            <a:lvl1pPr>
              <a:defRPr sz="6400"/>
            </a:lvl1pPr>
          </a:lstStyle>
          <a:p>
            <a:pPr/>
            <a:r>
              <a:t>Deadlock Prevention</a:t>
            </a:r>
          </a:p>
        </p:txBody>
      </p:sp>
      <p:sp>
        <p:nvSpPr>
          <p:cNvPr id="257" name="Let us make sure we can never get into a deadlock.…"/>
          <p:cNvSpPr txBox="1"/>
          <p:nvPr>
            <p:ph type="body" idx="1"/>
          </p:nvPr>
        </p:nvSpPr>
        <p:spPr>
          <a:xfrm>
            <a:off x="1270000" y="2768600"/>
            <a:ext cx="11125200" cy="6248400"/>
          </a:xfrm>
          <a:prstGeom prst="rect">
            <a:avLst/>
          </a:prstGeom>
        </p:spPr>
        <p:txBody>
          <a:bodyPr/>
          <a:lstStyle/>
          <a:p>
            <a:pPr lvl="2" marL="1533071" indent="-326571">
              <a:defRPr sz="2400"/>
            </a:pPr>
            <a:r>
              <a:t>Let us make sure we can never get into a deadlock. </a:t>
            </a:r>
          </a:p>
          <a:p>
            <a:pPr lvl="2" marL="1533071" indent="-326571">
              <a:defRPr sz="2400"/>
            </a:pPr>
            <a:r>
              <a:t>How?</a:t>
            </a:r>
          </a:p>
          <a:p>
            <a:pPr lvl="3" marL="1977571" indent="-326571">
              <a:defRPr sz="2400"/>
            </a:pPr>
            <a:r>
              <a:t>Need to set up our system so we prevent one of the four conditions necessary for deadlock to occur</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Deadlock Conditions"/>
          <p:cNvSpPr txBox="1"/>
          <p:nvPr>
            <p:ph type="title"/>
          </p:nvPr>
        </p:nvSpPr>
        <p:spPr>
          <a:prstGeom prst="rect">
            <a:avLst/>
          </a:prstGeom>
        </p:spPr>
        <p:txBody>
          <a:bodyPr/>
          <a:lstStyle>
            <a:lvl1pPr>
              <a:defRPr sz="6400"/>
            </a:lvl1pPr>
          </a:lstStyle>
          <a:p>
            <a:pPr/>
            <a:r>
              <a:t>Deadlock Conditions</a:t>
            </a:r>
          </a:p>
        </p:txBody>
      </p:sp>
      <p:sp>
        <p:nvSpPr>
          <p:cNvPr id="260" name="Four necessary and sufficient conditions for deadlock…"/>
          <p:cNvSpPr txBox="1"/>
          <p:nvPr>
            <p:ph type="body" idx="1"/>
          </p:nvPr>
        </p:nvSpPr>
        <p:spPr>
          <a:xfrm>
            <a:off x="1270000" y="2768600"/>
            <a:ext cx="10972800" cy="6845300"/>
          </a:xfrm>
          <a:prstGeom prst="rect">
            <a:avLst/>
          </a:prstGeom>
        </p:spPr>
        <p:txBody>
          <a:bodyPr/>
          <a:lstStyle/>
          <a:p>
            <a:pPr lvl="2" marL="1533071" indent="-326571">
              <a:defRPr sz="2400"/>
            </a:pPr>
            <a:r>
              <a:t>Four necessary and sufficient conditions for deadlock</a:t>
            </a:r>
          </a:p>
          <a:p>
            <a:pPr lvl="3" marL="1977571" indent="-326571">
              <a:defRPr sz="2400"/>
            </a:pPr>
            <a:r>
              <a:t>Mutual Exclusion</a:t>
            </a:r>
          </a:p>
          <a:p>
            <a:pPr lvl="4" marL="2422071" indent="-326571">
              <a:defRPr sz="2400"/>
            </a:pPr>
            <a:r>
              <a:t>Only one process may use a resource at a time</a:t>
            </a:r>
          </a:p>
          <a:p>
            <a:pPr lvl="4" marL="2422071" indent="-326571">
              <a:defRPr sz="2400"/>
            </a:pPr>
            <a:r>
              <a:t>At least one resource must be held in a non-sharable mode</a:t>
            </a:r>
          </a:p>
          <a:p>
            <a:pPr lvl="3" marL="1977571" indent="-326571">
              <a:defRPr sz="2400"/>
            </a:pPr>
            <a:r>
              <a:t>Hold and wait</a:t>
            </a:r>
          </a:p>
          <a:p>
            <a:pPr lvl="4" marL="2422071" indent="-326571">
              <a:defRPr sz="2400"/>
            </a:pPr>
            <a:r>
              <a:t>Existence of a process holding at least one resource and waiting to acquire additional resources currently held by other processes</a:t>
            </a:r>
          </a:p>
          <a:p>
            <a:pPr lvl="3" marL="1977571" indent="-326571">
              <a:defRPr sz="2400"/>
            </a:pPr>
            <a:r>
              <a:t>No preemption</a:t>
            </a:r>
          </a:p>
          <a:p>
            <a:pPr lvl="4" marL="2422071" indent="-326571">
              <a:defRPr sz="2400"/>
            </a:pPr>
            <a:r>
              <a:t>Resources cannot be preempted by system</a:t>
            </a:r>
          </a:p>
          <a:p>
            <a:pPr lvl="3" marL="1977571" indent="-326571">
              <a:defRPr sz="2400"/>
            </a:pPr>
            <a:r>
              <a:t>Circular wait</a:t>
            </a:r>
          </a:p>
          <a:p>
            <a:pPr lvl="4" marL="2422071" indent="-326571">
              <a:defRPr sz="2400"/>
            </a:pPr>
            <a:r>
              <a:t>Processes waiting for resources held by other waiting processes</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Deadlock Prevention"/>
          <p:cNvSpPr txBox="1"/>
          <p:nvPr>
            <p:ph type="title"/>
          </p:nvPr>
        </p:nvSpPr>
        <p:spPr>
          <a:prstGeom prst="rect">
            <a:avLst/>
          </a:prstGeom>
        </p:spPr>
        <p:txBody>
          <a:bodyPr/>
          <a:lstStyle>
            <a:lvl1pPr>
              <a:defRPr sz="6400"/>
            </a:lvl1pPr>
          </a:lstStyle>
          <a:p>
            <a:pPr/>
            <a:r>
              <a:t>Deadlock Prevention</a:t>
            </a:r>
          </a:p>
        </p:txBody>
      </p:sp>
      <p:sp>
        <p:nvSpPr>
          <p:cNvPr id="263" name="Require each process to request and acquire all needed resources at once…"/>
          <p:cNvSpPr txBox="1"/>
          <p:nvPr>
            <p:ph type="body" idx="1"/>
          </p:nvPr>
        </p:nvSpPr>
        <p:spPr>
          <a:xfrm>
            <a:off x="1270000" y="2768600"/>
            <a:ext cx="11125200" cy="6248400"/>
          </a:xfrm>
          <a:prstGeom prst="rect">
            <a:avLst/>
          </a:prstGeom>
        </p:spPr>
        <p:txBody>
          <a:bodyPr/>
          <a:lstStyle/>
          <a:p>
            <a:pPr lvl="1" marL="1088571" indent="-326571">
              <a:defRPr sz="2400"/>
            </a:pPr>
            <a:r>
              <a:t>Require each process to request and acquire all needed resources at once</a:t>
            </a:r>
          </a:p>
          <a:p>
            <a:pPr lvl="2" marL="1533071" indent="-326571">
              <a:defRPr sz="2400"/>
            </a:pPr>
            <a:r>
              <a:t>Eliminates the </a:t>
            </a:r>
            <a:r>
              <a:rPr i="1"/>
              <a:t>hold and wait</a:t>
            </a:r>
            <a:r>
              <a:t> necessary condition of deadlock</a:t>
            </a:r>
          </a:p>
          <a:p>
            <a:pPr lvl="2" marL="1533071" indent="-326571">
              <a:defRPr sz="2400"/>
            </a:pPr>
            <a:r>
              <a:t>Works decently for processes that perform a single burst of activity</a:t>
            </a:r>
          </a:p>
          <a:p>
            <a:pPr lvl="2" marL="1533071" indent="-326571">
              <a:defRPr sz="2400"/>
            </a:pPr>
            <a:r>
              <a:t>Doesn’t require preemption</a:t>
            </a:r>
          </a:p>
          <a:p>
            <a:pPr lvl="2" marL="1533071" indent="-326571">
              <a:defRPr sz="2400"/>
            </a:pPr>
            <a:r>
              <a:t>Serious downsides:</a:t>
            </a:r>
          </a:p>
          <a:p>
            <a:pPr lvl="3" marL="1977571" indent="-326571">
              <a:defRPr sz="2400"/>
            </a:pPr>
            <a:r>
              <a:t>Can delay process initialization</a:t>
            </a:r>
          </a:p>
          <a:p>
            <a:pPr lvl="3" marL="1977571" indent="-326571">
              <a:defRPr sz="2400"/>
            </a:pPr>
            <a:r>
              <a:t>Have to know at the start what resources it will need</a:t>
            </a:r>
          </a:p>
          <a:p>
            <a:pPr lvl="4" marL="2422071" indent="-326571">
              <a:defRPr sz="2400"/>
            </a:pPr>
            <a:r>
              <a:t>Not always possible</a:t>
            </a:r>
          </a:p>
          <a:p>
            <a:pPr lvl="3" marL="1977571" indent="-326571">
              <a:defRPr sz="2400"/>
            </a:pPr>
            <a:r>
              <a:t>Can end up holding on to resources for much longer than it needs to</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Deadlock Prevention"/>
          <p:cNvSpPr txBox="1"/>
          <p:nvPr>
            <p:ph type="title"/>
          </p:nvPr>
        </p:nvSpPr>
        <p:spPr>
          <a:prstGeom prst="rect">
            <a:avLst/>
          </a:prstGeom>
        </p:spPr>
        <p:txBody>
          <a:bodyPr/>
          <a:lstStyle>
            <a:lvl1pPr>
              <a:defRPr sz="6400"/>
            </a:lvl1pPr>
          </a:lstStyle>
          <a:p>
            <a:pPr/>
            <a:r>
              <a:t>Deadlock Prevention</a:t>
            </a:r>
          </a:p>
        </p:txBody>
      </p:sp>
      <p:sp>
        <p:nvSpPr>
          <p:cNvPr id="266" name="Impose a total ordering on all resource types…"/>
          <p:cNvSpPr txBox="1"/>
          <p:nvPr>
            <p:ph type="body" idx="1"/>
          </p:nvPr>
        </p:nvSpPr>
        <p:spPr>
          <a:xfrm>
            <a:off x="1270000" y="2768600"/>
            <a:ext cx="11125200" cy="6248400"/>
          </a:xfrm>
          <a:prstGeom prst="rect">
            <a:avLst/>
          </a:prstGeom>
        </p:spPr>
        <p:txBody>
          <a:bodyPr/>
          <a:lstStyle/>
          <a:p>
            <a:pPr lvl="2" marL="1533071" indent="-326571">
              <a:defRPr sz="2400"/>
            </a:pPr>
            <a:r>
              <a:t>Impose a total ordering on all resource types</a:t>
            </a:r>
          </a:p>
          <a:p>
            <a:pPr lvl="3" marL="1977571" indent="-326571">
              <a:defRPr sz="2400"/>
            </a:pPr>
            <a:r>
              <a:t>Intention is to eliminate possibility of </a:t>
            </a:r>
            <a:r>
              <a:rPr i="1"/>
              <a:t>circular wait</a:t>
            </a:r>
            <a:r>
              <a:t> condition</a:t>
            </a:r>
          </a:p>
          <a:p>
            <a:pPr lvl="3" marL="1977571" indent="-326571">
              <a:defRPr sz="2400"/>
            </a:pPr>
            <a:r>
              <a:t>Processes must request resources in order</a:t>
            </a:r>
          </a:p>
          <a:p>
            <a:pPr lvl="3" marL="1977571" indent="-326571">
              <a:defRPr sz="2400"/>
            </a:pPr>
            <a:r>
              <a:t>If several instances are needed, must request all instances at once</a:t>
            </a:r>
          </a:p>
          <a:p>
            <a:pPr lvl="3" marL="1977571" indent="-326571">
              <a:defRPr sz="2400"/>
            </a:pPr>
            <a:r>
              <a:t>Example: Resources R</a:t>
            </a:r>
            <a:r>
              <a:rPr baseline="-5999"/>
              <a:t>1</a:t>
            </a:r>
            <a:r>
              <a:t>, R</a:t>
            </a:r>
            <a:r>
              <a:rPr baseline="-5999"/>
              <a:t>2</a:t>
            </a:r>
            <a:r>
              <a:t>, ..., R</a:t>
            </a:r>
            <a:r>
              <a:rPr baseline="-5999"/>
              <a:t>5</a:t>
            </a:r>
            <a:endParaRPr baseline="-5999"/>
          </a:p>
          <a:p>
            <a:pPr lvl="4" marL="2422071" indent="-326571">
              <a:defRPr sz="2400"/>
            </a:pPr>
            <a:r>
              <a:t>Process could request R</a:t>
            </a:r>
            <a:r>
              <a:rPr baseline="-5999"/>
              <a:t>2</a:t>
            </a:r>
            <a:r>
              <a:t> and then R</a:t>
            </a:r>
            <a:r>
              <a:rPr baseline="-5999"/>
              <a:t>4</a:t>
            </a:r>
            <a:endParaRPr baseline="-5999"/>
          </a:p>
          <a:p>
            <a:pPr lvl="4" marL="2422071" indent="-326571">
              <a:defRPr sz="2400"/>
            </a:pPr>
            <a:r>
              <a:t>Could not request R</a:t>
            </a:r>
            <a:r>
              <a:rPr baseline="-5999"/>
              <a:t>3</a:t>
            </a:r>
            <a:r>
              <a:t> and then R</a:t>
            </a:r>
            <a:r>
              <a:rPr baseline="-5999"/>
              <a:t>2</a:t>
            </a:r>
            <a:endParaRPr baseline="-5999"/>
          </a:p>
          <a:p>
            <a:pPr lvl="3" marL="1977571" indent="-326571">
              <a:defRPr sz="2400"/>
            </a:pPr>
            <a:r>
              <a:t>Disallows incremental resource requests</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Deadlock Prevention"/>
          <p:cNvSpPr txBox="1"/>
          <p:nvPr>
            <p:ph type="title"/>
          </p:nvPr>
        </p:nvSpPr>
        <p:spPr>
          <a:prstGeom prst="rect">
            <a:avLst/>
          </a:prstGeom>
        </p:spPr>
        <p:txBody>
          <a:bodyPr/>
          <a:lstStyle>
            <a:lvl1pPr>
              <a:defRPr sz="6400"/>
            </a:lvl1pPr>
          </a:lstStyle>
          <a:p>
            <a:pPr/>
            <a:r>
              <a:t>Deadlock Prevention</a:t>
            </a:r>
          </a:p>
        </p:txBody>
      </p:sp>
      <p:sp>
        <p:nvSpPr>
          <p:cNvPr id="269" name="Allow preemption of resources…"/>
          <p:cNvSpPr txBox="1"/>
          <p:nvPr>
            <p:ph type="body" idx="1"/>
          </p:nvPr>
        </p:nvSpPr>
        <p:spPr>
          <a:xfrm>
            <a:off x="1270000" y="2768600"/>
            <a:ext cx="11125200" cy="6248400"/>
          </a:xfrm>
          <a:prstGeom prst="rect">
            <a:avLst/>
          </a:prstGeom>
        </p:spPr>
        <p:txBody>
          <a:bodyPr/>
          <a:lstStyle/>
          <a:p>
            <a:pPr lvl="2" marL="1533071" indent="-326571">
              <a:defRPr sz="2400"/>
            </a:pPr>
            <a:r>
              <a:t>Allow preemption of resources</a:t>
            </a:r>
          </a:p>
          <a:p>
            <a:pPr lvl="3" marL="1977571" indent="-326571">
              <a:defRPr sz="2400"/>
            </a:pPr>
            <a:r>
              <a:t>Eliminates </a:t>
            </a:r>
            <a:r>
              <a:rPr i="1"/>
              <a:t>no preemption</a:t>
            </a:r>
            <a:r>
              <a:t> condition</a:t>
            </a:r>
          </a:p>
          <a:p>
            <a:pPr lvl="3" marL="1977571" indent="-326571">
              <a:defRPr sz="2400"/>
            </a:pPr>
            <a:r>
              <a:t>Different ways to accomplish this:</a:t>
            </a:r>
          </a:p>
          <a:p>
            <a:pPr lvl="4" marL="2422071" indent="-326571">
              <a:defRPr sz="2400"/>
            </a:pPr>
            <a:r>
              <a:t>If process gets denied a resource request, release all resources and must then request them all</a:t>
            </a:r>
          </a:p>
          <a:p>
            <a:pPr lvl="4" marL="2422071" indent="-326571">
              <a:defRPr sz="2400"/>
            </a:pPr>
            <a:r>
              <a:t>If a process requests a resource that is currently held by another, require the other process to release its resources</a:t>
            </a:r>
          </a:p>
          <a:p>
            <a:pPr lvl="3" marL="1977571" indent="-326571">
              <a:defRPr sz="2400"/>
            </a:pPr>
            <a:r>
              <a:t>Only useful if state can be saved and restored easily</a:t>
            </a:r>
          </a:p>
          <a:p>
            <a:pPr lvl="3" marL="1977571" indent="-326571">
              <a:defRPr sz="2400"/>
            </a:pPr>
            <a:r>
              <a:t>Does preemptions that aren’t strictly necessary</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Deadlock Avoidance"/>
          <p:cNvSpPr txBox="1"/>
          <p:nvPr>
            <p:ph type="title"/>
          </p:nvPr>
        </p:nvSpPr>
        <p:spPr>
          <a:prstGeom prst="rect">
            <a:avLst/>
          </a:prstGeom>
        </p:spPr>
        <p:txBody>
          <a:bodyPr/>
          <a:lstStyle>
            <a:lvl1pPr>
              <a:defRPr sz="6400"/>
            </a:lvl1pPr>
          </a:lstStyle>
          <a:p>
            <a:pPr/>
            <a:r>
              <a:t>Deadlock Avoidance</a:t>
            </a:r>
          </a:p>
        </p:txBody>
      </p:sp>
      <p:sp>
        <p:nvSpPr>
          <p:cNvPr id="272" name="Deadlock prevention constrains resource requests to prevent deadlock…"/>
          <p:cNvSpPr txBox="1"/>
          <p:nvPr>
            <p:ph type="body" idx="1"/>
          </p:nvPr>
        </p:nvSpPr>
        <p:spPr>
          <a:xfrm>
            <a:off x="1270000" y="2768600"/>
            <a:ext cx="11125200" cy="6248400"/>
          </a:xfrm>
          <a:prstGeom prst="rect">
            <a:avLst/>
          </a:prstGeom>
        </p:spPr>
        <p:txBody>
          <a:bodyPr/>
          <a:lstStyle/>
          <a:p>
            <a:pPr lvl="2" marL="1533071" indent="-326571">
              <a:defRPr sz="2400"/>
            </a:pPr>
            <a:r>
              <a:t>Deadlock prevention constrains resource requests to prevent deadlock</a:t>
            </a:r>
          </a:p>
          <a:p>
            <a:pPr lvl="3" marL="1977571" indent="-326571">
              <a:defRPr sz="2400"/>
            </a:pPr>
            <a:r>
              <a:t>Prevent at least one of four necessary conditions of deadlock</a:t>
            </a:r>
          </a:p>
          <a:p>
            <a:pPr lvl="3" marL="1977571" indent="-326571">
              <a:defRPr sz="2400"/>
            </a:pPr>
            <a:r>
              <a:t>Leads to inefficient use of resources and inefficient process execution</a:t>
            </a:r>
          </a:p>
          <a:p>
            <a:pPr lvl="2" marL="1533071" indent="-326571">
              <a:defRPr sz="2400"/>
            </a:pPr>
            <a:r>
              <a:t>Deadlock avoidance allows three of the four conditions</a:t>
            </a:r>
          </a:p>
          <a:p>
            <a:pPr lvl="3" marL="1977571" indent="-326571">
              <a:defRPr sz="2400"/>
            </a:pPr>
            <a:r>
              <a:t>Then makes choices to ensure that deadlock point is never reached</a:t>
            </a:r>
          </a:p>
          <a:p>
            <a:pPr lvl="3" marL="1977571" indent="-326571">
              <a:defRPr sz="2400"/>
            </a:pPr>
            <a:r>
              <a:t>Allows more concurrency than prevention does</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Deadlock Avoidance"/>
          <p:cNvSpPr txBox="1"/>
          <p:nvPr>
            <p:ph type="title"/>
          </p:nvPr>
        </p:nvSpPr>
        <p:spPr>
          <a:prstGeom prst="rect">
            <a:avLst/>
          </a:prstGeom>
        </p:spPr>
        <p:txBody>
          <a:bodyPr/>
          <a:lstStyle>
            <a:lvl1pPr>
              <a:defRPr sz="6400"/>
            </a:lvl1pPr>
          </a:lstStyle>
          <a:p>
            <a:pPr/>
            <a:r>
              <a:t>Deadlock Avoidance</a:t>
            </a:r>
          </a:p>
        </p:txBody>
      </p:sp>
      <p:sp>
        <p:nvSpPr>
          <p:cNvPr id="275" name="We will discuss two approaches to deadlock avoidance:…"/>
          <p:cNvSpPr txBox="1"/>
          <p:nvPr>
            <p:ph type="body" idx="1"/>
          </p:nvPr>
        </p:nvSpPr>
        <p:spPr>
          <a:xfrm>
            <a:off x="1270000" y="2768600"/>
            <a:ext cx="11125200" cy="6248400"/>
          </a:xfrm>
          <a:prstGeom prst="rect">
            <a:avLst/>
          </a:prstGeom>
        </p:spPr>
        <p:txBody>
          <a:bodyPr/>
          <a:lstStyle/>
          <a:p>
            <a:pPr lvl="2" marL="1533071" indent="-326571">
              <a:defRPr sz="2400"/>
            </a:pPr>
            <a:r>
              <a:t>We will discuss two approaches to deadlock avoidance:</a:t>
            </a:r>
          </a:p>
          <a:p>
            <a:pPr lvl="3" marL="1977571" indent="-326571">
              <a:defRPr sz="2400"/>
            </a:pPr>
            <a:r>
              <a:t>Do not start a process if its demands might lead to a deadlock</a:t>
            </a:r>
          </a:p>
          <a:p>
            <a:pPr lvl="3" marL="1977571" indent="-326571">
              <a:defRPr sz="2400"/>
            </a:pPr>
            <a:r>
              <a:t>Do not grant a request if the allocation could lead to deadlock</a:t>
            </a:r>
          </a:p>
          <a:p>
            <a:pPr lvl="2" marL="1533071" indent="-326571">
              <a:defRPr sz="2400"/>
            </a:pPr>
            <a:r>
              <a:t>Dynamically exist the resource allocation status to ensure that no circular wait condition can exist</a:t>
            </a:r>
          </a:p>
          <a:p>
            <a:pPr lvl="2" marL="1533071" indent="-326571">
              <a:defRPr sz="2400"/>
            </a:pPr>
            <a:r>
              <a:t>Requires knowledge of maximum possible claims for each process</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Deadlock Avoidance"/>
          <p:cNvSpPr txBox="1"/>
          <p:nvPr>
            <p:ph type="title"/>
          </p:nvPr>
        </p:nvSpPr>
        <p:spPr>
          <a:prstGeom prst="rect">
            <a:avLst/>
          </a:prstGeom>
        </p:spPr>
        <p:txBody>
          <a:bodyPr/>
          <a:lstStyle>
            <a:lvl1pPr>
              <a:defRPr sz="6400"/>
            </a:lvl1pPr>
          </a:lstStyle>
          <a:p>
            <a:pPr/>
            <a:r>
              <a:t>Deadlock Avoidance</a:t>
            </a:r>
          </a:p>
        </p:txBody>
      </p:sp>
      <p:sp>
        <p:nvSpPr>
          <p:cNvPr id="278" name="Called Bankers Algorithm…"/>
          <p:cNvSpPr txBox="1"/>
          <p:nvPr>
            <p:ph type="body" idx="1"/>
          </p:nvPr>
        </p:nvSpPr>
        <p:spPr>
          <a:xfrm>
            <a:off x="1270000" y="2768600"/>
            <a:ext cx="11125200" cy="6248400"/>
          </a:xfrm>
          <a:prstGeom prst="rect">
            <a:avLst/>
          </a:prstGeom>
        </p:spPr>
        <p:txBody>
          <a:bodyPr/>
          <a:lstStyle/>
          <a:p>
            <a:pPr lvl="2" marL="1533071" indent="-326571">
              <a:defRPr sz="2400"/>
            </a:pPr>
            <a:r>
              <a:t>Called Bankers Algorithm</a:t>
            </a:r>
          </a:p>
          <a:p>
            <a:pPr lvl="3" marL="1977571" indent="-326571">
              <a:defRPr sz="2400"/>
            </a:pPr>
            <a:r>
              <a:t>Banking system that never allocates its available cash such that it can no longer satisfy the needs of all its customers</a:t>
            </a:r>
          </a:p>
          <a:p>
            <a:pPr lvl="2" marL="1533071" indent="-326571">
              <a:defRPr sz="2400"/>
            </a:pPr>
            <a:r>
              <a:t>Examine current state of the system, determine if it is </a:t>
            </a:r>
            <a:r>
              <a:rPr i="1"/>
              <a:t>safe</a:t>
            </a:r>
          </a:p>
          <a:p>
            <a:pPr lvl="2" marL="1533071" indent="-326571">
              <a:defRPr sz="2400"/>
            </a:pPr>
            <a:r>
              <a:rPr i="1"/>
              <a:t>Safe state</a:t>
            </a:r>
            <a:r>
              <a:t> is where at least one sequence does not result in a deadlock</a:t>
            </a:r>
          </a:p>
          <a:p>
            <a:pPr lvl="3" marL="1977571" indent="-326571">
              <a:defRPr sz="2400"/>
            </a:pPr>
            <a:r>
              <a:t>A </a:t>
            </a:r>
            <a:r>
              <a:rPr i="1"/>
              <a:t>safe sequence</a:t>
            </a:r>
            <a:r>
              <a:t> exists : If execution follows this path, no deadlock</a:t>
            </a:r>
          </a:p>
          <a:p>
            <a:pPr lvl="2" marL="1533071" indent="-326571">
              <a:defRPr sz="2400"/>
            </a:pPr>
            <a:r>
              <a:rPr i="1"/>
              <a:t>Unsafe state</a:t>
            </a:r>
            <a:r>
              <a:t> may lead to a deadlock</a:t>
            </a:r>
          </a:p>
          <a:p>
            <a:pPr lvl="3" marL="1977571" indent="-326571">
              <a:defRPr sz="2400"/>
            </a:pPr>
            <a:r>
              <a:rPr i="1"/>
              <a:t>Unsafe state</a:t>
            </a:r>
            <a:r>
              <a:t> will not always result in a deadlock</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Deadlock Avoidance"/>
          <p:cNvSpPr txBox="1"/>
          <p:nvPr>
            <p:ph type="title"/>
          </p:nvPr>
        </p:nvSpPr>
        <p:spPr>
          <a:prstGeom prst="rect">
            <a:avLst/>
          </a:prstGeom>
        </p:spPr>
        <p:txBody>
          <a:bodyPr/>
          <a:lstStyle>
            <a:lvl1pPr>
              <a:defRPr sz="6400"/>
            </a:lvl1pPr>
          </a:lstStyle>
          <a:p>
            <a:pPr/>
            <a:r>
              <a:t>Deadlock Avoidance</a:t>
            </a:r>
          </a:p>
        </p:txBody>
      </p:sp>
      <p:sp>
        <p:nvSpPr>
          <p:cNvPr id="281" name="Note that it is possible to from a safe state to an unsafe state…"/>
          <p:cNvSpPr txBox="1"/>
          <p:nvPr>
            <p:ph type="body" idx="1"/>
          </p:nvPr>
        </p:nvSpPr>
        <p:spPr>
          <a:xfrm>
            <a:off x="1270000" y="2768600"/>
            <a:ext cx="11125200" cy="6248400"/>
          </a:xfrm>
          <a:prstGeom prst="rect">
            <a:avLst/>
          </a:prstGeom>
        </p:spPr>
        <p:txBody>
          <a:bodyPr/>
          <a:lstStyle/>
          <a:p>
            <a:pPr lvl="2" marL="1533071" indent="-326571">
              <a:defRPr sz="2400"/>
            </a:pPr>
            <a:r>
              <a:t>Note that it is possible to from a </a:t>
            </a:r>
            <a:r>
              <a:rPr i="1"/>
              <a:t>safe state</a:t>
            </a:r>
            <a:r>
              <a:t> to an </a:t>
            </a:r>
            <a:r>
              <a:rPr i="1"/>
              <a:t>unsafe state</a:t>
            </a:r>
          </a:p>
          <a:p>
            <a:pPr lvl="2" marL="1533071" indent="-326571">
              <a:defRPr sz="2400"/>
            </a:pPr>
            <a:r>
              <a:t>Our task:</a:t>
            </a:r>
          </a:p>
          <a:p>
            <a:pPr lvl="3" marL="1977571" indent="-326571">
              <a:defRPr sz="2400"/>
            </a:pPr>
            <a:r>
              <a:t>Detect the possibility of an </a:t>
            </a:r>
            <a:r>
              <a:rPr i="1"/>
              <a:t>unsafe state</a:t>
            </a:r>
            <a:r>
              <a:t> and deny requests even if resources are available</a:t>
            </a: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Deadlock Avoidance"/>
          <p:cNvSpPr txBox="1"/>
          <p:nvPr>
            <p:ph type="title"/>
          </p:nvPr>
        </p:nvSpPr>
        <p:spPr>
          <a:prstGeom prst="rect">
            <a:avLst/>
          </a:prstGeom>
        </p:spPr>
        <p:txBody>
          <a:bodyPr/>
          <a:lstStyle>
            <a:lvl1pPr>
              <a:defRPr sz="6400"/>
            </a:lvl1pPr>
          </a:lstStyle>
          <a:p>
            <a:pPr/>
            <a:r>
              <a:t>Deadlock Avoidance</a:t>
            </a:r>
          </a:p>
        </p:txBody>
      </p:sp>
      <p:pic>
        <p:nvPicPr>
          <p:cNvPr id="284" name="SafeState.png" descr="SafeState.png"/>
          <p:cNvPicPr>
            <a:picLocks noChangeAspect="1"/>
          </p:cNvPicPr>
          <p:nvPr/>
        </p:nvPicPr>
        <p:blipFill>
          <a:blip r:embed="rId2">
            <a:extLst/>
          </a:blip>
          <a:stretch>
            <a:fillRect/>
          </a:stretch>
        </p:blipFill>
        <p:spPr>
          <a:xfrm>
            <a:off x="2413000" y="5537200"/>
            <a:ext cx="9088831" cy="1816100"/>
          </a:xfrm>
          <a:prstGeom prst="rect">
            <a:avLst/>
          </a:prstGeom>
          <a:ln w="12700">
            <a:miter lim="400000"/>
          </a:ln>
        </p:spPr>
      </p:pic>
      <p:pic>
        <p:nvPicPr>
          <p:cNvPr id="285" name="UnsafeState.png" descr="UnsafeState.png"/>
          <p:cNvPicPr>
            <a:picLocks noChangeAspect="1"/>
          </p:cNvPicPr>
          <p:nvPr/>
        </p:nvPicPr>
        <p:blipFill>
          <a:blip r:embed="rId3">
            <a:extLst/>
          </a:blip>
          <a:stretch>
            <a:fillRect/>
          </a:stretch>
        </p:blipFill>
        <p:spPr>
          <a:xfrm>
            <a:off x="2489200" y="2222500"/>
            <a:ext cx="8929880" cy="2197100"/>
          </a:xfrm>
          <a:prstGeom prst="rect">
            <a:avLst/>
          </a:prstGeom>
          <a:ln w="12700">
            <a:miter lim="400000"/>
          </a:ln>
        </p:spPr>
      </p:pic>
      <p:sp>
        <p:nvSpPr>
          <p:cNvPr id="286" name="p1 acquires 2 more tapes..."/>
          <p:cNvSpPr/>
          <p:nvPr/>
        </p:nvSpPr>
        <p:spPr>
          <a:xfrm>
            <a:off x="2239894" y="4635500"/>
            <a:ext cx="4699001" cy="4699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400"/>
            </a:pPr>
            <a:r>
              <a:rPr i="1"/>
              <a:t>p</a:t>
            </a:r>
            <a:r>
              <a:rPr baseline="-5999"/>
              <a:t>1</a:t>
            </a:r>
            <a:r>
              <a:t> acquires 2 more tapes...</a:t>
            </a:r>
          </a:p>
        </p:txBody>
      </p:sp>
      <p:sp>
        <p:nvSpPr>
          <p:cNvPr id="287" name="Fine, but what if p2 is allowed to request and acquire one more?"/>
          <p:cNvSpPr/>
          <p:nvPr/>
        </p:nvSpPr>
        <p:spPr>
          <a:xfrm>
            <a:off x="2679700" y="7778750"/>
            <a:ext cx="8331200" cy="4699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400"/>
            </a:pPr>
            <a:r>
              <a:t>Fine, but what if </a:t>
            </a:r>
            <a:r>
              <a:rPr i="1"/>
              <a:t>p</a:t>
            </a:r>
            <a:r>
              <a:rPr baseline="-5999"/>
              <a:t>2</a:t>
            </a:r>
            <a:r>
              <a:t> is allowed to request and acquire one more?</a:t>
            </a: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Deadlock Avoidance"/>
          <p:cNvSpPr txBox="1"/>
          <p:nvPr>
            <p:ph type="title"/>
          </p:nvPr>
        </p:nvSpPr>
        <p:spPr>
          <a:prstGeom prst="rect">
            <a:avLst/>
          </a:prstGeom>
        </p:spPr>
        <p:txBody>
          <a:bodyPr/>
          <a:lstStyle>
            <a:lvl1pPr>
              <a:defRPr sz="6400"/>
            </a:lvl1pPr>
          </a:lstStyle>
          <a:p>
            <a:pPr/>
            <a:r>
              <a:t>Deadlock Avoidance</a:t>
            </a:r>
          </a:p>
        </p:txBody>
      </p:sp>
      <p:sp>
        <p:nvSpPr>
          <p:cNvPr id="290" name="We need a system state, so as before, m resources and n processes…"/>
          <p:cNvSpPr txBox="1"/>
          <p:nvPr>
            <p:ph type="body" idx="1"/>
          </p:nvPr>
        </p:nvSpPr>
        <p:spPr>
          <a:xfrm>
            <a:off x="1270000" y="2768600"/>
            <a:ext cx="11125200" cy="6248400"/>
          </a:xfrm>
          <a:prstGeom prst="rect">
            <a:avLst/>
          </a:prstGeom>
        </p:spPr>
        <p:txBody>
          <a:bodyPr/>
          <a:lstStyle/>
          <a:p>
            <a:pPr lvl="2" marL="1533071" indent="-326571">
              <a:defRPr sz="2400"/>
            </a:pPr>
            <a:r>
              <a:t>We need a system state, so as before, </a:t>
            </a:r>
            <a:r>
              <a:rPr i="1"/>
              <a:t>m</a:t>
            </a:r>
            <a:r>
              <a:t> resources and </a:t>
            </a:r>
            <a:r>
              <a:rPr i="1"/>
              <a:t>n</a:t>
            </a:r>
            <a:r>
              <a:t> processes</a:t>
            </a:r>
          </a:p>
          <a:p>
            <a:pPr lvl="3" marL="1977571" indent="-326571">
              <a:defRPr sz="2400"/>
            </a:pPr>
            <a:r>
              <a:t>Resource vector resource[m]</a:t>
            </a:r>
          </a:p>
          <a:p>
            <a:pPr lvl="4" marL="2422071" indent="-326571">
              <a:defRPr sz="2400"/>
            </a:pPr>
            <a:r>
              <a:t>Total resources available in system</a:t>
            </a:r>
          </a:p>
          <a:p>
            <a:pPr lvl="3" marL="1977571" indent="-326571">
              <a:defRPr sz="2400"/>
            </a:pPr>
            <a:r>
              <a:t>Available vector available[m]</a:t>
            </a:r>
          </a:p>
          <a:p>
            <a:pPr lvl="4" marL="2422071" indent="-326571">
              <a:defRPr sz="2400"/>
            </a:pPr>
            <a:r>
              <a:t>Current resources available to be allocated</a:t>
            </a:r>
          </a:p>
          <a:p>
            <a:pPr lvl="3" marL="1977571" indent="-326571">
              <a:defRPr sz="2400"/>
            </a:pPr>
            <a:r>
              <a:t>Maximum claims vector claim[n][m]</a:t>
            </a:r>
          </a:p>
          <a:p>
            <a:pPr lvl="4" marL="2422071" indent="-326571">
              <a:defRPr sz="2400"/>
            </a:pPr>
            <a:r>
              <a:t>Process </a:t>
            </a:r>
            <a:r>
              <a:rPr i="1"/>
              <a:t>p</a:t>
            </a:r>
            <a:r>
              <a:rPr baseline="-5999"/>
              <a:t>i</a:t>
            </a:r>
            <a:r>
              <a:t> may request at most </a:t>
            </a:r>
            <a:r>
              <a:rPr i="1"/>
              <a:t>k</a:t>
            </a:r>
            <a:r>
              <a:t> instances of resource </a:t>
            </a:r>
            <a:r>
              <a:rPr i="1"/>
              <a:t>R</a:t>
            </a:r>
            <a:r>
              <a:rPr baseline="-5999"/>
              <a:t>j</a:t>
            </a:r>
          </a:p>
          <a:p>
            <a:pPr lvl="3" marL="1977571" indent="-326571">
              <a:defRPr sz="2400"/>
            </a:pPr>
            <a:r>
              <a:t>Allocation vector alloc[n][m]</a:t>
            </a:r>
          </a:p>
          <a:p>
            <a:pPr lvl="4" marL="2422071" indent="-326571">
              <a:defRPr sz="2400"/>
            </a:pPr>
            <a:r>
              <a:t>Process pi is currently allocated k instances of resource </a:t>
            </a:r>
            <a:r>
              <a:rPr i="1"/>
              <a:t>R</a:t>
            </a:r>
            <a:r>
              <a:rPr baseline="-5999"/>
              <a:t>j</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Determination of a Safe State"/>
          <p:cNvSpPr txBox="1"/>
          <p:nvPr>
            <p:ph type="title"/>
          </p:nvPr>
        </p:nvSpPr>
        <p:spPr>
          <a:prstGeom prst="rect">
            <a:avLst/>
          </a:prstGeom>
        </p:spPr>
        <p:txBody>
          <a:bodyPr/>
          <a:lstStyle>
            <a:lvl1pPr>
              <a:defRPr sz="6400"/>
            </a:lvl1pPr>
          </a:lstStyle>
          <a:p>
            <a:pPr/>
            <a:r>
              <a:t>Determination of a Safe State</a:t>
            </a:r>
          </a:p>
        </p:txBody>
      </p:sp>
      <p:pic>
        <p:nvPicPr>
          <p:cNvPr id="293" name="image12.gif" descr="image12.gif"/>
          <p:cNvPicPr>
            <a:picLocks noChangeAspect="1"/>
          </p:cNvPicPr>
          <p:nvPr/>
        </p:nvPicPr>
        <p:blipFill>
          <a:blip r:embed="rId2">
            <a:extLst/>
          </a:blip>
          <a:stretch>
            <a:fillRect/>
          </a:stretch>
        </p:blipFill>
        <p:spPr>
          <a:xfrm>
            <a:off x="698500" y="3124200"/>
            <a:ext cx="11595100" cy="3738891"/>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293"/>
                                        </p:tgtEl>
                                        <p:attrNameLst>
                                          <p:attrName>style.visibility</p:attrName>
                                        </p:attrNameLst>
                                      </p:cBhvr>
                                      <p:to>
                                        <p:strVal val="visible"/>
                                      </p:to>
                                    </p:set>
                                    <p:anim calcmode="lin" valueType="num">
                                      <p:cBhvr>
                                        <p:cTn id="7" dur="1000" fill="hold"/>
                                        <p:tgtEl>
                                          <p:spTgt spid="293"/>
                                        </p:tgtEl>
                                        <p:attrNameLst>
                                          <p:attrName>ppt_w</p:attrName>
                                        </p:attrNameLst>
                                      </p:cBhvr>
                                      <p:tavLst>
                                        <p:tav tm="0">
                                          <p:val>
                                            <p:fltVal val="0"/>
                                          </p:val>
                                        </p:tav>
                                        <p:tav tm="100000">
                                          <p:val>
                                            <p:strVal val="#ppt_w"/>
                                          </p:val>
                                        </p:tav>
                                      </p:tavLst>
                                    </p:anim>
                                    <p:anim calcmode="lin" valueType="num">
                                      <p:cBhvr>
                                        <p:cTn id="8" dur="1000" fill="hold"/>
                                        <p:tgtEl>
                                          <p:spTgt spid="293"/>
                                        </p:tgtEl>
                                        <p:attrNameLst>
                                          <p:attrName>ppt_h</p:attrName>
                                        </p:attrNameLst>
                                      </p:cBhvr>
                                      <p:tavLst>
                                        <p:tav tm="0">
                                          <p:val>
                                            <p:fltVal val="0"/>
                                          </p:val>
                                        </p:tav>
                                        <p:tav tm="100000">
                                          <p:val>
                                            <p:strVal val="#ppt_h"/>
                                          </p:val>
                                        </p:tav>
                                      </p:tavLst>
                                    </p:anim>
                                    <p:anim calcmode="lin" valueType="num">
                                      <p:cBhvr>
                                        <p:cTn id="9" dur="1000" fill="hold"/>
                                        <p:tgtEl>
                                          <p:spTgt spid="29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9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3" grpId="1"/>
    </p:bld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Determination of a Safe State"/>
          <p:cNvSpPr txBox="1"/>
          <p:nvPr>
            <p:ph type="title"/>
          </p:nvPr>
        </p:nvSpPr>
        <p:spPr>
          <a:prstGeom prst="rect">
            <a:avLst/>
          </a:prstGeom>
        </p:spPr>
        <p:txBody>
          <a:bodyPr/>
          <a:lstStyle>
            <a:lvl1pPr>
              <a:defRPr sz="6400"/>
            </a:lvl1pPr>
          </a:lstStyle>
          <a:p>
            <a:pPr/>
            <a:r>
              <a:t>Determination of a Safe State</a:t>
            </a:r>
          </a:p>
        </p:txBody>
      </p:sp>
      <p:pic>
        <p:nvPicPr>
          <p:cNvPr id="296" name="image13.gif" descr="image13.gif"/>
          <p:cNvPicPr>
            <a:picLocks noChangeAspect="1"/>
          </p:cNvPicPr>
          <p:nvPr/>
        </p:nvPicPr>
        <p:blipFill>
          <a:blip r:embed="rId2">
            <a:extLst/>
          </a:blip>
          <a:stretch>
            <a:fillRect/>
          </a:stretch>
        </p:blipFill>
        <p:spPr>
          <a:xfrm>
            <a:off x="762000" y="3276600"/>
            <a:ext cx="11479697" cy="34925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296"/>
                                        </p:tgtEl>
                                        <p:attrNameLst>
                                          <p:attrName>style.visibility</p:attrName>
                                        </p:attrNameLst>
                                      </p:cBhvr>
                                      <p:to>
                                        <p:strVal val="visible"/>
                                      </p:to>
                                    </p:set>
                                    <p:anim calcmode="lin" valueType="num">
                                      <p:cBhvr>
                                        <p:cTn id="7" dur="1000" fill="hold"/>
                                        <p:tgtEl>
                                          <p:spTgt spid="296"/>
                                        </p:tgtEl>
                                        <p:attrNameLst>
                                          <p:attrName>ppt_w</p:attrName>
                                        </p:attrNameLst>
                                      </p:cBhvr>
                                      <p:tavLst>
                                        <p:tav tm="0">
                                          <p:val>
                                            <p:fltVal val="0"/>
                                          </p:val>
                                        </p:tav>
                                        <p:tav tm="100000">
                                          <p:val>
                                            <p:strVal val="#ppt_w"/>
                                          </p:val>
                                        </p:tav>
                                      </p:tavLst>
                                    </p:anim>
                                    <p:anim calcmode="lin" valueType="num">
                                      <p:cBhvr>
                                        <p:cTn id="8" dur="1000" fill="hold"/>
                                        <p:tgtEl>
                                          <p:spTgt spid="296"/>
                                        </p:tgtEl>
                                        <p:attrNameLst>
                                          <p:attrName>ppt_h</p:attrName>
                                        </p:attrNameLst>
                                      </p:cBhvr>
                                      <p:tavLst>
                                        <p:tav tm="0">
                                          <p:val>
                                            <p:fltVal val="0"/>
                                          </p:val>
                                        </p:tav>
                                        <p:tav tm="100000">
                                          <p:val>
                                            <p:strVal val="#ppt_h"/>
                                          </p:val>
                                        </p:tav>
                                      </p:tavLst>
                                    </p:anim>
                                    <p:anim calcmode="lin" valueType="num">
                                      <p:cBhvr>
                                        <p:cTn id="9" dur="1000" fill="hold"/>
                                        <p:tgtEl>
                                          <p:spTgt spid="29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9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6" grpId="1"/>
    </p:bldLst>
  </p:timing>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Determination of a Safe State"/>
          <p:cNvSpPr txBox="1"/>
          <p:nvPr>
            <p:ph type="title"/>
          </p:nvPr>
        </p:nvSpPr>
        <p:spPr>
          <a:prstGeom prst="rect">
            <a:avLst/>
          </a:prstGeom>
        </p:spPr>
        <p:txBody>
          <a:bodyPr/>
          <a:lstStyle>
            <a:lvl1pPr>
              <a:defRPr sz="6400"/>
            </a:lvl1pPr>
          </a:lstStyle>
          <a:p>
            <a:pPr/>
            <a:r>
              <a:t>Determination of a Safe State</a:t>
            </a:r>
          </a:p>
        </p:txBody>
      </p:sp>
      <p:pic>
        <p:nvPicPr>
          <p:cNvPr id="299" name="image14.gif" descr="image14.gif"/>
          <p:cNvPicPr>
            <a:picLocks noChangeAspect="1"/>
          </p:cNvPicPr>
          <p:nvPr/>
        </p:nvPicPr>
        <p:blipFill>
          <a:blip r:embed="rId2">
            <a:extLst/>
          </a:blip>
          <a:stretch>
            <a:fillRect/>
          </a:stretch>
        </p:blipFill>
        <p:spPr>
          <a:xfrm>
            <a:off x="952500" y="3238500"/>
            <a:ext cx="11091842" cy="35306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299"/>
                                        </p:tgtEl>
                                        <p:attrNameLst>
                                          <p:attrName>style.visibility</p:attrName>
                                        </p:attrNameLst>
                                      </p:cBhvr>
                                      <p:to>
                                        <p:strVal val="visible"/>
                                      </p:to>
                                    </p:set>
                                    <p:anim calcmode="lin" valueType="num">
                                      <p:cBhvr>
                                        <p:cTn id="7" dur="1000" fill="hold"/>
                                        <p:tgtEl>
                                          <p:spTgt spid="299"/>
                                        </p:tgtEl>
                                        <p:attrNameLst>
                                          <p:attrName>ppt_w</p:attrName>
                                        </p:attrNameLst>
                                      </p:cBhvr>
                                      <p:tavLst>
                                        <p:tav tm="0">
                                          <p:val>
                                            <p:fltVal val="0"/>
                                          </p:val>
                                        </p:tav>
                                        <p:tav tm="100000">
                                          <p:val>
                                            <p:strVal val="#ppt_w"/>
                                          </p:val>
                                        </p:tav>
                                      </p:tavLst>
                                    </p:anim>
                                    <p:anim calcmode="lin" valueType="num">
                                      <p:cBhvr>
                                        <p:cTn id="8" dur="1000" fill="hold"/>
                                        <p:tgtEl>
                                          <p:spTgt spid="299"/>
                                        </p:tgtEl>
                                        <p:attrNameLst>
                                          <p:attrName>ppt_h</p:attrName>
                                        </p:attrNameLst>
                                      </p:cBhvr>
                                      <p:tavLst>
                                        <p:tav tm="0">
                                          <p:val>
                                            <p:fltVal val="0"/>
                                          </p:val>
                                        </p:tav>
                                        <p:tav tm="100000">
                                          <p:val>
                                            <p:strVal val="#ppt_h"/>
                                          </p:val>
                                        </p:tav>
                                      </p:tavLst>
                                    </p:anim>
                                    <p:anim calcmode="lin" valueType="num">
                                      <p:cBhvr>
                                        <p:cTn id="9" dur="1000" fill="hold"/>
                                        <p:tgtEl>
                                          <p:spTgt spid="29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9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9" grpId="1"/>
    </p:bld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Determining an Unsafe State"/>
          <p:cNvSpPr txBox="1"/>
          <p:nvPr>
            <p:ph type="title"/>
          </p:nvPr>
        </p:nvSpPr>
        <p:spPr>
          <a:prstGeom prst="rect">
            <a:avLst/>
          </a:prstGeom>
        </p:spPr>
        <p:txBody>
          <a:bodyPr/>
          <a:lstStyle>
            <a:lvl1pPr>
              <a:defRPr sz="6400"/>
            </a:lvl1pPr>
          </a:lstStyle>
          <a:p>
            <a:pPr/>
            <a:r>
              <a:t>Determining an Unsafe State</a:t>
            </a:r>
          </a:p>
        </p:txBody>
      </p:sp>
      <p:pic>
        <p:nvPicPr>
          <p:cNvPr id="302" name="image16.gif" descr="image16.gif"/>
          <p:cNvPicPr>
            <a:picLocks noChangeAspect="1"/>
          </p:cNvPicPr>
          <p:nvPr/>
        </p:nvPicPr>
        <p:blipFill>
          <a:blip r:embed="rId2">
            <a:extLst/>
          </a:blip>
          <a:stretch>
            <a:fillRect/>
          </a:stretch>
        </p:blipFill>
        <p:spPr>
          <a:xfrm>
            <a:off x="1965673" y="2311400"/>
            <a:ext cx="9067801" cy="6898079"/>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9" presetID="15" grpId="1" fill="hold">
                                  <p:stCondLst>
                                    <p:cond delay="0"/>
                                  </p:stCondLst>
                                  <p:iterate type="el" backwards="0">
                                    <p:tmAbs val="0"/>
                                  </p:iterate>
                                  <p:childTnLst>
                                    <p:set>
                                      <p:cBhvr>
                                        <p:cTn id="6" fill="hold"/>
                                        <p:tgtEl>
                                          <p:spTgt spid="302"/>
                                        </p:tgtEl>
                                        <p:attrNameLst>
                                          <p:attrName>style.visibility</p:attrName>
                                        </p:attrNameLst>
                                      </p:cBhvr>
                                      <p:to>
                                        <p:strVal val="visible"/>
                                      </p:to>
                                    </p:set>
                                    <p:anim calcmode="lin" valueType="num">
                                      <p:cBhvr>
                                        <p:cTn id="7" dur="1000" fill="hold"/>
                                        <p:tgtEl>
                                          <p:spTgt spid="302"/>
                                        </p:tgtEl>
                                        <p:attrNameLst>
                                          <p:attrName>ppt_w</p:attrName>
                                        </p:attrNameLst>
                                      </p:cBhvr>
                                      <p:tavLst>
                                        <p:tav tm="0">
                                          <p:val>
                                            <p:fltVal val="0"/>
                                          </p:val>
                                        </p:tav>
                                        <p:tav tm="100000">
                                          <p:val>
                                            <p:strVal val="#ppt_w"/>
                                          </p:val>
                                        </p:tav>
                                      </p:tavLst>
                                    </p:anim>
                                    <p:anim calcmode="lin" valueType="num">
                                      <p:cBhvr>
                                        <p:cTn id="8" dur="1000" fill="hold"/>
                                        <p:tgtEl>
                                          <p:spTgt spid="302"/>
                                        </p:tgtEl>
                                        <p:attrNameLst>
                                          <p:attrName>ppt_h</p:attrName>
                                        </p:attrNameLst>
                                      </p:cBhvr>
                                      <p:tavLst>
                                        <p:tav tm="0">
                                          <p:val>
                                            <p:fltVal val="0"/>
                                          </p:val>
                                        </p:tav>
                                        <p:tav tm="100000">
                                          <p:val>
                                            <p:strVal val="#ppt_h"/>
                                          </p:val>
                                        </p:tav>
                                      </p:tavLst>
                                    </p:anim>
                                    <p:anim calcmode="lin" valueType="num">
                                      <p:cBhvr>
                                        <p:cTn id="9" dur="1000" fill="hold"/>
                                        <p:tgtEl>
                                          <p:spTgt spid="30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0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2" grpId="1"/>
    </p:bld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Deadlock Avoidance Logic"/>
          <p:cNvSpPr txBox="1"/>
          <p:nvPr>
            <p:ph type="title"/>
          </p:nvPr>
        </p:nvSpPr>
        <p:spPr>
          <a:prstGeom prst="rect">
            <a:avLst/>
          </a:prstGeom>
        </p:spPr>
        <p:txBody>
          <a:bodyPr/>
          <a:lstStyle>
            <a:lvl1pPr>
              <a:defRPr sz="6400"/>
            </a:lvl1pPr>
          </a:lstStyle>
          <a:p>
            <a:pPr/>
            <a:r>
              <a:t>Deadlock Avoidance Logic</a:t>
            </a:r>
          </a:p>
        </p:txBody>
      </p:sp>
      <p:sp>
        <p:nvSpPr>
          <p:cNvPr id="305" name="// global data structures…"/>
          <p:cNvSpPr/>
          <p:nvPr/>
        </p:nvSpPr>
        <p:spPr>
          <a:xfrm>
            <a:off x="2266590" y="2241550"/>
            <a:ext cx="3543859" cy="1879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1800">
                <a:latin typeface="Courier New"/>
                <a:ea typeface="Courier New"/>
                <a:cs typeface="Courier New"/>
                <a:sym typeface="Courier New"/>
              </a:defRPr>
            </a:pPr>
            <a:r>
              <a:t>// global data structures</a:t>
            </a:r>
            <a:endParaRPr b="1"/>
          </a:p>
          <a:p>
            <a:pPr algn="l">
              <a:defRPr sz="1800">
                <a:latin typeface="Courier New"/>
                <a:ea typeface="Courier New"/>
                <a:cs typeface="Courier New"/>
                <a:sym typeface="Courier New"/>
              </a:defRPr>
            </a:pPr>
            <a:r>
              <a:rPr b="1"/>
              <a:t>struct</a:t>
            </a:r>
            <a:r>
              <a:t> state {</a:t>
            </a:r>
          </a:p>
          <a:p>
            <a:pPr algn="l">
              <a:defRPr sz="1800">
                <a:latin typeface="Courier New"/>
                <a:ea typeface="Courier New"/>
                <a:cs typeface="Courier New"/>
                <a:sym typeface="Courier New"/>
              </a:defRPr>
            </a:pPr>
            <a:r>
              <a:t>   </a:t>
            </a:r>
            <a:r>
              <a:rPr b="1"/>
              <a:t>int</a:t>
            </a:r>
            <a:r>
              <a:t> resource[m];</a:t>
            </a:r>
          </a:p>
          <a:p>
            <a:pPr algn="l">
              <a:defRPr sz="1800">
                <a:latin typeface="Courier New"/>
                <a:ea typeface="Courier New"/>
                <a:cs typeface="Courier New"/>
                <a:sym typeface="Courier New"/>
              </a:defRPr>
            </a:pPr>
            <a:r>
              <a:t>   </a:t>
            </a:r>
            <a:r>
              <a:rPr b="1"/>
              <a:t>int</a:t>
            </a:r>
            <a:r>
              <a:t> available[m];</a:t>
            </a:r>
          </a:p>
          <a:p>
            <a:pPr algn="l">
              <a:defRPr sz="1800">
                <a:latin typeface="Courier New"/>
                <a:ea typeface="Courier New"/>
                <a:cs typeface="Courier New"/>
                <a:sym typeface="Courier New"/>
              </a:defRPr>
            </a:pPr>
            <a:r>
              <a:t>   </a:t>
            </a:r>
            <a:r>
              <a:rPr b="1"/>
              <a:t>int</a:t>
            </a:r>
            <a:r>
              <a:t> claim[n][m];</a:t>
            </a:r>
          </a:p>
          <a:p>
            <a:pPr algn="l">
              <a:defRPr sz="1800">
                <a:latin typeface="Courier New"/>
                <a:ea typeface="Courier New"/>
                <a:cs typeface="Courier New"/>
                <a:sym typeface="Courier New"/>
              </a:defRPr>
            </a:pPr>
            <a:r>
              <a:t>  </a:t>
            </a:r>
            <a:r>
              <a:rPr b="1"/>
              <a:t> int</a:t>
            </a:r>
            <a:r>
              <a:t> alloc[n][m];</a:t>
            </a:r>
          </a:p>
          <a:p>
            <a:pPr algn="l">
              <a:defRPr sz="1800">
                <a:latin typeface="Courier New"/>
                <a:ea typeface="Courier New"/>
                <a:cs typeface="Courier New"/>
                <a:sym typeface="Courier New"/>
              </a:defRPr>
            </a:pPr>
            <a:r>
              <a:t>}</a:t>
            </a:r>
          </a:p>
        </p:txBody>
      </p:sp>
      <p:sp>
        <p:nvSpPr>
          <p:cNvPr id="306" name="// resource allocation algorithm…"/>
          <p:cNvSpPr/>
          <p:nvPr/>
        </p:nvSpPr>
        <p:spPr>
          <a:xfrm>
            <a:off x="2286000" y="4533900"/>
            <a:ext cx="6424687" cy="4165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1800">
                <a:latin typeface="Courier New"/>
                <a:ea typeface="Courier New"/>
                <a:cs typeface="Courier New"/>
                <a:sym typeface="Courier New"/>
              </a:defRPr>
            </a:pPr>
            <a:r>
              <a:t>// resource allocation algorithm</a:t>
            </a:r>
            <a:endParaRPr b="1"/>
          </a:p>
          <a:p>
            <a:pPr algn="l">
              <a:defRPr sz="1800">
                <a:latin typeface="Courier New"/>
                <a:ea typeface="Courier New"/>
                <a:cs typeface="Courier New"/>
                <a:sym typeface="Courier New"/>
              </a:defRPr>
            </a:pPr>
            <a:r>
              <a:rPr b="1"/>
              <a:t>if</a:t>
            </a:r>
            <a:r>
              <a:t> (alloc[i,*] + request[*] &gt; claim[i,*])</a:t>
            </a:r>
          </a:p>
          <a:p>
            <a:pPr algn="l">
              <a:defRPr sz="1800">
                <a:latin typeface="Courier New"/>
                <a:ea typeface="Courier New"/>
                <a:cs typeface="Courier New"/>
                <a:sym typeface="Courier New"/>
              </a:defRPr>
            </a:pPr>
            <a:r>
              <a:t>   &lt; error &gt;;    // total request &gt; claim</a:t>
            </a:r>
          </a:p>
          <a:p>
            <a:pPr algn="l">
              <a:defRPr sz="1800">
                <a:latin typeface="Courier New"/>
                <a:ea typeface="Courier New"/>
                <a:cs typeface="Courier New"/>
                <a:sym typeface="Courier New"/>
              </a:defRPr>
            </a:pPr>
            <a:r>
              <a:rPr b="1"/>
              <a:t>else if</a:t>
            </a:r>
            <a:r>
              <a:t> (request[*] &gt; available[*])</a:t>
            </a:r>
          </a:p>
          <a:p>
            <a:pPr algn="l">
              <a:defRPr sz="1800">
                <a:latin typeface="Courier New"/>
                <a:ea typeface="Courier New"/>
                <a:cs typeface="Courier New"/>
                <a:sym typeface="Courier New"/>
              </a:defRPr>
            </a:pPr>
            <a:r>
              <a:t>   &lt; suspend process &gt;;</a:t>
            </a:r>
          </a:p>
          <a:p>
            <a:pPr algn="l">
              <a:defRPr sz="1800">
                <a:latin typeface="Courier New"/>
                <a:ea typeface="Courier New"/>
                <a:cs typeface="Courier New"/>
                <a:sym typeface="Courier New"/>
              </a:defRPr>
            </a:pPr>
            <a:r>
              <a:rPr b="1"/>
              <a:t>else</a:t>
            </a:r>
            <a:r>
              <a:t> {           // simulate allocation</a:t>
            </a:r>
          </a:p>
          <a:p>
            <a:pPr algn="l">
              <a:defRPr sz="1800">
                <a:latin typeface="Courier New"/>
                <a:ea typeface="Courier New"/>
                <a:cs typeface="Courier New"/>
                <a:sym typeface="Courier New"/>
              </a:defRPr>
            </a:pPr>
            <a:r>
              <a:t>   &lt; define newstate by:</a:t>
            </a:r>
          </a:p>
          <a:p>
            <a:pPr algn="l">
              <a:defRPr sz="1800">
                <a:latin typeface="Courier New"/>
                <a:ea typeface="Courier New"/>
                <a:cs typeface="Courier New"/>
                <a:sym typeface="Courier New"/>
              </a:defRPr>
            </a:pPr>
            <a:r>
              <a:t>   alloc[i,*] = alloc[i,*] + request[*];</a:t>
            </a:r>
          </a:p>
          <a:p>
            <a:pPr algn="l">
              <a:defRPr sz="1800">
                <a:latin typeface="Courier New"/>
                <a:ea typeface="Courier New"/>
                <a:cs typeface="Courier New"/>
                <a:sym typeface="Courier New"/>
              </a:defRPr>
            </a:pPr>
            <a:r>
              <a:t>   available[*] = available[*] - request[*] &gt;;</a:t>
            </a:r>
          </a:p>
          <a:p>
            <a:pPr algn="l">
              <a:defRPr sz="1800">
                <a:latin typeface="Courier New"/>
                <a:ea typeface="Courier New"/>
                <a:cs typeface="Courier New"/>
                <a:sym typeface="Courier New"/>
              </a:defRPr>
            </a:pPr>
            <a:r>
              <a:t>}</a:t>
            </a:r>
          </a:p>
          <a:p>
            <a:pPr algn="l">
              <a:defRPr sz="1800">
                <a:latin typeface="Courier New"/>
                <a:ea typeface="Courier New"/>
                <a:cs typeface="Courier New"/>
                <a:sym typeface="Courier New"/>
              </a:defRPr>
            </a:pPr>
            <a:r>
              <a:rPr b="1"/>
              <a:t>if</a:t>
            </a:r>
            <a:r>
              <a:t> (safe (newstate) )</a:t>
            </a:r>
          </a:p>
          <a:p>
            <a:pPr algn="l">
              <a:defRPr sz="1800">
                <a:latin typeface="Courier New"/>
                <a:ea typeface="Courier New"/>
                <a:cs typeface="Courier New"/>
                <a:sym typeface="Courier New"/>
              </a:defRPr>
            </a:pPr>
            <a:r>
              <a:t>   &lt; carry out allocation &gt;;</a:t>
            </a:r>
          </a:p>
          <a:p>
            <a:pPr algn="l">
              <a:defRPr sz="1800">
                <a:latin typeface="Courier New"/>
                <a:ea typeface="Courier New"/>
                <a:cs typeface="Courier New"/>
                <a:sym typeface="Courier New"/>
              </a:defRPr>
            </a:pPr>
            <a:r>
              <a:rPr b="1"/>
              <a:t>else</a:t>
            </a:r>
            <a:r>
              <a:t> {</a:t>
            </a:r>
          </a:p>
          <a:p>
            <a:pPr algn="l">
              <a:defRPr sz="1800">
                <a:latin typeface="Courier New"/>
                <a:ea typeface="Courier New"/>
                <a:cs typeface="Courier New"/>
                <a:sym typeface="Courier New"/>
              </a:defRPr>
            </a:pPr>
            <a:r>
              <a:t>   &lt; restore original state &gt;;</a:t>
            </a:r>
          </a:p>
          <a:p>
            <a:pPr algn="l">
              <a:defRPr sz="1800">
                <a:latin typeface="Courier New"/>
                <a:ea typeface="Courier New"/>
                <a:cs typeface="Courier New"/>
                <a:sym typeface="Courier New"/>
              </a:defRPr>
            </a:pPr>
            <a:r>
              <a:t>   &lt; suspend process i&gt;;</a:t>
            </a:r>
          </a:p>
          <a:p>
            <a:pPr algn="l">
              <a:defRPr sz="1800">
                <a:latin typeface="Courier New"/>
                <a:ea typeface="Courier New"/>
                <a:cs typeface="Courier New"/>
                <a:sym typeface="Courier New"/>
              </a:defRPr>
            </a:pPr>
            <a:r>
              <a:t>}</a:t>
            </a:r>
          </a:p>
        </p:txBody>
      </p:sp>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Deadlock Avoidance Logic"/>
          <p:cNvSpPr txBox="1"/>
          <p:nvPr>
            <p:ph type="title"/>
          </p:nvPr>
        </p:nvSpPr>
        <p:spPr>
          <a:prstGeom prst="rect">
            <a:avLst/>
          </a:prstGeom>
        </p:spPr>
        <p:txBody>
          <a:bodyPr/>
          <a:lstStyle>
            <a:lvl1pPr>
              <a:defRPr sz="6400"/>
            </a:lvl1pPr>
          </a:lstStyle>
          <a:p>
            <a:pPr/>
            <a:r>
              <a:t>Deadlock Avoidance Logic</a:t>
            </a:r>
          </a:p>
        </p:txBody>
      </p:sp>
      <p:sp>
        <p:nvSpPr>
          <p:cNvPr id="309" name="boolean safe (state S) {…"/>
          <p:cNvSpPr/>
          <p:nvPr/>
        </p:nvSpPr>
        <p:spPr>
          <a:xfrm>
            <a:off x="1790700" y="3162300"/>
            <a:ext cx="10402975" cy="4673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1800">
                <a:latin typeface="Courier New"/>
                <a:ea typeface="Courier New"/>
                <a:cs typeface="Courier New"/>
                <a:sym typeface="Courier New"/>
              </a:defRPr>
            </a:pPr>
            <a:r>
              <a:rPr b="1"/>
              <a:t>boolean </a:t>
            </a:r>
            <a:r>
              <a:t>safe (state S) {</a:t>
            </a:r>
          </a:p>
          <a:p>
            <a:pPr algn="l">
              <a:defRPr sz="1800">
                <a:latin typeface="Courier New"/>
                <a:ea typeface="Courier New"/>
                <a:cs typeface="Courier New"/>
                <a:sym typeface="Courier New"/>
              </a:defRPr>
            </a:pPr>
            <a:r>
              <a:t>   int currentavail[m];</a:t>
            </a:r>
          </a:p>
          <a:p>
            <a:pPr algn="l">
              <a:defRPr sz="1800">
                <a:latin typeface="Courier New"/>
                <a:ea typeface="Courier New"/>
                <a:cs typeface="Courier New"/>
                <a:sym typeface="Courier New"/>
              </a:defRPr>
            </a:pPr>
            <a:r>
              <a:t>   process rest[&lt;number of processes&gt;];  // list of processes running</a:t>
            </a:r>
          </a:p>
          <a:p>
            <a:pPr algn="l">
              <a:defRPr sz="1800">
                <a:latin typeface="Courier New"/>
                <a:ea typeface="Courier New"/>
                <a:cs typeface="Courier New"/>
                <a:sym typeface="Courier New"/>
              </a:defRPr>
            </a:pPr>
            <a:r>
              <a:t>   currentavail = available;</a:t>
            </a:r>
          </a:p>
          <a:p>
            <a:pPr algn="l">
              <a:defRPr sz="1800">
                <a:latin typeface="Courier New"/>
                <a:ea typeface="Courier New"/>
                <a:cs typeface="Courier New"/>
                <a:sym typeface="Courier New"/>
              </a:defRPr>
            </a:pPr>
            <a:r>
              <a:t>   rest = {all processes};</a:t>
            </a:r>
          </a:p>
          <a:p>
            <a:pPr algn="l">
              <a:defRPr sz="1800">
                <a:latin typeface="Courier New"/>
                <a:ea typeface="Courier New"/>
                <a:cs typeface="Courier New"/>
                <a:sym typeface="Courier New"/>
              </a:defRPr>
            </a:pPr>
            <a:r>
              <a:t>   possible = true;</a:t>
            </a:r>
          </a:p>
          <a:p>
            <a:pPr algn="l">
              <a:defRPr sz="1800">
                <a:latin typeface="Courier New"/>
                <a:ea typeface="Courier New"/>
                <a:cs typeface="Courier New"/>
                <a:sym typeface="Courier New"/>
              </a:defRPr>
            </a:pPr>
            <a:r>
              <a:t>   while (possible) {</a:t>
            </a:r>
          </a:p>
          <a:p>
            <a:pPr algn="l">
              <a:defRPr sz="1800">
                <a:latin typeface="Courier New"/>
                <a:ea typeface="Courier New"/>
                <a:cs typeface="Courier New"/>
                <a:sym typeface="Courier New"/>
              </a:defRPr>
            </a:pPr>
            <a:r>
              <a:t>      &lt;find a process Pk in rest such that</a:t>
            </a:r>
          </a:p>
          <a:p>
            <a:pPr algn="l">
              <a:defRPr sz="1800">
                <a:latin typeface="Courier New"/>
                <a:ea typeface="Courier New"/>
                <a:cs typeface="Courier New"/>
                <a:sym typeface="Courier New"/>
              </a:defRPr>
            </a:pPr>
            <a:r>
              <a:t>         claim[k,*] - alloc[k,*] &lt;= currentavail;&gt;</a:t>
            </a:r>
          </a:p>
          <a:p>
            <a:pPr algn="l">
              <a:defRPr sz="1800">
                <a:latin typeface="Courier New"/>
                <a:ea typeface="Courier New"/>
                <a:cs typeface="Courier New"/>
                <a:sym typeface="Courier New"/>
              </a:defRPr>
            </a:pPr>
            <a:r>
              <a:t>      if (found) {        // simulate execution of Pk</a:t>
            </a:r>
          </a:p>
          <a:p>
            <a:pPr algn="l">
              <a:defRPr sz="1800">
                <a:latin typeface="Courier New"/>
                <a:ea typeface="Courier New"/>
                <a:cs typeface="Courier New"/>
                <a:sym typeface="Courier New"/>
              </a:defRPr>
            </a:pPr>
            <a:r>
              <a:t>         currentavail = currentavail + alloc[k,*];</a:t>
            </a:r>
          </a:p>
          <a:p>
            <a:pPr algn="l">
              <a:defRPr sz="1800">
                <a:latin typeface="Courier New"/>
                <a:ea typeface="Courier New"/>
                <a:cs typeface="Courier New"/>
                <a:sym typeface="Courier New"/>
              </a:defRPr>
            </a:pPr>
            <a:r>
              <a:t>         rest = rest - {Pk};    // Remove Pk from list of running processes</a:t>
            </a:r>
          </a:p>
          <a:p>
            <a:pPr algn="l">
              <a:defRPr sz="1800">
                <a:latin typeface="Courier New"/>
                <a:ea typeface="Courier New"/>
                <a:cs typeface="Courier New"/>
                <a:sym typeface="Courier New"/>
              </a:defRPr>
            </a:pPr>
            <a:r>
              <a:t>      }</a:t>
            </a:r>
          </a:p>
          <a:p>
            <a:pPr algn="l">
              <a:defRPr sz="1800">
                <a:latin typeface="Courier New"/>
                <a:ea typeface="Courier New"/>
                <a:cs typeface="Courier New"/>
                <a:sym typeface="Courier New"/>
              </a:defRPr>
            </a:pPr>
            <a:r>
              <a:t>      else</a:t>
            </a:r>
          </a:p>
          <a:p>
            <a:pPr algn="l">
              <a:defRPr sz="1800">
                <a:latin typeface="Courier New"/>
                <a:ea typeface="Courier New"/>
                <a:cs typeface="Courier New"/>
                <a:sym typeface="Courier New"/>
              </a:defRPr>
            </a:pPr>
            <a:r>
              <a:t>         possible = false;</a:t>
            </a:r>
          </a:p>
          <a:p>
            <a:pPr algn="l">
              <a:defRPr sz="1800">
                <a:latin typeface="Courier New"/>
                <a:ea typeface="Courier New"/>
                <a:cs typeface="Courier New"/>
                <a:sym typeface="Courier New"/>
              </a:defRPr>
            </a:pPr>
            <a:r>
              <a:t>   }</a:t>
            </a:r>
          </a:p>
          <a:p>
            <a:pPr algn="l">
              <a:defRPr sz="1800">
                <a:latin typeface="Courier New"/>
                <a:ea typeface="Courier New"/>
                <a:cs typeface="Courier New"/>
                <a:sym typeface="Courier New"/>
              </a:defRPr>
            </a:pPr>
            <a:r>
              <a:t>   return (rest == null);</a:t>
            </a:r>
          </a:p>
          <a:p>
            <a:pPr algn="l">
              <a:defRPr sz="1800">
                <a:latin typeface="Courier New"/>
                <a:ea typeface="Courier New"/>
                <a:cs typeface="Courier New"/>
                <a:sym typeface="Courier New"/>
              </a:defRPr>
            </a:pPr>
            <a:r>
              <a:t>}</a:t>
            </a:r>
          </a:p>
        </p:txBody>
      </p:sp>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Deadlock Avoidance"/>
          <p:cNvSpPr txBox="1"/>
          <p:nvPr>
            <p:ph type="title"/>
          </p:nvPr>
        </p:nvSpPr>
        <p:spPr>
          <a:prstGeom prst="rect">
            <a:avLst/>
          </a:prstGeom>
        </p:spPr>
        <p:txBody>
          <a:bodyPr/>
          <a:lstStyle>
            <a:lvl1pPr>
              <a:defRPr sz="6400"/>
            </a:lvl1pPr>
          </a:lstStyle>
          <a:p>
            <a:pPr/>
            <a:r>
              <a:t>Deadlock Avoidance</a:t>
            </a:r>
          </a:p>
        </p:txBody>
      </p:sp>
      <p:sp>
        <p:nvSpPr>
          <p:cNvPr id="312" name="Pros:…"/>
          <p:cNvSpPr txBox="1"/>
          <p:nvPr>
            <p:ph type="body" idx="1"/>
          </p:nvPr>
        </p:nvSpPr>
        <p:spPr>
          <a:xfrm>
            <a:off x="1270000" y="2768600"/>
            <a:ext cx="11125200" cy="6248400"/>
          </a:xfrm>
          <a:prstGeom prst="rect">
            <a:avLst/>
          </a:prstGeom>
        </p:spPr>
        <p:txBody>
          <a:bodyPr/>
          <a:lstStyle/>
          <a:p>
            <a:pPr lvl="2" marL="1533071" indent="-326571">
              <a:defRPr sz="2400"/>
            </a:pPr>
            <a:r>
              <a:t>Pros:</a:t>
            </a:r>
          </a:p>
          <a:p>
            <a:pPr lvl="3" marL="1977571" indent="-326571">
              <a:defRPr sz="2400"/>
            </a:pPr>
            <a:r>
              <a:t>No preemption necessary</a:t>
            </a:r>
          </a:p>
          <a:p>
            <a:pPr lvl="2" marL="1533071" indent="-326571">
              <a:defRPr sz="2400"/>
            </a:pPr>
            <a:r>
              <a:t>Cons:</a:t>
            </a:r>
          </a:p>
          <a:p>
            <a:pPr lvl="3" marL="1977571" indent="-326571">
              <a:defRPr sz="2400"/>
            </a:pPr>
            <a:r>
              <a:t>Maximum resource requirement must be stated in advance</a:t>
            </a:r>
          </a:p>
          <a:p>
            <a:pPr lvl="3" marL="1977571" indent="-326571">
              <a:defRPr sz="2400"/>
            </a:pPr>
            <a:r>
              <a:t>Processes under consideration must be independent</a:t>
            </a:r>
          </a:p>
          <a:p>
            <a:pPr lvl="4" marL="2422071" indent="-326571">
              <a:defRPr sz="2400"/>
            </a:pPr>
            <a:r>
              <a:t>No synchronization requirements</a:t>
            </a:r>
          </a:p>
          <a:p>
            <a:pPr lvl="3" marL="1977571" indent="-326571">
              <a:defRPr sz="2400"/>
            </a:pPr>
            <a:r>
              <a:t>Fixed number of resources</a:t>
            </a:r>
          </a:p>
        </p:txBody>
      </p:sp>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Integrated Strategies"/>
          <p:cNvSpPr txBox="1"/>
          <p:nvPr>
            <p:ph type="title"/>
          </p:nvPr>
        </p:nvSpPr>
        <p:spPr>
          <a:prstGeom prst="rect">
            <a:avLst/>
          </a:prstGeom>
        </p:spPr>
        <p:txBody>
          <a:bodyPr/>
          <a:lstStyle>
            <a:lvl1pPr>
              <a:defRPr sz="6400"/>
            </a:lvl1pPr>
          </a:lstStyle>
          <a:p>
            <a:pPr/>
            <a:r>
              <a:t>Integrated Strategies</a:t>
            </a:r>
          </a:p>
        </p:txBody>
      </p:sp>
      <p:sp>
        <p:nvSpPr>
          <p:cNvPr id="315" name="All strategies have their strengths and weaknesses…"/>
          <p:cNvSpPr txBox="1"/>
          <p:nvPr>
            <p:ph type="body" idx="1"/>
          </p:nvPr>
        </p:nvSpPr>
        <p:spPr>
          <a:xfrm>
            <a:off x="1270000" y="2768600"/>
            <a:ext cx="11125200" cy="6248400"/>
          </a:xfrm>
          <a:prstGeom prst="rect">
            <a:avLst/>
          </a:prstGeom>
        </p:spPr>
        <p:txBody>
          <a:bodyPr/>
          <a:lstStyle/>
          <a:p>
            <a:pPr lvl="2" marL="1533071" indent="-326571">
              <a:defRPr sz="2400"/>
            </a:pPr>
            <a:r>
              <a:t>All strategies have their strengths and weaknesses</a:t>
            </a:r>
          </a:p>
          <a:p>
            <a:pPr lvl="3" marL="1977571" indent="-326571">
              <a:defRPr sz="2400"/>
            </a:pPr>
            <a:r>
              <a:t>In practice must design OS’s that employ different strategies in different situations</a:t>
            </a:r>
          </a:p>
          <a:p>
            <a:pPr lvl="2" marL="1533071" indent="-326571">
              <a:defRPr sz="2400"/>
            </a:pPr>
            <a:r>
              <a:t>One integrated strategy:</a:t>
            </a:r>
          </a:p>
          <a:p>
            <a:pPr lvl="3" marL="1977571" indent="-326571">
              <a:defRPr sz="2400"/>
            </a:pPr>
            <a:r>
              <a:t>Group resources into different resource classes</a:t>
            </a:r>
          </a:p>
          <a:p>
            <a:pPr lvl="3" marL="1977571" indent="-326571">
              <a:defRPr sz="2400"/>
            </a:pPr>
            <a:r>
              <a:t>Use linear ordering between resource classes</a:t>
            </a:r>
          </a:p>
          <a:p>
            <a:pPr lvl="4" marL="2422071" indent="-326571">
              <a:defRPr sz="2400"/>
            </a:pPr>
            <a:r>
              <a:t>Prevents circular wait</a:t>
            </a:r>
          </a:p>
          <a:p>
            <a:pPr lvl="3" marL="1977571" indent="-326571">
              <a:defRPr sz="2400"/>
            </a:pPr>
            <a:r>
              <a:t>Within a specific resource class, use the appropriate algorithm</a:t>
            </a:r>
          </a:p>
        </p:txBody>
      </p:sp>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Integrated Strategies"/>
          <p:cNvSpPr txBox="1"/>
          <p:nvPr>
            <p:ph type="title"/>
          </p:nvPr>
        </p:nvSpPr>
        <p:spPr>
          <a:prstGeom prst="rect">
            <a:avLst/>
          </a:prstGeom>
        </p:spPr>
        <p:txBody>
          <a:bodyPr/>
          <a:lstStyle>
            <a:lvl1pPr>
              <a:defRPr sz="6400"/>
            </a:lvl1pPr>
          </a:lstStyle>
          <a:p>
            <a:pPr/>
            <a:r>
              <a:t>Integrated Strategies</a:t>
            </a:r>
          </a:p>
        </p:txBody>
      </p:sp>
      <p:sp>
        <p:nvSpPr>
          <p:cNvPr id="318" name="Possible division of resources into classes:…"/>
          <p:cNvSpPr txBox="1"/>
          <p:nvPr>
            <p:ph type="body" idx="1"/>
          </p:nvPr>
        </p:nvSpPr>
        <p:spPr>
          <a:xfrm>
            <a:off x="1270000" y="2768600"/>
            <a:ext cx="11125200" cy="6248400"/>
          </a:xfrm>
          <a:prstGeom prst="rect">
            <a:avLst/>
          </a:prstGeom>
        </p:spPr>
        <p:txBody>
          <a:bodyPr/>
          <a:lstStyle/>
          <a:p>
            <a:pPr lvl="2" marL="1533071" indent="-326571">
              <a:defRPr sz="2400"/>
            </a:pPr>
            <a:r>
              <a:t>Possible division of resources into classes:</a:t>
            </a:r>
          </a:p>
          <a:p>
            <a:pPr lvl="3" marL="1977571" indent="-326571">
              <a:defRPr sz="2400"/>
            </a:pPr>
            <a:r>
              <a:t>Swappable space</a:t>
            </a:r>
          </a:p>
          <a:p>
            <a:pPr lvl="4" marL="2422071" indent="-326571">
              <a:defRPr sz="2400"/>
            </a:pPr>
            <a:r>
              <a:t>Blocks of memory on secondary storage for swapping processes</a:t>
            </a:r>
          </a:p>
          <a:p>
            <a:pPr lvl="3" marL="1977571" indent="-326571">
              <a:defRPr sz="2400"/>
            </a:pPr>
            <a:r>
              <a:t>Process resources</a:t>
            </a:r>
          </a:p>
          <a:p>
            <a:pPr lvl="4" marL="2422071" indent="-326571">
              <a:defRPr sz="2400"/>
            </a:pPr>
            <a:r>
              <a:t>Assignable devices like tape drives and files</a:t>
            </a:r>
          </a:p>
          <a:p>
            <a:pPr lvl="3" marL="1977571" indent="-326571">
              <a:defRPr sz="2400"/>
            </a:pPr>
            <a:r>
              <a:t>Main memory</a:t>
            </a:r>
          </a:p>
          <a:p>
            <a:pPr lvl="4" marL="2422071" indent="-326571">
              <a:defRPr sz="2400"/>
            </a:pPr>
            <a:r>
              <a:t>Pages or segments of memory assigned to processes</a:t>
            </a:r>
          </a:p>
          <a:p>
            <a:pPr lvl="3" marL="1977571" indent="-326571">
              <a:defRPr sz="2400"/>
            </a:pPr>
            <a:r>
              <a:t>Internal resources</a:t>
            </a:r>
          </a:p>
          <a:p>
            <a:pPr lvl="4" marL="2422071" indent="-326571">
              <a:defRPr sz="2400"/>
            </a:pPr>
            <a:r>
              <a:t>I/O channels and the like</a:t>
            </a:r>
          </a:p>
        </p:txBody>
      </p:sp>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Integrated Strategies"/>
          <p:cNvSpPr txBox="1"/>
          <p:nvPr>
            <p:ph type="title"/>
          </p:nvPr>
        </p:nvSpPr>
        <p:spPr>
          <a:prstGeom prst="rect">
            <a:avLst/>
          </a:prstGeom>
        </p:spPr>
        <p:txBody>
          <a:bodyPr/>
          <a:lstStyle>
            <a:lvl1pPr>
              <a:defRPr sz="6400"/>
            </a:lvl1pPr>
          </a:lstStyle>
          <a:p>
            <a:pPr/>
            <a:r>
              <a:t>Integrated Strategies</a:t>
            </a:r>
          </a:p>
        </p:txBody>
      </p:sp>
      <p:sp>
        <p:nvSpPr>
          <p:cNvPr id="321" name="Strategies for each resource class:…"/>
          <p:cNvSpPr txBox="1"/>
          <p:nvPr>
            <p:ph type="body" idx="1"/>
          </p:nvPr>
        </p:nvSpPr>
        <p:spPr>
          <a:xfrm>
            <a:off x="1270000" y="2768600"/>
            <a:ext cx="11125200" cy="6248400"/>
          </a:xfrm>
          <a:prstGeom prst="rect">
            <a:avLst/>
          </a:prstGeom>
        </p:spPr>
        <p:txBody>
          <a:bodyPr/>
          <a:lstStyle/>
          <a:p>
            <a:pPr lvl="2" marL="1533071" indent="-326571">
              <a:defRPr sz="2400"/>
            </a:pPr>
            <a:r>
              <a:t>Strategies for each resource class:</a:t>
            </a:r>
          </a:p>
          <a:p>
            <a:pPr lvl="3" marL="1977571" indent="-326571">
              <a:defRPr sz="2400"/>
            </a:pPr>
            <a:r>
              <a:t>Swappable space</a:t>
            </a:r>
          </a:p>
          <a:p>
            <a:pPr lvl="4" marL="2422071" indent="-326571">
              <a:defRPr sz="2400"/>
            </a:pPr>
            <a:r>
              <a:t>Require all resources be grabbed at once, or deadlock avoidance</a:t>
            </a:r>
          </a:p>
          <a:p>
            <a:pPr lvl="3" marL="1977571" indent="-326571">
              <a:defRPr sz="2400"/>
            </a:pPr>
            <a:r>
              <a:t>Process resources</a:t>
            </a:r>
          </a:p>
          <a:p>
            <a:pPr lvl="4" marL="2422071" indent="-326571">
              <a:defRPr sz="2400"/>
            </a:pPr>
            <a:r>
              <a:t>Avoidance or resource ordering</a:t>
            </a:r>
          </a:p>
          <a:p>
            <a:pPr lvl="3" marL="1977571" indent="-326571">
              <a:defRPr sz="2400"/>
            </a:pPr>
            <a:r>
              <a:t>Main memory</a:t>
            </a:r>
          </a:p>
          <a:p>
            <a:pPr lvl="4" marL="2422071" indent="-326571">
              <a:defRPr sz="2400"/>
            </a:pPr>
            <a:r>
              <a:t>Preemption, when a process is preempted it is just swapped to secondary memory</a:t>
            </a:r>
          </a:p>
          <a:p>
            <a:pPr lvl="3" marL="1977571" indent="-326571">
              <a:defRPr sz="2400"/>
            </a:pPr>
            <a:r>
              <a:t>Internal resources</a:t>
            </a:r>
          </a:p>
          <a:p>
            <a:pPr lvl="4" marL="2422071" indent="-326571">
              <a:defRPr sz="2400"/>
            </a:pPr>
            <a:r>
              <a:t>Resource ordering</a:t>
            </a: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End ofResource Management"/>
          <p:cNvSpPr txBox="1"/>
          <p:nvPr>
            <p:ph type="title"/>
          </p:nvPr>
        </p:nvSpPr>
        <p:spPr>
          <a:prstGeom prst="rect">
            <a:avLst/>
          </a:prstGeom>
        </p:spPr>
        <p:txBody>
          <a:bodyPr/>
          <a:lstStyle>
            <a:lvl1pPr>
              <a:defRPr sz="6400"/>
            </a:lvl1pPr>
          </a:lstStyle>
          <a:p>
            <a:pPr/>
            <a:r>
              <a:t>End ofResource Management</a:t>
            </a:r>
          </a:p>
        </p:txBody>
      </p:sp>
      <p:sp>
        <p:nvSpPr>
          <p:cNvPr id="324" name="Any questions?"/>
          <p:cNvSpPr txBox="1"/>
          <p:nvPr>
            <p:ph type="body" idx="1"/>
          </p:nvPr>
        </p:nvSpPr>
        <p:spPr>
          <a:prstGeom prst="rect">
            <a:avLst/>
          </a:prstGeom>
        </p:spPr>
        <p:txBody>
          <a:bodyPr/>
          <a:lstStyle>
            <a:lvl1pPr marL="644071" indent="-326571">
              <a:defRPr sz="2400"/>
            </a:lvl1pPr>
          </a:lstStyle>
          <a:p>
            <a:pPr/>
            <a:r>
              <a:t>Any questions?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ill Sans"/>
        <a:ea typeface="Gill Sans"/>
        <a:cs typeface="Gill Sans"/>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4000" u="none" kumimoji="0" normalizeH="0">
            <a:ln>
              <a:noFill/>
            </a:ln>
            <a:solidFill>
              <a:srgbClr val="FFFFFF"/>
            </a:solidFill>
            <a:effectLst>
              <a:outerShdw sx="100000" sy="100000" kx="0" ky="0" algn="b" rotWithShape="0" blurRad="38100" dist="12700" dir="540000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ill Sans"/>
        <a:ea typeface="Gill Sans"/>
        <a:cs typeface="Gill Sans"/>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4000" u="none" kumimoji="0" normalizeH="0">
            <a:ln>
              <a:noFill/>
            </a:ln>
            <a:solidFill>
              <a:srgbClr val="FFFFFF"/>
            </a:solidFill>
            <a:effectLst>
              <a:outerShdw sx="100000" sy="100000" kx="0" ky="0" algn="b" rotWithShape="0" blurRad="38100" dist="12700" dir="540000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000000"/>
            </a:solidFill>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